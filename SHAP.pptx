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340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9455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9302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068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89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185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6624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8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136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4493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3794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661DF-4B6D-45D8-9B31-5C5E563A7413}" type="datetimeFigureOut">
              <a:rPr lang="ko-KR" altLang="en-US" smtClean="0"/>
              <a:t>2026-04-23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5F00F-0422-499B-858A-4AC8D13C36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500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10" y="1215189"/>
            <a:ext cx="10703459" cy="5546558"/>
          </a:xfrm>
          <a:prstGeom prst="rect">
            <a:avLst/>
          </a:prstGeom>
          <a:ln>
            <a:noFill/>
          </a:ln>
        </p:spPr>
      </p:pic>
      <p:sp>
        <p:nvSpPr>
          <p:cNvPr id="58" name="Rectangle 7">
            <a:extLst>
              <a:ext uri="{FF2B5EF4-FFF2-40B4-BE49-F238E27FC236}">
                <a16:creationId xmlns:a16="http://schemas.microsoft.com/office/drawing/2014/main" id="{5F0D349C-7DF9-9C7B-4DF0-40D9A7900C33}"/>
              </a:ext>
            </a:extLst>
          </p:cNvPr>
          <p:cNvSpPr/>
          <p:nvPr/>
        </p:nvSpPr>
        <p:spPr>
          <a:xfrm>
            <a:off x="259935" y="260567"/>
            <a:ext cx="967286" cy="332380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75805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SAHP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50229" y="1585918"/>
            <a:ext cx="4588043" cy="332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smtClean="0">
                <a:solidFill>
                  <a:schemeClr val="tx1"/>
                </a:solidFill>
              </a:rPr>
              <a:t>모델의 예측값을 기준값에서 시작하여</a:t>
            </a:r>
            <a:r>
              <a:rPr lang="en-US" altLang="ko-KR" sz="1100" dirty="0" smtClean="0">
                <a:solidFill>
                  <a:schemeClr val="tx1"/>
                </a:solidFill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</a:rPr>
              <a:t>각 특성이 더해지면서 예측값이 얼마나 변했는지를 기여도로 분해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77778" y="656780"/>
            <a:ext cx="10716127" cy="332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solidFill>
                  <a:schemeClr val="tx1"/>
                </a:solidFill>
              </a:rPr>
              <a:t>: SHAP(Shapley Additive exPlanations)</a:t>
            </a:r>
            <a:r>
              <a:rPr lang="ko-KR" altLang="en-US" sz="1600" dirty="0" smtClean="0">
                <a:solidFill>
                  <a:schemeClr val="tx1"/>
                </a:solidFill>
              </a:rPr>
              <a:t>는 게임 이론의 샤플리 값을 이용하여 각 특성이 예측 결과에 기여한 정도를 공정하고 일관되게 정량화하는 모델 해석 방법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850228" y="5095129"/>
            <a:ext cx="4588043" cy="332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smtClean="0">
                <a:solidFill>
                  <a:schemeClr val="tx1"/>
                </a:solidFill>
              </a:rPr>
              <a:t>협력적 게임에서 각 플레이어의 공정한 기여도를 계산하는 방식</a:t>
            </a:r>
            <a:r>
              <a:rPr lang="en-US" altLang="ko-KR" sz="1100" dirty="0" smtClean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100" dirty="0" smtClean="0">
                <a:solidFill>
                  <a:schemeClr val="tx1"/>
                </a:solidFill>
              </a:rPr>
              <a:t>특성 </a:t>
            </a:r>
            <a:r>
              <a:rPr lang="en-US" altLang="ko-KR" sz="1100" dirty="0" smtClean="0">
                <a:solidFill>
                  <a:schemeClr val="tx1"/>
                </a:solidFill>
              </a:rPr>
              <a:t>= </a:t>
            </a:r>
            <a:r>
              <a:rPr lang="ko-KR" altLang="en-US" sz="1100" dirty="0" smtClean="0">
                <a:solidFill>
                  <a:schemeClr val="tx1"/>
                </a:solidFill>
              </a:rPr>
              <a:t>플레이어</a:t>
            </a:r>
            <a:r>
              <a:rPr lang="en-US" altLang="ko-KR" sz="1100" dirty="0" smtClean="0">
                <a:solidFill>
                  <a:schemeClr val="tx1"/>
                </a:solidFill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</a:rPr>
              <a:t>예측값 </a:t>
            </a:r>
            <a:r>
              <a:rPr lang="en-US" altLang="ko-KR" sz="1100" dirty="0" smtClean="0">
                <a:solidFill>
                  <a:schemeClr val="tx1"/>
                </a:solidFill>
              </a:rPr>
              <a:t>= </a:t>
            </a:r>
            <a:r>
              <a:rPr lang="ko-KR" altLang="en-US" sz="1100" dirty="0" smtClean="0">
                <a:solidFill>
                  <a:schemeClr val="tx1"/>
                </a:solidFill>
              </a:rPr>
              <a:t>연합의 가치로 생각할 수 있음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5678907" y="6232358"/>
            <a:ext cx="5618746" cy="4571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 smtClean="0">
                <a:solidFill>
                  <a:schemeClr val="tx1"/>
                </a:solidFill>
              </a:rPr>
              <a:t>※ SHAP</a:t>
            </a:r>
            <a:r>
              <a:rPr lang="ko-KR" altLang="en-US" sz="1100" b="1" dirty="0" smtClean="0">
                <a:solidFill>
                  <a:schemeClr val="tx1"/>
                </a:solidFill>
              </a:rPr>
              <a:t>은 각 특성이 예측에 얼마나</a:t>
            </a:r>
            <a:r>
              <a:rPr lang="en-US" altLang="ko-KR" sz="1100" b="1" dirty="0" smtClean="0">
                <a:solidFill>
                  <a:schemeClr val="tx1"/>
                </a:solidFill>
              </a:rPr>
              <a:t>, </a:t>
            </a:r>
            <a:r>
              <a:rPr lang="ko-KR" altLang="en-US" sz="1100" b="1" dirty="0" smtClean="0">
                <a:solidFill>
                  <a:schemeClr val="tx1"/>
                </a:solidFill>
              </a:rPr>
              <a:t>어떤 방향으로 기여했는지를 정량적으로 보여주는 방법으로 모델의 예측을 투명하고 신뢰성 있게 설명해준다</a:t>
            </a:r>
            <a:r>
              <a:rPr lang="en-US" altLang="ko-KR" sz="1100" b="1" dirty="0" smtClean="0">
                <a:solidFill>
                  <a:schemeClr val="tx1"/>
                </a:solidFill>
              </a:rPr>
              <a:t>.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62" name="Rectangle 7">
            <a:extLst>
              <a:ext uri="{FF2B5EF4-FFF2-40B4-BE49-F238E27FC236}">
                <a16:creationId xmlns:a16="http://schemas.microsoft.com/office/drawing/2014/main" id="{17390950-2F17-BF33-84DF-6DC9E9C22C99}"/>
              </a:ext>
            </a:extLst>
          </p:cNvPr>
          <p:cNvSpPr/>
          <p:nvPr/>
        </p:nvSpPr>
        <p:spPr>
          <a:xfrm>
            <a:off x="743578" y="1215189"/>
            <a:ext cx="1097254" cy="295507"/>
          </a:xfrm>
          <a:prstGeom prst="rect">
            <a:avLst/>
          </a:prstGeom>
          <a:solidFill>
            <a:srgbClr val="1F497D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575805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lang="en-US" sz="1200" b="1" kern="0" noProof="0" dirty="0" smtClean="0">
                <a:solidFill>
                  <a:prstClr val="white"/>
                </a:solidFill>
                <a:latin typeface="맑은 고딕"/>
              </a:rPr>
              <a:t>  1. </a:t>
            </a:r>
            <a:r>
              <a:rPr lang="ko-KR" altLang="en-US" sz="1200" b="1" kern="0" noProof="0" dirty="0" smtClean="0">
                <a:solidFill>
                  <a:prstClr val="white"/>
                </a:solidFill>
                <a:latin typeface="맑은 고딕"/>
              </a:rPr>
              <a:t>개념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63" name="Rectangle 7">
            <a:extLst>
              <a:ext uri="{FF2B5EF4-FFF2-40B4-BE49-F238E27FC236}">
                <a16:creationId xmlns:a16="http://schemas.microsoft.com/office/drawing/2014/main" id="{17390950-2F17-BF33-84DF-6DC9E9C22C99}"/>
              </a:ext>
            </a:extLst>
          </p:cNvPr>
          <p:cNvSpPr/>
          <p:nvPr/>
        </p:nvSpPr>
        <p:spPr>
          <a:xfrm>
            <a:off x="5594681" y="1215188"/>
            <a:ext cx="2273971" cy="295507"/>
          </a:xfrm>
          <a:prstGeom prst="rect">
            <a:avLst/>
          </a:prstGeom>
          <a:solidFill>
            <a:srgbClr val="1F497D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575805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lang="en-US" sz="1200" b="1" kern="0" noProof="0" dirty="0" smtClean="0">
                <a:solidFill>
                  <a:prstClr val="white"/>
                </a:solidFill>
                <a:latin typeface="맑은 고딕"/>
              </a:rPr>
              <a:t>  3. </a:t>
            </a:r>
            <a:r>
              <a:rPr lang="ko-KR" altLang="en-US" sz="1200" b="1" kern="0" noProof="0" dirty="0" smtClean="0">
                <a:solidFill>
                  <a:prstClr val="white"/>
                </a:solidFill>
                <a:latin typeface="맑은 고딕"/>
              </a:rPr>
              <a:t>동작원리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64" name="Rectangle 7">
            <a:extLst>
              <a:ext uri="{FF2B5EF4-FFF2-40B4-BE49-F238E27FC236}">
                <a16:creationId xmlns:a16="http://schemas.microsoft.com/office/drawing/2014/main" id="{17390950-2F17-BF33-84DF-6DC9E9C22C99}"/>
              </a:ext>
            </a:extLst>
          </p:cNvPr>
          <p:cNvSpPr/>
          <p:nvPr/>
        </p:nvSpPr>
        <p:spPr>
          <a:xfrm>
            <a:off x="743578" y="4763526"/>
            <a:ext cx="1400423" cy="295507"/>
          </a:xfrm>
          <a:prstGeom prst="rect">
            <a:avLst/>
          </a:prstGeom>
          <a:solidFill>
            <a:srgbClr val="1F497D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575805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lang="en-US" sz="1200" b="1" kern="0" noProof="0" dirty="0" smtClean="0">
                <a:solidFill>
                  <a:prstClr val="white"/>
                </a:solidFill>
                <a:latin typeface="맑은 고딕"/>
              </a:rPr>
              <a:t>  2. </a:t>
            </a:r>
            <a:r>
              <a:rPr lang="ko-KR" altLang="en-US" sz="1200" b="1" kern="0" noProof="0" dirty="0" smtClean="0">
                <a:solidFill>
                  <a:prstClr val="white"/>
                </a:solidFill>
                <a:latin typeface="맑은 고딕"/>
              </a:rPr>
              <a:t>샤플리 값</a:t>
            </a:r>
            <a:r>
              <a:rPr lang="en-US" altLang="ko-KR" sz="1200" b="1" kern="0" noProof="0" dirty="0" smtClean="0">
                <a:solidFill>
                  <a:prstClr val="white"/>
                </a:solidFill>
                <a:latin typeface="맑은 고딕"/>
              </a:rPr>
              <a:t>?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17390950-2F17-BF33-84DF-6DC9E9C22C99}"/>
              </a:ext>
            </a:extLst>
          </p:cNvPr>
          <p:cNvSpPr/>
          <p:nvPr/>
        </p:nvSpPr>
        <p:spPr>
          <a:xfrm>
            <a:off x="5594681" y="5046022"/>
            <a:ext cx="3224466" cy="295507"/>
          </a:xfrm>
          <a:prstGeom prst="rect">
            <a:avLst/>
          </a:prstGeom>
          <a:solidFill>
            <a:srgbClr val="1F497D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575805" rtl="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48585" algn="l"/>
              </a:tabLst>
              <a:defRPr/>
            </a:pPr>
            <a:r>
              <a:rPr lang="en-US" sz="1200" b="1" kern="0" noProof="0" dirty="0" smtClean="0">
                <a:solidFill>
                  <a:prstClr val="white"/>
                </a:solidFill>
                <a:latin typeface="맑은 고딕"/>
              </a:rPr>
              <a:t>  4. SHAP</a:t>
            </a:r>
            <a:r>
              <a:rPr lang="ko-KR" altLang="en-US" sz="1200" b="1" kern="0" noProof="0" dirty="0" smtClean="0">
                <a:solidFill>
                  <a:prstClr val="white"/>
                </a:solidFill>
                <a:latin typeface="맑은 고딕"/>
              </a:rPr>
              <a:t>의 주요 성질 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09135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99</Words>
  <Application>Microsoft Office PowerPoint</Application>
  <PresentationFormat>와이드스크린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human</dc:creator>
  <cp:lastModifiedBy>human</cp:lastModifiedBy>
  <cp:revision>37</cp:revision>
  <dcterms:created xsi:type="dcterms:W3CDTF">2026-04-23T06:15:41Z</dcterms:created>
  <dcterms:modified xsi:type="dcterms:W3CDTF">2026-04-23T09:04:53Z</dcterms:modified>
</cp:coreProperties>
</file>