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7" r:id="rId4"/>
    <p:sldId id="267" r:id="rId5"/>
    <p:sldId id="266" r:id="rId6"/>
    <p:sldId id="268" r:id="rId7"/>
    <p:sldId id="270" r:id="rId8"/>
    <p:sldId id="269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58" r:id="rId17"/>
    <p:sldId id="278" r:id="rId18"/>
    <p:sldId id="259" r:id="rId19"/>
    <p:sldId id="260" r:id="rId20"/>
    <p:sldId id="261" r:id="rId21"/>
    <p:sldId id="263" r:id="rId22"/>
    <p:sldId id="264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AI / ML / </a:t>
            </a:r>
            <a:r>
              <a:rPr lang="en-US" dirty="0"/>
              <a:t>DL </a:t>
            </a:r>
            <a:r>
              <a:rPr lang="ko-KR" altLang="en-US" dirty="0"/>
              <a:t>관계</a:t>
            </a:r>
            <a:endParaRPr dirty="0"/>
          </a:p>
        </p:txBody>
      </p:sp>
      <p:pic>
        <p:nvPicPr>
          <p:cNvPr id="4" name="Picture 3" descr="ai_ml_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369" y="1677016"/>
            <a:ext cx="5115261" cy="3829786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CC7F4368-0605-4C89-B927-872AD0A92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4025" y="5544535"/>
            <a:ext cx="49369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⊃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⊃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Science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데이터 분석 + 통계 + ML 포함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지도</a:t>
            </a:r>
            <a:r>
              <a:rPr dirty="0"/>
              <a:t> vs </a:t>
            </a:r>
            <a:r>
              <a:rPr dirty="0" err="1"/>
              <a:t>비지도</a:t>
            </a:r>
            <a:r>
              <a:rPr lang="en-US" altLang="ko-KR" dirty="0"/>
              <a:t> vs </a:t>
            </a:r>
            <a:r>
              <a:rPr lang="ko-KR" altLang="en-US" dirty="0"/>
              <a:t>강화학습</a:t>
            </a:r>
            <a:endParaRPr dirty="0"/>
          </a:p>
        </p:txBody>
      </p:sp>
      <p:pic>
        <p:nvPicPr>
          <p:cNvPr id="1028" name="Picture 4" descr="Types of machine learning. Machine learning encompasses three main... |  Download Scientific Diagram">
            <a:extLst>
              <a:ext uri="{FF2B5EF4-FFF2-40B4-BE49-F238E27FC236}">
                <a16:creationId xmlns:a16="http://schemas.microsoft.com/office/drawing/2014/main" id="{4D1367CA-9582-4921-A6B6-D1000ADB6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18" y="1974289"/>
            <a:ext cx="7180729" cy="4232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906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지도</a:t>
            </a:r>
            <a:r>
              <a:rPr dirty="0"/>
              <a:t> vs </a:t>
            </a:r>
            <a:r>
              <a:rPr dirty="0" err="1"/>
              <a:t>비지도</a:t>
            </a:r>
            <a:r>
              <a:rPr lang="en-US" altLang="ko-KR" dirty="0"/>
              <a:t> vs </a:t>
            </a:r>
            <a:r>
              <a:rPr lang="ko-KR" altLang="en-US" dirty="0"/>
              <a:t>강화학습</a:t>
            </a:r>
            <a:endParaRPr dirty="0"/>
          </a:p>
        </p:txBody>
      </p:sp>
      <p:pic>
        <p:nvPicPr>
          <p:cNvPr id="1026" name="Picture 2" descr="Supervised vs. Unsupervised Learning: What's the Difference?">
            <a:extLst>
              <a:ext uri="{FF2B5EF4-FFF2-40B4-BE49-F238E27FC236}">
                <a16:creationId xmlns:a16="http://schemas.microsoft.com/office/drawing/2014/main" id="{721EA689-7738-449C-819B-B983E2494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726" y="2997104"/>
            <a:ext cx="3800528" cy="189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7DBB3079-694D-476A-8548-AFA9AD3CE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1765" y="5664497"/>
            <a:ext cx="266290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지도학습: 정답 있음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비지도학습: 정답 없음 </a:t>
            </a:r>
          </a:p>
        </p:txBody>
      </p:sp>
      <p:pic>
        <p:nvPicPr>
          <p:cNvPr id="1031" name="Picture 7" descr="Supervised vs. Unsupervised Learning [Differences &amp; Examples]">
            <a:extLst>
              <a:ext uri="{FF2B5EF4-FFF2-40B4-BE49-F238E27FC236}">
                <a16:creationId xmlns:a16="http://schemas.microsoft.com/office/drawing/2014/main" id="{6350382A-85B4-45C7-8B8B-A8082A476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324957"/>
            <a:ext cx="4481768" cy="3339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9778729E-EAB0-4C4D-B524-912DD1A198A3}"/>
              </a:ext>
            </a:extLst>
          </p:cNvPr>
          <p:cNvSpPr/>
          <p:nvPr/>
        </p:nvSpPr>
        <p:spPr>
          <a:xfrm>
            <a:off x="4065972" y="3863789"/>
            <a:ext cx="394447" cy="55581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회귀</a:t>
            </a:r>
            <a:r>
              <a:rPr dirty="0"/>
              <a:t> vs </a:t>
            </a:r>
            <a:r>
              <a:rPr lang="ko-KR" altLang="en-US" dirty="0"/>
              <a:t>분류</a:t>
            </a:r>
            <a:r>
              <a:rPr lang="en-US" altLang="ko-KR" dirty="0"/>
              <a:t> vs </a:t>
            </a:r>
            <a:r>
              <a:rPr lang="ko-KR" altLang="en-US" dirty="0"/>
              <a:t>군집</a:t>
            </a:r>
            <a:endParaRPr dirty="0"/>
          </a:p>
        </p:txBody>
      </p:sp>
      <p:pic>
        <p:nvPicPr>
          <p:cNvPr id="7" name="Picture 4" descr="기계학습, 분류⦁회귀⦁군집, 기계학습의 유형">
            <a:extLst>
              <a:ext uri="{FF2B5EF4-FFF2-40B4-BE49-F238E27FC236}">
                <a16:creationId xmlns:a16="http://schemas.microsoft.com/office/drawing/2014/main" id="{8DFF35B8-A148-4FDF-B5B5-D916004AF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342590"/>
            <a:ext cx="8477250" cy="376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7D9A155-6BB9-405C-8214-E2918CC5F913}"/>
              </a:ext>
            </a:extLst>
          </p:cNvPr>
          <p:cNvSpPr/>
          <p:nvPr/>
        </p:nvSpPr>
        <p:spPr>
          <a:xfrm>
            <a:off x="634530" y="6205955"/>
            <a:ext cx="1725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y ∈ ℝ (</a:t>
            </a:r>
            <a:r>
              <a:rPr lang="ko-KR" altLang="en-US" dirty="0"/>
              <a:t>실수 값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CF9CB53-EED8-45A1-8D7C-6B0A39303BF5}"/>
              </a:ext>
            </a:extLst>
          </p:cNvPr>
          <p:cNvSpPr/>
          <p:nvPr/>
        </p:nvSpPr>
        <p:spPr>
          <a:xfrm>
            <a:off x="4625789" y="6205955"/>
            <a:ext cx="28248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y ∈ {0,1} </a:t>
            </a:r>
            <a:r>
              <a:rPr lang="ko-KR" altLang="en-US" dirty="0"/>
              <a:t>또는 여러 클래스</a:t>
            </a:r>
          </a:p>
        </p:txBody>
      </p:sp>
    </p:spTree>
    <p:extLst>
      <p:ext uri="{BB962C8B-B14F-4D97-AF65-F5344CB8AC3E}">
        <p14:creationId xmlns:p14="http://schemas.microsoft.com/office/powerpoint/2010/main" val="2477985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머신러닝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4C556E1-5C65-46A9-B906-F9D5E5DB6F93}"/>
              </a:ext>
            </a:extLst>
          </p:cNvPr>
          <p:cNvSpPr/>
          <p:nvPr/>
        </p:nvSpPr>
        <p:spPr>
          <a:xfrm>
            <a:off x="161365" y="3295947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입력 </a:t>
            </a:r>
            <a:r>
              <a:rPr lang="en-US" altLang="ko-KR" dirty="0"/>
              <a:t>X</a:t>
            </a:r>
            <a:r>
              <a:rPr lang="ko-KR" altLang="en-US" dirty="0"/>
              <a:t>와 정답 </a:t>
            </a:r>
            <a:r>
              <a:rPr lang="en-US" altLang="ko-KR" dirty="0"/>
              <a:t>y</a:t>
            </a:r>
            <a:r>
              <a:rPr lang="ko-KR" altLang="en-US" dirty="0"/>
              <a:t>가 주어지고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우리는 함수 </a:t>
            </a:r>
            <a:r>
              <a:rPr lang="en-US" altLang="ko-KR" dirty="0"/>
              <a:t>f</a:t>
            </a:r>
            <a:r>
              <a:rPr lang="ko-KR" altLang="en-US" dirty="0"/>
              <a:t>를 학습해서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예측값을</a:t>
            </a:r>
            <a:r>
              <a:rPr lang="ko-KR" altLang="en-US" dirty="0"/>
              <a:t> 만드는 구조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θ = </a:t>
            </a:r>
            <a:r>
              <a:rPr lang="ko-KR" altLang="en-US" dirty="0"/>
              <a:t>모델 파라미터 </a:t>
            </a:r>
          </a:p>
          <a:p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A93D0B9-AB59-4C20-8367-41D8F0E09A79}"/>
              </a:ext>
            </a:extLst>
          </p:cNvPr>
          <p:cNvSpPr/>
          <p:nvPr/>
        </p:nvSpPr>
        <p:spPr>
          <a:xfrm>
            <a:off x="865289" y="2390675"/>
            <a:ext cx="1317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altLang="ko-KR" sz="2400" dirty="0"/>
              <a:t>y^=f(X;θ)</a:t>
            </a:r>
            <a:endParaRPr lang="ko-KR" altLang="en-US" sz="2400" dirty="0"/>
          </a:p>
        </p:txBody>
      </p:sp>
      <p:pic>
        <p:nvPicPr>
          <p:cNvPr id="4102" name="Picture 6" descr="Fundamentals of Machine Learning: Supervised Learning In A Nutshell | by  Dr. Leon Eversberg | Artificial Intelligence in Plain English">
            <a:extLst>
              <a:ext uri="{FF2B5EF4-FFF2-40B4-BE49-F238E27FC236}">
                <a16:creationId xmlns:a16="http://schemas.microsoft.com/office/drawing/2014/main" id="{9A21848A-96CF-4120-B760-F99D0F320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929" y="1941790"/>
            <a:ext cx="5394824" cy="3610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7389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손실함수</a:t>
            </a:r>
            <a:endParaRPr dirty="0"/>
          </a:p>
        </p:txBody>
      </p:sp>
      <p:pic>
        <p:nvPicPr>
          <p:cNvPr id="7170" name="Picture 2" descr="Visualizing Actual vs Predicted Prices in Regression Models | CodeSignal  Learn">
            <a:extLst>
              <a:ext uri="{FF2B5EF4-FFF2-40B4-BE49-F238E27FC236}">
                <a16:creationId xmlns:a16="http://schemas.microsoft.com/office/drawing/2014/main" id="{56DF0086-8ACD-4797-A614-41170FF4A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258" y="2086264"/>
            <a:ext cx="5416363" cy="3405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D6ECE7D-E583-4A91-987A-57F59E4BE890}"/>
              </a:ext>
            </a:extLst>
          </p:cNvPr>
          <p:cNvSpPr txBox="1">
            <a:spLocks/>
          </p:cNvSpPr>
          <p:nvPr/>
        </p:nvSpPr>
        <p:spPr>
          <a:xfrm>
            <a:off x="358589" y="1203699"/>
            <a:ext cx="552225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u"/>
            </a:pPr>
            <a:r>
              <a:rPr lang="ko-KR" altLang="en-US" sz="2000" dirty="0" err="1"/>
              <a:t>예측값</a:t>
            </a:r>
            <a:r>
              <a:rPr lang="ko-KR" altLang="en-US" sz="2000" dirty="0"/>
              <a:t> </a:t>
            </a:r>
            <a:r>
              <a:rPr lang="en-US" altLang="ko-KR" sz="2000" dirty="0"/>
              <a:t>vs </a:t>
            </a:r>
            <a:r>
              <a:rPr lang="ko-KR" altLang="en-US" sz="2000" dirty="0" err="1"/>
              <a:t>실제값</a:t>
            </a:r>
            <a:r>
              <a:rPr lang="ko-KR" altLang="en-US" sz="2000" dirty="0"/>
              <a:t> 차이 </a:t>
            </a:r>
            <a:r>
              <a:rPr lang="en-US" altLang="ko-KR" sz="2000" dirty="0"/>
              <a:t>= </a:t>
            </a:r>
            <a:r>
              <a:rPr lang="ko-KR" altLang="en-US" sz="2000" dirty="0"/>
              <a:t>오차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8F378D4-41B2-4286-AEDF-AABA1D2FD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294" y="5741811"/>
            <a:ext cx="2297436" cy="61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458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학습과정</a:t>
            </a:r>
            <a:endParaRPr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6ECE7D-E583-4A91-987A-57F59E4BE890}"/>
              </a:ext>
            </a:extLst>
          </p:cNvPr>
          <p:cNvSpPr txBox="1">
            <a:spLocks/>
          </p:cNvSpPr>
          <p:nvPr/>
        </p:nvSpPr>
        <p:spPr>
          <a:xfrm>
            <a:off x="358589" y="1203699"/>
            <a:ext cx="552225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u"/>
            </a:pPr>
            <a:r>
              <a:rPr lang="ko-KR" altLang="en-US" sz="2000" dirty="0" err="1"/>
              <a:t>경사하강법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 err="1"/>
              <a:t>예측값</a:t>
            </a:r>
            <a:r>
              <a:rPr lang="ko-KR" altLang="en-US" sz="2000" dirty="0"/>
              <a:t> </a:t>
            </a:r>
            <a:r>
              <a:rPr lang="en-US" altLang="ko-KR" sz="2000" dirty="0"/>
              <a:t>vs </a:t>
            </a:r>
            <a:r>
              <a:rPr lang="ko-KR" altLang="en-US" sz="2000" dirty="0" err="1"/>
              <a:t>실제값</a:t>
            </a:r>
            <a:r>
              <a:rPr lang="ko-KR" altLang="en-US" sz="2000" dirty="0"/>
              <a:t> 차이 </a:t>
            </a:r>
            <a:r>
              <a:rPr lang="en-US" altLang="ko-KR" sz="2000" dirty="0"/>
              <a:t>= </a:t>
            </a:r>
            <a:r>
              <a:rPr lang="ko-KR" altLang="en-US" sz="2000" dirty="0"/>
              <a:t>오차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pic>
        <p:nvPicPr>
          <p:cNvPr id="8194" name="Picture 2" descr="Gradient Descent-Explained in Depth | by Anmol Talwar | Medium">
            <a:extLst>
              <a:ext uri="{FF2B5EF4-FFF2-40B4-BE49-F238E27FC236}">
                <a16:creationId xmlns:a16="http://schemas.microsoft.com/office/drawing/2014/main" id="{C62E046F-0D38-4407-B5D4-BA41C12C3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43" y="2260703"/>
            <a:ext cx="5270687" cy="3282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Concept of Gradient Descent in Machine Learning. | by VARSH G | Medium">
            <a:extLst>
              <a:ext uri="{FF2B5EF4-FFF2-40B4-BE49-F238E27FC236}">
                <a16:creationId xmlns:a16="http://schemas.microsoft.com/office/drawing/2014/main" id="{D436EC95-584C-4531-9AD4-5D8D82CC7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994" y="2971800"/>
            <a:ext cx="2747963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63D6993-52A2-441E-8B34-FB4DC8817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6442" y="5835463"/>
            <a:ext cx="2146505" cy="55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학습과정</a:t>
            </a:r>
            <a:endParaRPr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CCC27D-39A7-47C1-A2C2-F67F7239AE26}"/>
              </a:ext>
            </a:extLst>
          </p:cNvPr>
          <p:cNvSpPr/>
          <p:nvPr/>
        </p:nvSpPr>
        <p:spPr>
          <a:xfrm>
            <a:off x="528174" y="1379537"/>
            <a:ext cx="2387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dirty="0" err="1"/>
              <a:t>과적합</a:t>
            </a:r>
            <a:r>
              <a:rPr lang="ko-KR" altLang="en-US" dirty="0"/>
              <a:t> </a:t>
            </a:r>
            <a:r>
              <a:rPr lang="en-US" altLang="ko-KR" dirty="0"/>
              <a:t>vs </a:t>
            </a:r>
            <a:r>
              <a:rPr lang="ko-KR" altLang="en-US" dirty="0"/>
              <a:t>과소적합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97F639-3793-4A33-81C3-D66835CFF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01" y="1824195"/>
            <a:ext cx="8387597" cy="300438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96" y="5039791"/>
            <a:ext cx="4712812" cy="171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869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평가지표</a:t>
            </a:r>
            <a:endParaRPr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CCC27D-39A7-47C1-A2C2-F67F7239AE26}"/>
              </a:ext>
            </a:extLst>
          </p:cNvPr>
          <p:cNvSpPr/>
          <p:nvPr/>
        </p:nvSpPr>
        <p:spPr>
          <a:xfrm>
            <a:off x="528174" y="1489832"/>
            <a:ext cx="1396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dirty="0"/>
              <a:t>회귀평가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540B2E0-77F6-4F3A-B068-BEF18E350BF9}"/>
              </a:ext>
            </a:extLst>
          </p:cNvPr>
          <p:cNvSpPr/>
          <p:nvPr/>
        </p:nvSpPr>
        <p:spPr>
          <a:xfrm>
            <a:off x="457200" y="1935486"/>
            <a:ext cx="640271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AutoNum type="arabicParenR"/>
            </a:pPr>
            <a:r>
              <a:rPr lang="en-US" altLang="ko-KR" dirty="0"/>
              <a:t>MAE (Mean Absolute Error)</a:t>
            </a:r>
          </a:p>
          <a:p>
            <a:r>
              <a:rPr lang="en-US" altLang="ko-KR" dirty="0"/>
              <a:t>        </a:t>
            </a:r>
          </a:p>
          <a:p>
            <a:r>
              <a:rPr lang="en-US" altLang="ko-KR" dirty="0"/>
              <a:t>      :MAE</a:t>
            </a:r>
            <a:r>
              <a:rPr lang="ko-KR" altLang="en-US" dirty="0"/>
              <a:t>는 </a:t>
            </a:r>
            <a:r>
              <a:rPr lang="ko-KR" altLang="en-US" dirty="0" err="1"/>
              <a:t>실제값과</a:t>
            </a:r>
            <a:r>
              <a:rPr lang="ko-KR" altLang="en-US" dirty="0"/>
              <a:t> </a:t>
            </a:r>
            <a:r>
              <a:rPr lang="ko-KR" altLang="en-US" dirty="0" err="1"/>
              <a:t>예측값의</a:t>
            </a:r>
            <a:r>
              <a:rPr lang="ko-KR" altLang="en-US" dirty="0"/>
              <a:t> 차이를 절대값으로 계산한 평균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21364F-F054-4193-98B4-94DFEBD1DC24}"/>
              </a:ext>
            </a:extLst>
          </p:cNvPr>
          <p:cNvSpPr/>
          <p:nvPr/>
        </p:nvSpPr>
        <p:spPr>
          <a:xfrm>
            <a:off x="537241" y="3466671"/>
            <a:ext cx="354616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2) MSE (Mean Squared Error)</a:t>
            </a:r>
          </a:p>
          <a:p>
            <a:endParaRPr lang="en-US" altLang="ko-KR" dirty="0"/>
          </a:p>
          <a:p>
            <a:r>
              <a:rPr lang="en-US" altLang="ko-KR" dirty="0"/>
              <a:t>     : </a:t>
            </a:r>
            <a:r>
              <a:rPr lang="ko-KR" altLang="en-US" dirty="0"/>
              <a:t>오차를 제곱해서 평균을 낸 값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414B687-B0A7-4C70-801B-CB8FA3BB92C4}"/>
              </a:ext>
            </a:extLst>
          </p:cNvPr>
          <p:cNvSpPr/>
          <p:nvPr/>
        </p:nvSpPr>
        <p:spPr>
          <a:xfrm>
            <a:off x="537241" y="4640246"/>
            <a:ext cx="35491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3) RMSE (Root Mean Squared Error)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D920B0-0BB9-4DEA-A49B-5355E38DD573}"/>
              </a:ext>
            </a:extLst>
          </p:cNvPr>
          <p:cNvSpPr/>
          <p:nvPr/>
        </p:nvSpPr>
        <p:spPr>
          <a:xfrm>
            <a:off x="537241" y="5701350"/>
            <a:ext cx="16193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4) ² (</a:t>
            </a:r>
            <a:r>
              <a:rPr lang="ko-KR" altLang="en-US" dirty="0"/>
              <a:t>결정계수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B0B7608-0C95-4CFC-A2FF-D670C975F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578" y="1617789"/>
            <a:ext cx="2708908" cy="6639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35AF0EE-F452-4FF2-8A8E-599B106BA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643" y="3222712"/>
            <a:ext cx="2889282" cy="61329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DE9C906-1425-4966-9C5F-67C47FCC9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9578" y="4414306"/>
            <a:ext cx="2870255" cy="68661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4CF961-434F-414A-B6B8-38CF4BE1F7E5}"/>
              </a:ext>
            </a:extLst>
          </p:cNvPr>
          <p:cNvSpPr/>
          <p:nvPr/>
        </p:nvSpPr>
        <p:spPr>
          <a:xfrm>
            <a:off x="741827" y="5170798"/>
            <a:ext cx="5803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: MSE</a:t>
            </a:r>
            <a:r>
              <a:rPr lang="ko-KR" altLang="en-US" dirty="0"/>
              <a:t>에 루트를 씌워서 원래 단위로 복원 </a:t>
            </a:r>
            <a:r>
              <a:rPr lang="en-US" altLang="ko-KR" dirty="0">
                <a:sym typeface="Wingdings" panose="05000000000000000000" pitchFamily="2" charset="2"/>
              </a:rPr>
              <a:t> </a:t>
            </a:r>
            <a:r>
              <a:rPr lang="ko-KR" altLang="en-US" dirty="0">
                <a:sym typeface="Wingdings" panose="05000000000000000000" pitchFamily="2" charset="2"/>
              </a:rPr>
              <a:t>큰 오차 강조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B0D8A5D-2EBF-4D1C-B62A-F66031851D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9577" y="5636994"/>
            <a:ext cx="2468657" cy="68136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4CC6127-C314-49A8-AA08-CAA8A318AA6B}"/>
              </a:ext>
            </a:extLst>
          </p:cNvPr>
          <p:cNvSpPr/>
          <p:nvPr/>
        </p:nvSpPr>
        <p:spPr>
          <a:xfrm>
            <a:off x="896471" y="6126878"/>
            <a:ext cx="54066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: </a:t>
            </a:r>
            <a:r>
              <a:rPr lang="ko-KR" altLang="en-US" dirty="0"/>
              <a:t>모델이 데이터를 얼마나 잘 설명하는지를 나타냄</a:t>
            </a:r>
            <a:endParaRPr lang="en-US" altLang="ko-KR" dirty="0"/>
          </a:p>
          <a:p>
            <a:r>
              <a:rPr lang="en-US" altLang="ko-KR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 1</a:t>
            </a:r>
            <a:r>
              <a:rPr lang="ko-KR" altLang="en-US" dirty="0">
                <a:sym typeface="Wingdings" panose="05000000000000000000" pitchFamily="2" charset="2"/>
              </a:rPr>
              <a:t>에 가까울수록 좋음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72349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평가지표</a:t>
            </a:r>
            <a:endParaRPr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CCC27D-39A7-47C1-A2C2-F67F7239AE26}"/>
              </a:ext>
            </a:extLst>
          </p:cNvPr>
          <p:cNvSpPr/>
          <p:nvPr/>
        </p:nvSpPr>
        <p:spPr>
          <a:xfrm>
            <a:off x="528174" y="1489832"/>
            <a:ext cx="36942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dirty="0"/>
              <a:t>분류평가 </a:t>
            </a:r>
            <a:r>
              <a:rPr lang="en-US" altLang="ko-KR" dirty="0"/>
              <a:t>(Confusion Matrix)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540B2E0-77F6-4F3A-B068-BEF18E350BF9}"/>
              </a:ext>
            </a:extLst>
          </p:cNvPr>
          <p:cNvSpPr/>
          <p:nvPr/>
        </p:nvSpPr>
        <p:spPr>
          <a:xfrm>
            <a:off x="457200" y="1935486"/>
            <a:ext cx="2202911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1) Accuracy (</a:t>
            </a:r>
            <a:r>
              <a:rPr lang="ko-KR" altLang="en-US" dirty="0"/>
              <a:t>정확도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     </a:t>
            </a:r>
          </a:p>
          <a:p>
            <a:r>
              <a:rPr lang="en-US" altLang="ko-KR" dirty="0"/>
              <a:t>     </a:t>
            </a:r>
          </a:p>
          <a:p>
            <a:r>
              <a:rPr lang="en-US" altLang="ko-KR" dirty="0"/>
              <a:t>      </a:t>
            </a:r>
          </a:p>
          <a:p>
            <a:r>
              <a:rPr lang="ko-KR" altLang="en-US" dirty="0"/>
              <a:t>   </a:t>
            </a:r>
          </a:p>
        </p:txBody>
      </p:sp>
      <p:pic>
        <p:nvPicPr>
          <p:cNvPr id="9218" name="Picture 2" descr="Structure of the confusion matrix with TP, FN, FP and TN values. | Download  Scientific Diagram">
            <a:extLst>
              <a:ext uri="{FF2B5EF4-FFF2-40B4-BE49-F238E27FC236}">
                <a16:creationId xmlns:a16="http://schemas.microsoft.com/office/drawing/2014/main" id="{86AD312C-02B5-4D2E-A508-DA80D4700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55262"/>
            <a:ext cx="4174191" cy="2767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3398589-7EE8-425A-A2DD-50EA3B6CE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132" y="2298503"/>
            <a:ext cx="2552700" cy="42862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77E59005-0223-4272-8677-E706BA31B3C6}"/>
              </a:ext>
            </a:extLst>
          </p:cNvPr>
          <p:cNvSpPr/>
          <p:nvPr/>
        </p:nvSpPr>
        <p:spPr>
          <a:xfrm>
            <a:off x="1063132" y="2740696"/>
            <a:ext cx="212830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/>
              <a:t>: </a:t>
            </a:r>
            <a:r>
              <a:rPr lang="ko-KR" altLang="en-US" sz="1600" dirty="0"/>
              <a:t>전체 중 맞춘 비율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8303D14-FA7A-448D-A7D6-1ED0B19DAB8B}"/>
              </a:ext>
            </a:extLst>
          </p:cNvPr>
          <p:cNvSpPr/>
          <p:nvPr/>
        </p:nvSpPr>
        <p:spPr>
          <a:xfrm>
            <a:off x="488867" y="3226584"/>
            <a:ext cx="2159758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2) Precision(</a:t>
            </a:r>
            <a:r>
              <a:rPr lang="ko-KR" altLang="en-US" dirty="0"/>
              <a:t>정밀도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     </a:t>
            </a:r>
          </a:p>
          <a:p>
            <a:r>
              <a:rPr lang="en-US" altLang="ko-KR" dirty="0"/>
              <a:t>      </a:t>
            </a:r>
          </a:p>
          <a:p>
            <a:r>
              <a:rPr lang="en-US" altLang="ko-KR" dirty="0"/>
              <a:t>      </a:t>
            </a:r>
          </a:p>
          <a:p>
            <a:r>
              <a:rPr lang="ko-KR" altLang="en-US" dirty="0"/>
              <a:t>  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C78B4B8-7FF0-489C-B5B9-EC839A507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425" y="3575928"/>
            <a:ext cx="1914525" cy="55245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490525ED-D4D7-4419-BE3B-ABE118674366}"/>
              </a:ext>
            </a:extLst>
          </p:cNvPr>
          <p:cNvSpPr/>
          <p:nvPr/>
        </p:nvSpPr>
        <p:spPr>
          <a:xfrm>
            <a:off x="1045082" y="4059512"/>
            <a:ext cx="44264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/>
              <a:t>: </a:t>
            </a:r>
            <a:r>
              <a:rPr lang="ko-KR" altLang="en-US" sz="1600" dirty="0"/>
              <a:t>모델이 </a:t>
            </a:r>
            <a:r>
              <a:rPr lang="en-US" altLang="ko-KR" sz="1600" dirty="0"/>
              <a:t>True</a:t>
            </a:r>
            <a:r>
              <a:rPr lang="ko-KR" altLang="en-US" sz="1600" dirty="0"/>
              <a:t>라고 분류한 것 중 실제 </a:t>
            </a:r>
            <a:r>
              <a:rPr lang="en-US" altLang="ko-KR" sz="1600" dirty="0"/>
              <a:t>True</a:t>
            </a:r>
            <a:r>
              <a:rPr lang="ko-KR" altLang="en-US" sz="1600" dirty="0"/>
              <a:t>의 비율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2A6D20-B5AE-40BD-BE19-1DDF1C5C24D3}"/>
              </a:ext>
            </a:extLst>
          </p:cNvPr>
          <p:cNvSpPr/>
          <p:nvPr/>
        </p:nvSpPr>
        <p:spPr>
          <a:xfrm>
            <a:off x="447454" y="4450594"/>
            <a:ext cx="1807354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3) Recall(</a:t>
            </a:r>
            <a:r>
              <a:rPr lang="ko-KR" altLang="en-US" dirty="0" err="1"/>
              <a:t>재현율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  </a:t>
            </a:r>
          </a:p>
          <a:p>
            <a:r>
              <a:rPr lang="en-US" altLang="ko-KR" dirty="0"/>
              <a:t>      </a:t>
            </a:r>
          </a:p>
          <a:p>
            <a:r>
              <a:rPr lang="en-US" altLang="ko-KR" dirty="0"/>
              <a:t>      </a:t>
            </a:r>
          </a:p>
          <a:p>
            <a:r>
              <a:rPr lang="ko-KR" altLang="en-US" dirty="0"/>
              <a:t>   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BAF0072-4699-4124-9ACA-FAACCF0D08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765" y="4826702"/>
            <a:ext cx="1600200" cy="523875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89790A46-2AB1-4880-A943-2550EAF7F738}"/>
              </a:ext>
            </a:extLst>
          </p:cNvPr>
          <p:cNvSpPr/>
          <p:nvPr/>
        </p:nvSpPr>
        <p:spPr>
          <a:xfrm>
            <a:off x="1045082" y="5233828"/>
            <a:ext cx="48833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/>
              <a:t>: </a:t>
            </a:r>
            <a:r>
              <a:rPr lang="ko-KR" altLang="en-US" sz="1600" dirty="0"/>
              <a:t>실제 </a:t>
            </a:r>
            <a:r>
              <a:rPr lang="en-US" altLang="ko-KR" sz="1600" dirty="0"/>
              <a:t>True</a:t>
            </a:r>
            <a:r>
              <a:rPr lang="ko-KR" altLang="en-US" sz="1600" dirty="0"/>
              <a:t>인 것 중 모델이 </a:t>
            </a:r>
            <a:r>
              <a:rPr lang="en-US" altLang="ko-KR" sz="1600" dirty="0"/>
              <a:t>True</a:t>
            </a:r>
            <a:r>
              <a:rPr lang="ko-KR" altLang="en-US" sz="1600" dirty="0"/>
              <a:t>라고 예측한 것의 비율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7E91D87-5CAD-4E74-9561-6731403B5CD4}"/>
              </a:ext>
            </a:extLst>
          </p:cNvPr>
          <p:cNvSpPr/>
          <p:nvPr/>
        </p:nvSpPr>
        <p:spPr>
          <a:xfrm>
            <a:off x="457200" y="5684174"/>
            <a:ext cx="3042692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4) F1 score </a:t>
            </a:r>
            <a:r>
              <a:rPr lang="en-US" altLang="ko-KR" dirty="0" smtClean="0"/>
              <a:t>(</a:t>
            </a:r>
            <a:r>
              <a:rPr lang="ko-KR" altLang="en-US" dirty="0" smtClean="0"/>
              <a:t>정밀도 </a:t>
            </a:r>
            <a:r>
              <a:rPr lang="en-US" altLang="ko-KR" dirty="0" smtClean="0"/>
              <a:t>&amp; </a:t>
            </a:r>
            <a:r>
              <a:rPr lang="ko-KR" altLang="en-US" dirty="0" err="1" smtClean="0"/>
              <a:t>재현율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r>
              <a:rPr lang="en-US" altLang="ko-KR" dirty="0"/>
              <a:t>     </a:t>
            </a:r>
          </a:p>
          <a:p>
            <a:r>
              <a:rPr lang="en-US" altLang="ko-KR" dirty="0"/>
              <a:t>      </a:t>
            </a:r>
          </a:p>
          <a:p>
            <a:r>
              <a:rPr lang="en-US" altLang="ko-KR" dirty="0"/>
              <a:t>      </a:t>
            </a:r>
          </a:p>
          <a:p>
            <a:r>
              <a:rPr lang="ko-KR" altLang="en-US" dirty="0"/>
              <a:t>   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86C6201-41B7-436D-8F5C-980B1ABFAA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599" y="6018537"/>
            <a:ext cx="2162175" cy="476250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017CF034-88E8-46A8-A5C2-45D45C60BF86}"/>
              </a:ext>
            </a:extLst>
          </p:cNvPr>
          <p:cNvSpPr/>
          <p:nvPr/>
        </p:nvSpPr>
        <p:spPr>
          <a:xfrm>
            <a:off x="1036556" y="6437302"/>
            <a:ext cx="28873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/>
              <a:t>: </a:t>
            </a:r>
            <a:r>
              <a:rPr lang="ko-KR" altLang="en-US" sz="1600" dirty="0"/>
              <a:t>정밀도와 재현율의 조화 척도</a:t>
            </a:r>
          </a:p>
        </p:txBody>
      </p:sp>
    </p:spTree>
    <p:extLst>
      <p:ext uri="{BB962C8B-B14F-4D97-AF65-F5344CB8AC3E}">
        <p14:creationId xmlns:p14="http://schemas.microsoft.com/office/powerpoint/2010/main" val="854218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데이터 분할</a:t>
            </a:r>
            <a:endParaRPr dirty="0"/>
          </a:p>
        </p:txBody>
      </p:sp>
      <p:pic>
        <p:nvPicPr>
          <p:cNvPr id="11266" name="Picture 2" descr="How to Actually Use Train, Validation and Test Sets">
            <a:extLst>
              <a:ext uri="{FF2B5EF4-FFF2-40B4-BE49-F238E27FC236}">
                <a16:creationId xmlns:a16="http://schemas.microsoft.com/office/drawing/2014/main" id="{BA48E937-86C0-480E-889D-DB4CDE4E6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65" y="1648656"/>
            <a:ext cx="8166847" cy="402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ACCC27D-39A7-47C1-A2C2-F67F7239AE26}"/>
              </a:ext>
            </a:extLst>
          </p:cNvPr>
          <p:cNvSpPr/>
          <p:nvPr/>
        </p:nvSpPr>
        <p:spPr>
          <a:xfrm>
            <a:off x="7094821" y="2612505"/>
            <a:ext cx="664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(80%)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BBFF984-0B50-4CB8-A86A-A8E0EEF587C8}"/>
              </a:ext>
            </a:extLst>
          </p:cNvPr>
          <p:cNvSpPr/>
          <p:nvPr/>
        </p:nvSpPr>
        <p:spPr>
          <a:xfrm>
            <a:off x="7094821" y="4145353"/>
            <a:ext cx="664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(10%)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FA55AD6-E113-4C30-8770-09A23524825B}"/>
              </a:ext>
            </a:extLst>
          </p:cNvPr>
          <p:cNvSpPr/>
          <p:nvPr/>
        </p:nvSpPr>
        <p:spPr>
          <a:xfrm>
            <a:off x="7094821" y="5493535"/>
            <a:ext cx="664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(10%)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6800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</a:t>
            </a:r>
            <a:r>
              <a:rPr lang="en-US" sz="2000" dirty="0"/>
              <a:t>(</a:t>
            </a:r>
            <a:r>
              <a:rPr lang="ko-KR" altLang="en-US" sz="2000" dirty="0"/>
              <a:t>선형관계학습</a:t>
            </a:r>
            <a:r>
              <a:rPr lang="en-US" altLang="ko-KR" sz="2000" dirty="0"/>
              <a:t>)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5495364" y="2985738"/>
            <a:ext cx="351640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dirty="0"/>
              <a:t>입력 변수 </a:t>
            </a:r>
            <a:r>
              <a:rPr lang="en-US" altLang="ko-KR" sz="1600" dirty="0"/>
              <a:t>X</a:t>
            </a:r>
            <a:r>
              <a:rPr lang="ko-KR" altLang="en-US" sz="1600" dirty="0"/>
              <a:t>와 출력 </a:t>
            </a:r>
            <a:r>
              <a:rPr lang="en-US" altLang="ko-KR" sz="1600" dirty="0"/>
              <a:t>y</a:t>
            </a:r>
            <a:r>
              <a:rPr lang="ko-KR" altLang="en-US" sz="1600" dirty="0"/>
              <a:t>가 선형 관계</a:t>
            </a:r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altLang="ko-KR" sz="1600" dirty="0"/>
              <a:t>β</a:t>
            </a:r>
            <a:r>
              <a:rPr lang="ko-KR" altLang="en-US" sz="1600" dirty="0"/>
              <a:t>는 가중치</a:t>
            </a:r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dirty="0"/>
              <a:t>모델의 목표는 </a:t>
            </a:r>
            <a:r>
              <a:rPr lang="en-US" altLang="ko-KR" sz="1600" dirty="0"/>
              <a:t>β</a:t>
            </a:r>
            <a:r>
              <a:rPr lang="ko-KR" altLang="en-US" sz="1600" dirty="0"/>
              <a:t>를 찾아서</a:t>
            </a:r>
            <a:br>
              <a:rPr lang="ko-KR" altLang="en-US" sz="1600" dirty="0"/>
            </a:br>
            <a:r>
              <a:rPr lang="ko-KR" altLang="en-US" sz="1600" dirty="0"/>
              <a:t>오차를 최소화 </a:t>
            </a:r>
            <a:r>
              <a:rPr lang="en-US" altLang="ko-KR" sz="1600" dirty="0">
                <a:sym typeface="Wingdings" panose="05000000000000000000" pitchFamily="2" charset="2"/>
              </a:rPr>
              <a:t></a:t>
            </a:r>
            <a:r>
              <a:rPr lang="en-US" altLang="ko-KR" sz="1600" dirty="0"/>
              <a:t> </a:t>
            </a:r>
            <a:r>
              <a:rPr lang="ko-KR" altLang="en-US" sz="1600" dirty="0"/>
              <a:t>선형 예측 </a:t>
            </a:r>
            <a:endParaRPr sz="1600" dirty="0"/>
          </a:p>
        </p:txBody>
      </p:sp>
      <p:pic>
        <p:nvPicPr>
          <p:cNvPr id="12290" name="Picture 2" descr="The Complete Guide To Simple Regression Analysis | Outlier">
            <a:extLst>
              <a:ext uri="{FF2B5EF4-FFF2-40B4-BE49-F238E27FC236}">
                <a16:creationId xmlns:a16="http://schemas.microsoft.com/office/drawing/2014/main" id="{D6898ED2-7199-4C9E-8A40-177D08B52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71" y="1900519"/>
            <a:ext cx="4961871" cy="4241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96C8127-E3BC-49B8-93AE-12A04B527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694" y="1976764"/>
            <a:ext cx="160020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063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</a:t>
            </a:r>
            <a:r>
              <a:rPr lang="en-US" altLang="ko-KR" sz="2000" dirty="0">
                <a:solidFill>
                  <a:prstClr val="black"/>
                </a:solidFill>
              </a:rPr>
              <a:t>(</a:t>
            </a:r>
            <a:r>
              <a:rPr lang="ko-KR" altLang="en-US" sz="2000" dirty="0">
                <a:solidFill>
                  <a:prstClr val="black"/>
                </a:solidFill>
              </a:rPr>
              <a:t>확률관계 분류</a:t>
            </a:r>
            <a:r>
              <a:rPr lang="en-US" altLang="ko-KR" sz="2000" dirty="0">
                <a:solidFill>
                  <a:prstClr val="black"/>
                </a:solidFill>
              </a:rPr>
              <a:t>)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95364" y="2096619"/>
            <a:ext cx="35164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dirty="0"/>
              <a:t>선형 결합</a:t>
            </a:r>
            <a:endParaRPr sz="1600" dirty="0"/>
          </a:p>
        </p:txBody>
      </p:sp>
      <p:pic>
        <p:nvPicPr>
          <p:cNvPr id="13314" name="Picture 2" descr="Logistic regression - Wikipedia">
            <a:extLst>
              <a:ext uri="{FF2B5EF4-FFF2-40B4-BE49-F238E27FC236}">
                <a16:creationId xmlns:a16="http://schemas.microsoft.com/office/drawing/2014/main" id="{763AFCE8-0908-4839-9EBF-96E03BD3C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38" y="1781175"/>
            <a:ext cx="4762500" cy="329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792EB79-8BE9-422D-81FD-32358D2A2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332" y="2509625"/>
            <a:ext cx="2213777" cy="6280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800BBD-DB9A-48F5-A558-3B8DCEE0AC53}"/>
              </a:ext>
            </a:extLst>
          </p:cNvPr>
          <p:cNvSpPr txBox="1"/>
          <p:nvPr/>
        </p:nvSpPr>
        <p:spPr>
          <a:xfrm>
            <a:off x="5495364" y="3137647"/>
            <a:ext cx="35164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600" dirty="0"/>
              <a:t>Sigmoid </a:t>
            </a:r>
            <a:r>
              <a:rPr lang="ko-KR" altLang="en-US" sz="1600" dirty="0"/>
              <a:t>함수</a:t>
            </a:r>
            <a:endParaRPr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16A10AD-8F11-4AB0-A918-0D9E14F96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812" y="3765668"/>
            <a:ext cx="2027855" cy="65231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956CD4A-13D3-4D60-A5CF-ADBAC0D0C1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238" y="5288616"/>
            <a:ext cx="3013700" cy="652316"/>
          </a:xfrm>
          <a:prstGeom prst="rect">
            <a:avLst/>
          </a:prstGeom>
        </p:spPr>
      </p:pic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B7D7D8F5-6D21-4057-B6C2-82B650886524}"/>
              </a:ext>
            </a:extLst>
          </p:cNvPr>
          <p:cNvSpPr/>
          <p:nvPr/>
        </p:nvSpPr>
        <p:spPr>
          <a:xfrm>
            <a:off x="6508376" y="4518212"/>
            <a:ext cx="627530" cy="65231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DC43362-F288-459D-B774-65D12808B9A9}"/>
              </a:ext>
            </a:extLst>
          </p:cNvPr>
          <p:cNvSpPr/>
          <p:nvPr/>
        </p:nvSpPr>
        <p:spPr>
          <a:xfrm>
            <a:off x="2739838" y="600647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입력 </a:t>
            </a:r>
            <a:r>
              <a:rPr lang="en-US" altLang="ko-KR" dirty="0"/>
              <a:t>x</a:t>
            </a:r>
            <a:r>
              <a:rPr lang="ko-KR" altLang="en-US" dirty="0"/>
              <a:t>가 주어졌을 때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 </a:t>
            </a:r>
            <a:r>
              <a:rPr lang="en-US" altLang="ko-KR" dirty="0"/>
              <a:t>y=1</a:t>
            </a:r>
            <a:r>
              <a:rPr lang="ko-KR" altLang="en-US" dirty="0"/>
              <a:t>일 확률을 계산하는 모델입니다</a:t>
            </a:r>
            <a:r>
              <a:rPr lang="en-US" altLang="ko-KR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07579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Tree(</a:t>
            </a:r>
            <a:r>
              <a:rPr lang="ko-KR" altLang="en-US" dirty="0" err="1"/>
              <a:t>의사결정트리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95364" y="2096619"/>
            <a:ext cx="35164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dirty="0"/>
              <a:t>어디서 데이터를 나눌 것인가</a:t>
            </a:r>
            <a:r>
              <a:rPr lang="en-US" altLang="ko-KR" sz="1600" dirty="0"/>
              <a:t>?</a:t>
            </a:r>
            <a:endParaRPr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00BBD-DB9A-48F5-A558-3B8DCEE0AC53}"/>
              </a:ext>
            </a:extLst>
          </p:cNvPr>
          <p:cNvSpPr txBox="1"/>
          <p:nvPr/>
        </p:nvSpPr>
        <p:spPr>
          <a:xfrm>
            <a:off x="5495364" y="3461065"/>
            <a:ext cx="351640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 </a:t>
            </a:r>
            <a:r>
              <a:rPr lang="en-US" altLang="ko-KR" sz="1600" dirty="0">
                <a:sym typeface="Wingdings" panose="05000000000000000000" pitchFamily="2" charset="2"/>
              </a:rPr>
              <a:t>  Entropy</a:t>
            </a:r>
            <a:r>
              <a:rPr lang="ko-KR" altLang="en-US" sz="1600" dirty="0">
                <a:sym typeface="Wingdings" panose="05000000000000000000" pitchFamily="2" charset="2"/>
              </a:rPr>
              <a:t>는 데이터 불확실성을 나타내며</a:t>
            </a:r>
            <a:r>
              <a:rPr lang="en-US" altLang="ko-KR" sz="1600" dirty="0">
                <a:sym typeface="Wingdings" panose="05000000000000000000" pitchFamily="2" charset="2"/>
              </a:rPr>
              <a:t>, Entropy</a:t>
            </a:r>
            <a:r>
              <a:rPr lang="ko-KR" altLang="en-US" sz="1600" dirty="0">
                <a:sym typeface="Wingdings" panose="05000000000000000000" pitchFamily="2" charset="2"/>
              </a:rPr>
              <a:t>를 줄이는 분할 필요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endParaRPr lang="en-US" altLang="ko-KR" sz="1600" dirty="0">
              <a:sym typeface="Wingdings" panose="05000000000000000000" pitchFamily="2" charset="2"/>
            </a:endParaRPr>
          </a:p>
          <a:p>
            <a:r>
              <a:rPr lang="en-US" altLang="ko-KR" sz="1600" dirty="0">
                <a:sym typeface="Wingdings" panose="05000000000000000000" pitchFamily="2" charset="2"/>
              </a:rPr>
              <a:t> </a:t>
            </a:r>
            <a:r>
              <a:rPr lang="en-US" altLang="ko-KR" sz="1600" dirty="0"/>
              <a:t>Information Gain</a:t>
            </a:r>
            <a:r>
              <a:rPr lang="ko-KR" altLang="en-US" sz="1600" dirty="0"/>
              <a:t>이 </a:t>
            </a:r>
            <a:r>
              <a:rPr lang="ko-KR" altLang="en-US" sz="1600" dirty="0" err="1"/>
              <a:t>큰게</a:t>
            </a:r>
            <a:r>
              <a:rPr lang="ko-KR" altLang="en-US" sz="1600" dirty="0"/>
              <a:t> 기준</a:t>
            </a:r>
            <a:endParaRPr sz="16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DC43362-F288-459D-B774-65D12808B9A9}"/>
              </a:ext>
            </a:extLst>
          </p:cNvPr>
          <p:cNvSpPr/>
          <p:nvPr/>
        </p:nvSpPr>
        <p:spPr>
          <a:xfrm>
            <a:off x="2070738" y="6230400"/>
            <a:ext cx="51828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데이터를 조건에 따라 계속 나누면서 최종 결정</a:t>
            </a:r>
            <a:endParaRPr lang="en-US" altLang="ko-KR" dirty="0"/>
          </a:p>
        </p:txBody>
      </p:sp>
      <p:sp>
        <p:nvSpPr>
          <p:cNvPr id="15" name="AutoShape 10" descr="Decision Tree Algorithm. | Download Scientific Diagram">
            <a:extLst>
              <a:ext uri="{FF2B5EF4-FFF2-40B4-BE49-F238E27FC236}">
                <a16:creationId xmlns:a16="http://schemas.microsoft.com/office/drawing/2014/main" id="{B6934C58-D119-42A9-8571-4ADE23B502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092B51A-D61A-49A2-BD99-EE5528FC2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876" y="2719519"/>
            <a:ext cx="2438400" cy="457200"/>
          </a:xfrm>
          <a:prstGeom prst="rect">
            <a:avLst/>
          </a:prstGeom>
        </p:spPr>
      </p:pic>
      <p:pic>
        <p:nvPicPr>
          <p:cNvPr id="14354" name="Picture 18" descr="Decision Trees. Part 5: Overfitting | by Omkar Hankare | Medium">
            <a:extLst>
              <a:ext uri="{FF2B5EF4-FFF2-40B4-BE49-F238E27FC236}">
                <a16:creationId xmlns:a16="http://schemas.microsoft.com/office/drawing/2014/main" id="{A880FFDB-D234-4969-A493-CAC5E9F5E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441555"/>
            <a:ext cx="5495364" cy="3771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2041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  <a:r>
              <a:rPr lang="en-US" altLang="ko-KR" sz="2000" dirty="0">
                <a:solidFill>
                  <a:prstClr val="black"/>
                </a:solidFill>
              </a:rPr>
              <a:t>(</a:t>
            </a:r>
            <a:r>
              <a:rPr lang="ko-KR" altLang="en-US" sz="2000" dirty="0">
                <a:solidFill>
                  <a:prstClr val="black"/>
                </a:solidFill>
              </a:rPr>
              <a:t>여러 트리 평균</a:t>
            </a:r>
            <a:r>
              <a:rPr lang="en-US" altLang="ko-KR" sz="2000" dirty="0">
                <a:solidFill>
                  <a:prstClr val="black"/>
                </a:solidFill>
              </a:rPr>
              <a:t>)</a:t>
            </a:r>
            <a:endParaRPr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DC43362-F288-459D-B774-65D12808B9A9}"/>
              </a:ext>
            </a:extLst>
          </p:cNvPr>
          <p:cNvSpPr/>
          <p:nvPr/>
        </p:nvSpPr>
        <p:spPr>
          <a:xfrm>
            <a:off x="457200" y="5629155"/>
            <a:ext cx="2877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Decision Tree </a:t>
            </a:r>
            <a:r>
              <a:rPr lang="ko-KR" altLang="en-US" dirty="0"/>
              <a:t>단점 보완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endParaRPr lang="en-US" altLang="ko-KR" dirty="0"/>
          </a:p>
        </p:txBody>
      </p:sp>
      <p:sp>
        <p:nvSpPr>
          <p:cNvPr id="15" name="AutoShape 10" descr="Decision Tree Algorithm. | Download Scientific Diagram">
            <a:extLst>
              <a:ext uri="{FF2B5EF4-FFF2-40B4-BE49-F238E27FC236}">
                <a16:creationId xmlns:a16="http://schemas.microsoft.com/office/drawing/2014/main" id="{B6934C58-D119-42A9-8571-4ADE23B502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A7AD5A-1647-4F39-88C5-43AAD580B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706" y="1185634"/>
            <a:ext cx="5997388" cy="3934977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8E98C4-BD2F-4121-B98E-DC8B12CBFB8F}"/>
              </a:ext>
            </a:extLst>
          </p:cNvPr>
          <p:cNvSpPr/>
          <p:nvPr/>
        </p:nvSpPr>
        <p:spPr>
          <a:xfrm>
            <a:off x="3361655" y="5521434"/>
            <a:ext cx="54685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/>
              <a:t>1. </a:t>
            </a:r>
            <a:r>
              <a:rPr lang="ko-KR" altLang="en-US" sz="1600" dirty="0"/>
              <a:t>데이터 랜덤하게 </a:t>
            </a:r>
            <a:r>
              <a:rPr lang="ko-KR" altLang="en-US" sz="1600" dirty="0" err="1"/>
              <a:t>샘플링하여</a:t>
            </a:r>
            <a:r>
              <a:rPr lang="ko-KR" altLang="en-US" sz="1600" dirty="0"/>
              <a:t> 각 트리를 다르게 학습</a:t>
            </a:r>
            <a:endParaRPr lang="en-US" altLang="ko-KR" sz="1600" dirty="0"/>
          </a:p>
          <a:p>
            <a:r>
              <a:rPr lang="en-US" altLang="ko-KR" sz="1600" dirty="0"/>
              <a:t>2. </a:t>
            </a:r>
            <a:r>
              <a:rPr lang="ko-KR" altLang="en-US" sz="1600" dirty="0"/>
              <a:t>각 노드에서 사용할 </a:t>
            </a:r>
            <a:r>
              <a:rPr lang="en-US" altLang="ko-KR" sz="1600" dirty="0"/>
              <a:t>feature</a:t>
            </a:r>
            <a:r>
              <a:rPr lang="ko-KR" altLang="en-US" sz="1600" dirty="0"/>
              <a:t>를 랜덤하게 선택</a:t>
            </a:r>
            <a:r>
              <a:rPr lang="en-US" altLang="ko-KR" sz="1600" dirty="0"/>
              <a:t>    </a:t>
            </a: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81780463-E33B-4643-A6A0-D48ACA103892}"/>
              </a:ext>
            </a:extLst>
          </p:cNvPr>
          <p:cNvSpPr/>
          <p:nvPr/>
        </p:nvSpPr>
        <p:spPr>
          <a:xfrm>
            <a:off x="5486400" y="6106209"/>
            <a:ext cx="322729" cy="27734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D8F9705-C255-451B-AA08-6334F6147247}"/>
              </a:ext>
            </a:extLst>
          </p:cNvPr>
          <p:cNvSpPr/>
          <p:nvPr/>
        </p:nvSpPr>
        <p:spPr>
          <a:xfrm>
            <a:off x="3828042" y="6430087"/>
            <a:ext cx="43388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‘</a:t>
            </a:r>
            <a:r>
              <a:rPr lang="ko-KR" altLang="en-US" dirty="0"/>
              <a:t>불안정한 트리 </a:t>
            </a:r>
            <a:r>
              <a:rPr lang="ko-KR" altLang="en-US" dirty="0" err="1"/>
              <a:t>평균내어</a:t>
            </a:r>
            <a:r>
              <a:rPr lang="ko-KR" altLang="en-US" dirty="0"/>
              <a:t> 정확도 향상</a:t>
            </a:r>
            <a:r>
              <a:rPr lang="en-US" altLang="ko-KR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373620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Gradient Boosting</a:t>
            </a:r>
            <a:r>
              <a:rPr lang="en-US" altLang="ko-KR" sz="2000" dirty="0">
                <a:solidFill>
                  <a:prstClr val="black"/>
                </a:solidFill>
              </a:rPr>
              <a:t> (</a:t>
            </a:r>
            <a:r>
              <a:rPr lang="ko-KR" altLang="en-US" sz="2000" dirty="0">
                <a:solidFill>
                  <a:prstClr val="black"/>
                </a:solidFill>
              </a:rPr>
              <a:t>오차보완</a:t>
            </a:r>
            <a:r>
              <a:rPr lang="en-US" altLang="ko-KR" sz="2000" dirty="0">
                <a:solidFill>
                  <a:prstClr val="black"/>
                </a:solidFill>
              </a:rPr>
              <a:t>)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이전 오차를 보완하는 구조</a:t>
            </a:r>
          </a:p>
        </p:txBody>
      </p:sp>
      <p:pic>
        <p:nvPicPr>
          <p:cNvPr id="4" name="Picture 3" descr="gradient_boo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657600" cy="521176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417A813-CB79-40A3-A81D-89AA3BD52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400300"/>
            <a:ext cx="3957638" cy="6858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6157878-9EC7-4E21-BE52-8FBBC502FFE8}"/>
              </a:ext>
            </a:extLst>
          </p:cNvPr>
          <p:cNvSpPr/>
          <p:nvPr/>
        </p:nvSpPr>
        <p:spPr>
          <a:xfrm>
            <a:off x="274321" y="4114800"/>
            <a:ext cx="42976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/>
              <a:t>첫번째 모델이 예측하고 오차 계산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/>
              <a:t>두번째 모델은 이 오차를 학습</a:t>
            </a:r>
            <a:endParaRPr lang="en-US" altLang="ko-KR" sz="1600" dirty="0"/>
          </a:p>
          <a:p>
            <a:r>
              <a:rPr lang="en-US" altLang="ko-KR" sz="1600" dirty="0"/>
              <a:t>3.    </a:t>
            </a:r>
            <a:r>
              <a:rPr lang="ko-KR" altLang="en-US" sz="1600" dirty="0"/>
              <a:t>위 과정 반복 학습</a:t>
            </a:r>
            <a:endParaRPr lang="en-US" altLang="ko-KR" sz="1600" dirty="0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AD948341-2F6B-4925-8BE2-0F1E1C6B525A}"/>
              </a:ext>
            </a:extLst>
          </p:cNvPr>
          <p:cNvSpPr/>
          <p:nvPr/>
        </p:nvSpPr>
        <p:spPr>
          <a:xfrm>
            <a:off x="1891552" y="5205190"/>
            <a:ext cx="322729" cy="27734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C8F8E7-C378-4DCC-9A9F-3E90607FF3AD}"/>
              </a:ext>
            </a:extLst>
          </p:cNvPr>
          <p:cNvSpPr/>
          <p:nvPr/>
        </p:nvSpPr>
        <p:spPr>
          <a:xfrm>
            <a:off x="1039960" y="5713734"/>
            <a:ext cx="23486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‘</a:t>
            </a:r>
            <a:r>
              <a:rPr lang="ko-KR" altLang="en-US" dirty="0"/>
              <a:t>모델이 더 정교해짐</a:t>
            </a:r>
            <a:r>
              <a:rPr lang="en-US" altLang="ko-KR" dirty="0"/>
              <a:t>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altLang="ko-KR" sz="2000" dirty="0">
                <a:solidFill>
                  <a:prstClr val="black"/>
                </a:solidFill>
              </a:rPr>
              <a:t> (</a:t>
            </a:r>
            <a:r>
              <a:rPr lang="ko-KR" altLang="en-US" sz="2000" dirty="0">
                <a:solidFill>
                  <a:prstClr val="black"/>
                </a:solidFill>
              </a:rPr>
              <a:t>정규화 </a:t>
            </a:r>
            <a:r>
              <a:rPr lang="en-US" altLang="ko-KR" sz="2000" dirty="0">
                <a:solidFill>
                  <a:prstClr val="black"/>
                </a:solidFill>
              </a:rPr>
              <a:t>+ </a:t>
            </a:r>
            <a:r>
              <a:rPr lang="ko-KR" altLang="en-US" sz="2000" dirty="0">
                <a:solidFill>
                  <a:prstClr val="black"/>
                </a:solidFill>
              </a:rPr>
              <a:t>고속화</a:t>
            </a:r>
            <a:r>
              <a:rPr lang="en-US" altLang="ko-KR" sz="2000" dirty="0">
                <a:solidFill>
                  <a:prstClr val="black"/>
                </a:solidFill>
              </a:rPr>
              <a:t>)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13278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Gradient Boosting </a:t>
            </a:r>
            <a:r>
              <a:rPr lang="ko-KR" altLang="en-US" dirty="0"/>
              <a:t>개선한 모델</a:t>
            </a:r>
            <a:endParaRPr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157878-9EC7-4E21-BE52-8FBBC502FFE8}"/>
              </a:ext>
            </a:extLst>
          </p:cNvPr>
          <p:cNvSpPr/>
          <p:nvPr/>
        </p:nvSpPr>
        <p:spPr>
          <a:xfrm>
            <a:off x="274320" y="3429000"/>
            <a:ext cx="429768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/>
              <a:t>정규화</a:t>
            </a: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r>
              <a:rPr lang="en-US" altLang="ko-KR" sz="1600" dirty="0"/>
              <a:t>2</a:t>
            </a:r>
            <a:r>
              <a:rPr lang="ko-KR" altLang="en-US" sz="1600" dirty="0"/>
              <a:t>차 미분 사용</a:t>
            </a: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/>
              <a:t>병렬처리</a:t>
            </a:r>
            <a:endParaRPr lang="en-US" altLang="ko-KR" sz="16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659D3BC-44BA-4332-BFFB-5FD4AC61B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981" y="1619950"/>
            <a:ext cx="5393704" cy="3618099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D5F72C-9B55-4B60-846B-2B864C45612C}"/>
              </a:ext>
            </a:extLst>
          </p:cNvPr>
          <p:cNvSpPr/>
          <p:nvPr/>
        </p:nvSpPr>
        <p:spPr>
          <a:xfrm>
            <a:off x="794356" y="5612191"/>
            <a:ext cx="225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‘</a:t>
            </a:r>
            <a:r>
              <a:rPr lang="ko-KR" altLang="en-US" dirty="0"/>
              <a:t>고성능 </a:t>
            </a:r>
            <a:r>
              <a:rPr lang="en-US" altLang="ko-KR" dirty="0"/>
              <a:t>+ </a:t>
            </a:r>
            <a:r>
              <a:rPr lang="ko-KR" altLang="en-US" dirty="0"/>
              <a:t>안정성</a:t>
            </a:r>
            <a:r>
              <a:rPr lang="en-US" altLang="ko-KR" dirty="0"/>
              <a:t>’</a:t>
            </a:r>
            <a:endParaRPr lang="ko-KR" altLang="en-US" dirty="0"/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9E736B46-88B6-462E-BA4B-BE1E3CF6C53C}"/>
              </a:ext>
            </a:extLst>
          </p:cNvPr>
          <p:cNvSpPr/>
          <p:nvPr/>
        </p:nvSpPr>
        <p:spPr>
          <a:xfrm>
            <a:off x="1596698" y="4964192"/>
            <a:ext cx="322729" cy="27385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551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LightGBM</a:t>
            </a:r>
            <a:r>
              <a:rPr lang="en-US" altLang="ko-KR" sz="2000" dirty="0">
                <a:solidFill>
                  <a:prstClr val="black"/>
                </a:solidFill>
              </a:rPr>
              <a:t> (</a:t>
            </a:r>
            <a:r>
              <a:rPr lang="ko-KR" altLang="en-US" sz="2000" dirty="0">
                <a:solidFill>
                  <a:prstClr val="black"/>
                </a:solidFill>
              </a:rPr>
              <a:t>고속화</a:t>
            </a:r>
            <a:r>
              <a:rPr lang="en-US" altLang="ko-KR" sz="2000" dirty="0">
                <a:solidFill>
                  <a:prstClr val="black"/>
                </a:solidFill>
              </a:rPr>
              <a:t>)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Leaf-wise </a:t>
            </a:r>
            <a:r>
              <a:rPr dirty="0" err="1"/>
              <a:t>성장</a:t>
            </a:r>
            <a:endParaRPr dirty="0"/>
          </a:p>
          <a:p>
            <a:r>
              <a:rPr dirty="0" err="1"/>
              <a:t>빠른</a:t>
            </a:r>
            <a:r>
              <a:rPr dirty="0"/>
              <a:t> </a:t>
            </a:r>
            <a:r>
              <a:rPr dirty="0" err="1"/>
              <a:t>학습</a:t>
            </a:r>
            <a:endParaRPr dirty="0"/>
          </a:p>
        </p:txBody>
      </p:sp>
      <p:pic>
        <p:nvPicPr>
          <p:cNvPr id="4" name="Picture 3" descr="lightgb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444" y="2174163"/>
            <a:ext cx="4708870" cy="285852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8555D2B-0F93-4361-802C-82EF0343AE41}"/>
              </a:ext>
            </a:extLst>
          </p:cNvPr>
          <p:cNvSpPr/>
          <p:nvPr/>
        </p:nvSpPr>
        <p:spPr>
          <a:xfrm>
            <a:off x="274320" y="3183615"/>
            <a:ext cx="429768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600" dirty="0"/>
              <a:t>leaf-wise </a:t>
            </a:r>
            <a:r>
              <a:rPr lang="ko-KR" altLang="en-US" sz="1600" dirty="0"/>
              <a:t>방식으로 성장</a:t>
            </a: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/>
              <a:t>더 빠르게 최적의 모델에 도달</a:t>
            </a: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r>
              <a:rPr lang="en-US" altLang="ko-KR" sz="1600" dirty="0"/>
              <a:t>But</a:t>
            </a:r>
            <a:r>
              <a:rPr lang="ko-KR" altLang="en-US" sz="1600" dirty="0"/>
              <a:t> 과적합이 발생할 수 있음</a:t>
            </a:r>
            <a:endParaRPr lang="en-US" altLang="ko-KR" sz="16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DA37B44-E228-4075-90CC-E2C1168561F2}"/>
              </a:ext>
            </a:extLst>
          </p:cNvPr>
          <p:cNvSpPr/>
          <p:nvPr/>
        </p:nvSpPr>
        <p:spPr>
          <a:xfrm>
            <a:off x="457200" y="537541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‘Leaf-wise </a:t>
            </a:r>
            <a:r>
              <a:rPr lang="ko-KR" altLang="en-US" dirty="0"/>
              <a:t>성장</a:t>
            </a:r>
            <a:r>
              <a:rPr lang="en-US" altLang="ko-KR" dirty="0"/>
              <a:t> </a:t>
            </a:r>
            <a:r>
              <a:rPr lang="ko-KR" altLang="en-US" dirty="0"/>
              <a:t>빠른 학습</a:t>
            </a:r>
            <a:r>
              <a:rPr lang="en-US" altLang="ko-KR" dirty="0"/>
              <a:t>’</a:t>
            </a:r>
            <a:endParaRPr lang="ko-KR" altLang="en-US" dirty="0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12AC38F7-4570-4FF4-AA82-39DD914D3EE7}"/>
              </a:ext>
            </a:extLst>
          </p:cNvPr>
          <p:cNvSpPr/>
          <p:nvPr/>
        </p:nvSpPr>
        <p:spPr>
          <a:xfrm>
            <a:off x="1596698" y="4755343"/>
            <a:ext cx="322729" cy="27734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CatBoost</a:t>
            </a:r>
            <a:r>
              <a:rPr lang="en-US" altLang="ko-KR" sz="2000" dirty="0">
                <a:solidFill>
                  <a:prstClr val="black"/>
                </a:solidFill>
              </a:rPr>
              <a:t> (</a:t>
            </a:r>
            <a:r>
              <a:rPr lang="ko-KR" altLang="en-US" sz="2000" dirty="0">
                <a:solidFill>
                  <a:prstClr val="black"/>
                </a:solidFill>
              </a:rPr>
              <a:t>범주형 데이터 최적화</a:t>
            </a:r>
            <a:r>
              <a:rPr lang="en-US" altLang="ko-KR" sz="2000" dirty="0">
                <a:solidFill>
                  <a:prstClr val="black"/>
                </a:solidFill>
              </a:rPr>
              <a:t>)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범주형 데이터 최적화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7C28E486-FDDC-4A62-A609-70B4E53B8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050" y="1711138"/>
            <a:ext cx="5238750" cy="41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0B55B8B-4A84-4083-878E-A575D53EE510}"/>
              </a:ext>
            </a:extLst>
          </p:cNvPr>
          <p:cNvSpPr/>
          <p:nvPr/>
        </p:nvSpPr>
        <p:spPr>
          <a:xfrm>
            <a:off x="457200" y="2875002"/>
            <a:ext cx="285494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data leakage </a:t>
            </a:r>
            <a:r>
              <a:rPr lang="ko-KR" altLang="en-US" dirty="0"/>
              <a:t>해결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Ordered Target Encoding</a:t>
            </a:r>
          </a:p>
          <a:p>
            <a:r>
              <a:rPr lang="en-US" altLang="ko-KR" dirty="0"/>
              <a:t>       </a:t>
            </a:r>
            <a:r>
              <a:rPr lang="ko-KR" altLang="en-US" dirty="0"/>
              <a:t>사용</a:t>
            </a:r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2E725586-BF17-4328-8562-7D8395751AD1}"/>
              </a:ext>
            </a:extLst>
          </p:cNvPr>
          <p:cNvSpPr/>
          <p:nvPr/>
        </p:nvSpPr>
        <p:spPr>
          <a:xfrm>
            <a:off x="1434353" y="4114800"/>
            <a:ext cx="412376" cy="43030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5408EA2-900A-4DE5-8973-3637010E4CAF}"/>
              </a:ext>
            </a:extLst>
          </p:cNvPr>
          <p:cNvSpPr/>
          <p:nvPr/>
        </p:nvSpPr>
        <p:spPr>
          <a:xfrm>
            <a:off x="457200" y="4861574"/>
            <a:ext cx="27029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‘</a:t>
            </a:r>
            <a:r>
              <a:rPr lang="ko-KR" altLang="en-US" dirty="0"/>
              <a:t>범주형 데이터가 많을 때</a:t>
            </a:r>
            <a:endParaRPr lang="en-US" altLang="ko-KR" dirty="0"/>
          </a:p>
          <a:p>
            <a:r>
              <a:rPr lang="ko-KR" altLang="en-US" dirty="0"/>
              <a:t>매우 강력＇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K-Means</a:t>
            </a:r>
            <a:r>
              <a:rPr lang="en-US" altLang="ko-KR" sz="2000" dirty="0">
                <a:solidFill>
                  <a:prstClr val="black"/>
                </a:solidFill>
              </a:rPr>
              <a:t> (</a:t>
            </a:r>
            <a:r>
              <a:rPr lang="ko-KR" altLang="en-US" sz="2000" dirty="0">
                <a:solidFill>
                  <a:prstClr val="black"/>
                </a:solidFill>
              </a:rPr>
              <a:t>군집화</a:t>
            </a:r>
            <a:r>
              <a:rPr lang="en-US" altLang="ko-KR" sz="2000" dirty="0">
                <a:solidFill>
                  <a:prstClr val="black"/>
                </a:solidFill>
              </a:rPr>
              <a:t>)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군집 중심 기반 clustering</a:t>
            </a:r>
          </a:p>
        </p:txBody>
      </p:sp>
      <p:pic>
        <p:nvPicPr>
          <p:cNvPr id="4" name="Picture 3" descr="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068" y="1972234"/>
            <a:ext cx="4747708" cy="43801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차원 축소 및 분산 최대화</a:t>
            </a:r>
          </a:p>
        </p:txBody>
      </p:sp>
      <p:pic>
        <p:nvPicPr>
          <p:cNvPr id="4" name="Picture 3" descr="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033" y="2330823"/>
            <a:ext cx="6424108" cy="394342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1948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dirty="0" err="1"/>
              <a:t>특성</a:t>
            </a:r>
            <a:r>
              <a:rPr dirty="0"/>
              <a:t> </a:t>
            </a:r>
            <a:r>
              <a:rPr dirty="0" err="1"/>
              <a:t>기여도</a:t>
            </a:r>
            <a:r>
              <a:rPr dirty="0"/>
              <a:t> </a:t>
            </a:r>
            <a:r>
              <a:rPr dirty="0" err="1"/>
              <a:t>설명</a:t>
            </a:r>
            <a:endParaRPr dirty="0"/>
          </a:p>
        </p:txBody>
      </p:sp>
      <p:pic>
        <p:nvPicPr>
          <p:cNvPr id="20482" name="Picture 2" descr="python - Shap - The color bar is not displayed in the summary plot - Stack  Overflow">
            <a:extLst>
              <a:ext uri="{FF2B5EF4-FFF2-40B4-BE49-F238E27FC236}">
                <a16:creationId xmlns:a16="http://schemas.microsoft.com/office/drawing/2014/main" id="{F6A5B3E7-FC2C-4636-9FB8-5046FFE4C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306" y="1782016"/>
            <a:ext cx="6211700" cy="390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E261309-B44E-489A-81D9-31CDE1CF5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581" y="5992812"/>
            <a:ext cx="3867150" cy="590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510</Words>
  <Application>Microsoft Office PowerPoint</Application>
  <PresentationFormat>화면 슬라이드 쇼(4:3)</PresentationFormat>
  <Paragraphs>125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맑은 고딕</vt:lpstr>
      <vt:lpstr>Arial</vt:lpstr>
      <vt:lpstr>Calibri</vt:lpstr>
      <vt:lpstr>Wingdings</vt:lpstr>
      <vt:lpstr>Office Theme</vt:lpstr>
      <vt:lpstr>AI / ML / DL 관계</vt:lpstr>
      <vt:lpstr>지도 vs 비지도 vs 강화학습</vt:lpstr>
      <vt:lpstr>지도 vs 비지도 vs 강화학습</vt:lpstr>
      <vt:lpstr>회귀 vs 분류 vs 군집</vt:lpstr>
      <vt:lpstr>머신러닝</vt:lpstr>
      <vt:lpstr>손실함수</vt:lpstr>
      <vt:lpstr>학습과정</vt:lpstr>
      <vt:lpstr>학습과정</vt:lpstr>
      <vt:lpstr>평가지표</vt:lpstr>
      <vt:lpstr>평가지표</vt:lpstr>
      <vt:lpstr>학습 데이터 분할</vt:lpstr>
      <vt:lpstr>Linear Regression (선형관계학습)</vt:lpstr>
      <vt:lpstr>Logistic Regression (확률관계 분류)</vt:lpstr>
      <vt:lpstr>Decision Tree(의사결정트리)</vt:lpstr>
      <vt:lpstr>Random Forest(여러 트리 평균)</vt:lpstr>
      <vt:lpstr>Gradient Boosting (오차보완)</vt:lpstr>
      <vt:lpstr>XGBoost (정규화 + 고속화)</vt:lpstr>
      <vt:lpstr>LightGBM (고속화)</vt:lpstr>
      <vt:lpstr>CatBoost (범주형 데이터 최적화)</vt:lpstr>
      <vt:lpstr>K-Means (군집화)</vt:lpstr>
      <vt:lpstr>PCA</vt:lpstr>
      <vt:lpstr>SHAP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/ ML / DS</dc:title>
  <dc:subject/>
  <dc:creator/>
  <cp:keywords/>
  <dc:description>generated using python-pptx</dc:description>
  <cp:lastModifiedBy>human</cp:lastModifiedBy>
  <cp:revision>56</cp:revision>
  <dcterms:created xsi:type="dcterms:W3CDTF">2013-01-27T09:14:16Z</dcterms:created>
  <dcterms:modified xsi:type="dcterms:W3CDTF">2026-03-30T00:00:43Z</dcterms:modified>
  <cp:category/>
</cp:coreProperties>
</file>