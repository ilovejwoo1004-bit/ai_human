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/>
              <a:t>말벌 </a:t>
            </a:r>
            <a:r>
              <a:rPr lang="en-US"/>
              <a:t>&amp; </a:t>
            </a:r>
            <a:r>
              <a:rPr lang="ko-KR"/>
              <a:t>꿀벌 중복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cat>
            <c:strRef>
              <c:f>Sheet1!$J$10:$J$11</c:f>
              <c:strCache>
                <c:ptCount val="2"/>
                <c:pt idx="0">
                  <c:v>Pass</c:v>
                </c:pt>
                <c:pt idx="1">
                  <c:v>Ng</c:v>
                </c:pt>
              </c:strCache>
            </c:strRef>
          </c:cat>
          <c:val>
            <c:numRef>
              <c:f>Sheet1!$K$10:$K$11</c:f>
              <c:numCache>
                <c:formatCode>General</c:formatCode>
                <c:ptCount val="2"/>
                <c:pt idx="0">
                  <c:v>28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63-4B5F-964C-E32B95FD73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1713627839"/>
        <c:axId val="1717377151"/>
      </c:barChart>
      <c:catAx>
        <c:axId val="1713627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17377151"/>
        <c:crosses val="autoZero"/>
        <c:auto val="1"/>
        <c:lblAlgn val="ctr"/>
        <c:lblOffset val="100"/>
        <c:noMultiLvlLbl val="0"/>
      </c:catAx>
      <c:valAx>
        <c:axId val="1717377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13627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스케일 변화</a:t>
            </a:r>
            <a:endParaRPr lang="ko-KR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cat>
            <c:strRef>
              <c:f>Sheet1!$J$13:$J$14</c:f>
              <c:strCache>
                <c:ptCount val="2"/>
                <c:pt idx="0">
                  <c:v>Pass</c:v>
                </c:pt>
                <c:pt idx="1">
                  <c:v>Ng</c:v>
                </c:pt>
              </c:strCache>
            </c:strRef>
          </c:cat>
          <c:val>
            <c:numRef>
              <c:f>Sheet1!$K$13:$K$14</c:f>
              <c:numCache>
                <c:formatCode>General</c:formatCode>
                <c:ptCount val="2"/>
                <c:pt idx="0">
                  <c:v>24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2E-4F66-9B39-06F25C9EC7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1717372991"/>
        <c:axId val="1717376735"/>
      </c:barChart>
      <c:catAx>
        <c:axId val="1717372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17376735"/>
        <c:crosses val="autoZero"/>
        <c:auto val="1"/>
        <c:lblAlgn val="ctr"/>
        <c:lblOffset val="100"/>
        <c:noMultiLvlLbl val="0"/>
      </c:catAx>
      <c:valAx>
        <c:axId val="17173767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17372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외부노이즈</a:t>
            </a:r>
            <a:endParaRPr lang="ko-KR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cat>
            <c:strRef>
              <c:f>Sheet1!$J$16:$J$17</c:f>
              <c:strCache>
                <c:ptCount val="2"/>
                <c:pt idx="0">
                  <c:v>Pass</c:v>
                </c:pt>
                <c:pt idx="1">
                  <c:v>Ng</c:v>
                </c:pt>
              </c:strCache>
            </c:strRef>
          </c:cat>
          <c:val>
            <c:numRef>
              <c:f>Sheet1!$K$16:$K$17</c:f>
              <c:numCache>
                <c:formatCode>General</c:formatCode>
                <c:ptCount val="2"/>
                <c:pt idx="0">
                  <c:v>25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63-4334-A013-94A0B92F4E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1794670639"/>
        <c:axId val="1794674799"/>
      </c:barChart>
      <c:catAx>
        <c:axId val="1794670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4674799"/>
        <c:crosses val="autoZero"/>
        <c:auto val="1"/>
        <c:lblAlgn val="ctr"/>
        <c:lblOffset val="100"/>
        <c:noMultiLvlLbl val="0"/>
      </c:catAx>
      <c:valAx>
        <c:axId val="1794674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4670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유사 사운드</a:t>
            </a:r>
            <a:endParaRPr lang="ko-KR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cat>
            <c:strRef>
              <c:f>Sheet1!$J$19:$J$20</c:f>
              <c:strCache>
                <c:ptCount val="2"/>
                <c:pt idx="0">
                  <c:v>Pass</c:v>
                </c:pt>
                <c:pt idx="1">
                  <c:v>Ng</c:v>
                </c:pt>
              </c:strCache>
            </c:strRef>
          </c:cat>
          <c:val>
            <c:numRef>
              <c:f>Sheet1!$K$19:$K$20</c:f>
              <c:numCache>
                <c:formatCode>General</c:formatCode>
                <c:ptCount val="2"/>
                <c:pt idx="0">
                  <c:v>22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E3-46A1-8D1B-E7B727584A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1830420991"/>
        <c:axId val="1830411007"/>
      </c:barChart>
      <c:catAx>
        <c:axId val="1830420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30411007"/>
        <c:crosses val="autoZero"/>
        <c:auto val="1"/>
        <c:lblAlgn val="ctr"/>
        <c:lblOffset val="100"/>
        <c:noMultiLvlLbl val="0"/>
      </c:catAx>
      <c:valAx>
        <c:axId val="18304110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30420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40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455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302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8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89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85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624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6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493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794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5F00F-0422-499B-858A-4AC8D13C3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00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17390950-2F17-BF33-84DF-6DC9E9C22C99}"/>
              </a:ext>
            </a:extLst>
          </p:cNvPr>
          <p:cNvSpPr/>
          <p:nvPr/>
        </p:nvSpPr>
        <p:spPr>
          <a:xfrm>
            <a:off x="253547" y="445168"/>
            <a:ext cx="11737162" cy="427186"/>
          </a:xfrm>
          <a:prstGeom prst="rect">
            <a:avLst/>
          </a:prstGeom>
          <a:solidFill>
            <a:srgbClr val="1F497D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75805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48585" algn="l"/>
              </a:tabLst>
              <a:defRPr/>
            </a:pPr>
            <a:r>
              <a:rPr lang="en-US" sz="2000" b="1" kern="0" noProof="0" dirty="0" smtClean="0">
                <a:solidFill>
                  <a:prstClr val="white"/>
                </a:solidFill>
                <a:latin typeface="맑은 고딕"/>
              </a:rPr>
              <a:t>Test Results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3A5B9FB-9DB4-F6AB-6AC1-7DC2CAAAFD56}"/>
              </a:ext>
            </a:extLst>
          </p:cNvPr>
          <p:cNvGrpSpPr/>
          <p:nvPr/>
        </p:nvGrpSpPr>
        <p:grpSpPr>
          <a:xfrm>
            <a:off x="483836" y="1402015"/>
            <a:ext cx="5041876" cy="345925"/>
            <a:chOff x="416496" y="2096130"/>
            <a:chExt cx="3854589" cy="345925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001CA05-371D-34CD-C7F1-4CD0C422454E}"/>
                </a:ext>
              </a:extLst>
            </p:cNvPr>
            <p:cNvSpPr/>
            <p:nvPr/>
          </p:nvSpPr>
          <p:spPr>
            <a:xfrm>
              <a:off x="416496" y="2125077"/>
              <a:ext cx="239546" cy="288032"/>
            </a:xfrm>
            <a:prstGeom prst="rect">
              <a:avLst/>
            </a:prstGeom>
            <a:solidFill>
              <a:srgbClr val="1F497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-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1</a:t>
              </a:r>
              <a:endParaRPr kumimoji="0" lang="ko-KR" altLang="en-US" sz="1600" b="1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F218A31-E8D2-23AB-CD55-E1E60ECAF69D}"/>
                </a:ext>
              </a:extLst>
            </p:cNvPr>
            <p:cNvSpPr/>
            <p:nvPr/>
          </p:nvSpPr>
          <p:spPr>
            <a:xfrm>
              <a:off x="739109" y="2096130"/>
              <a:ext cx="3531976" cy="34592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</a:rPr>
                <a:t>정적 소음 검증결과 </a:t>
              </a:r>
              <a:r>
                <a:rPr kumimoji="0" lang="en-US" altLang="ko-K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“</a:t>
              </a:r>
              <a:r>
                <a:rPr kumimoji="0" lang="en-US" altLang="ko-KR" sz="1800" b="1" i="0" u="sng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99%</a:t>
              </a:r>
              <a:r>
                <a:rPr kumimoji="0" lang="ko-KR" altLang="en-US" sz="1800" b="1" i="0" u="sng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 </a:t>
              </a:r>
              <a:r>
                <a:rPr kumimoji="0" lang="ko-KR" altLang="en-US" sz="18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적중</a:t>
              </a:r>
              <a:r>
                <a:rPr kumimoji="0" lang="en-US" altLang="ko-K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”</a:t>
              </a: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4892B4D-3DE8-CE4E-4D21-538F3DE0EC28}"/>
              </a:ext>
            </a:extLst>
          </p:cNvPr>
          <p:cNvSpPr/>
          <p:nvPr/>
        </p:nvSpPr>
        <p:spPr>
          <a:xfrm>
            <a:off x="536312" y="1763746"/>
            <a:ext cx="5985071" cy="381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948E3"/>
                </a:solidFill>
                <a:effectLst/>
                <a:uLnTx/>
                <a:uFillTx/>
                <a:sym typeface="Wingdings" panose="05000000000000000000" pitchFamily="2" charset="2"/>
              </a:rPr>
              <a:t>학습된 소음 유형과 비슷한 유형의 소음을 예측한 결과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2948E3"/>
              </a:solidFill>
              <a:effectLst/>
              <a:uLnTx/>
              <a:uFillTx/>
              <a:sym typeface="Wingdings" panose="05000000000000000000" pitchFamily="2" charset="2"/>
            </a:endParaRPr>
          </a:p>
        </p:txBody>
      </p:sp>
      <p:sp>
        <p:nvSpPr>
          <p:cNvPr id="45" name="Rectangle 248">
            <a:extLst>
              <a:ext uri="{FF2B5EF4-FFF2-40B4-BE49-F238E27FC236}">
                <a16:creationId xmlns:a16="http://schemas.microsoft.com/office/drawing/2014/main" id="{124BEE27-8D35-9452-5DF9-2B8F937EA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76" y="2216627"/>
            <a:ext cx="1127342" cy="1788827"/>
          </a:xfrm>
          <a:prstGeom prst="rect">
            <a:avLst/>
          </a:prstGeom>
          <a:solidFill>
            <a:srgbClr val="4F81BD">
              <a:lumMod val="75000"/>
            </a:srgbClr>
          </a:solidFill>
          <a:ln w="9525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marL="0" marR="0" lvl="0" indent="0" algn="ctr" defTabSz="839788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charset="0"/>
              </a:rPr>
              <a:t>모델 검증</a:t>
            </a:r>
          </a:p>
        </p:txBody>
      </p:sp>
      <p:sp>
        <p:nvSpPr>
          <p:cNvPr id="46" name="Rectangle 249">
            <a:extLst>
              <a:ext uri="{FF2B5EF4-FFF2-40B4-BE49-F238E27FC236}">
                <a16:creationId xmlns:a16="http://schemas.microsoft.com/office/drawing/2014/main" id="{5E134ABF-6C70-139F-28E8-0098D7F09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318" y="2216627"/>
            <a:ext cx="7462817" cy="1788827"/>
          </a:xfrm>
          <a:prstGeom prst="rect">
            <a:avLst/>
          </a:prstGeom>
          <a:solidFill>
            <a:sysClr val="window" lastClr="FFFFFF"/>
          </a:solidFill>
          <a:ln w="635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lIns="90000" tIns="46800" rIns="90000" bIns="46800" anchor="t"/>
          <a:lstStyle/>
          <a:p>
            <a:pPr marL="0" marR="0" lvl="1" indent="0" defTabSz="957263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F4AE2C84-F289-960D-064F-B1034E57A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156994"/>
              </p:ext>
            </p:extLst>
          </p:nvPr>
        </p:nvGraphicFramePr>
        <p:xfrm>
          <a:off x="2019363" y="2367356"/>
          <a:ext cx="7182725" cy="1458688"/>
        </p:xfrm>
        <a:graphic>
          <a:graphicData uri="http://schemas.openxmlformats.org/drawingml/2006/table">
            <a:tbl>
              <a:tblPr firstRow="1" bandRow="1"/>
              <a:tblGrid>
                <a:gridCol w="918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0810379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86301113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806323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84555208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048629800"/>
                    </a:ext>
                  </a:extLst>
                </a:gridCol>
                <a:gridCol w="864097">
                  <a:extLst>
                    <a:ext uri="{9D8B030D-6E8A-4147-A177-3AD203B41FA5}">
                      <a16:colId xmlns:a16="http://schemas.microsoft.com/office/drawing/2014/main" val="4032983469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F1-score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support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Macro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baseline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Weight 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88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말벌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0.99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0.99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0.99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699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0.99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0.99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0.99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0.99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0.99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0.99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694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0.99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0.99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</a:rPr>
                        <a:t>0.99</a:t>
                      </a:r>
                      <a:endParaRPr lang="ko-KR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7" name="그룹 56">
            <a:extLst>
              <a:ext uri="{FF2B5EF4-FFF2-40B4-BE49-F238E27FC236}">
                <a16:creationId xmlns:a16="http://schemas.microsoft.com/office/drawing/2014/main" id="{29D9424C-D98C-F774-A410-28CDE7357428}"/>
              </a:ext>
            </a:extLst>
          </p:cNvPr>
          <p:cNvGrpSpPr/>
          <p:nvPr/>
        </p:nvGrpSpPr>
        <p:grpSpPr>
          <a:xfrm>
            <a:off x="483836" y="4192279"/>
            <a:ext cx="5336105" cy="345925"/>
            <a:chOff x="416496" y="2096130"/>
            <a:chExt cx="3308814" cy="345925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0348F2B3-4D42-2DA2-73E4-9768EF6700DF}"/>
                </a:ext>
              </a:extLst>
            </p:cNvPr>
            <p:cNvSpPr/>
            <p:nvPr/>
          </p:nvSpPr>
          <p:spPr>
            <a:xfrm>
              <a:off x="416496" y="2125077"/>
              <a:ext cx="239546" cy="288032"/>
            </a:xfrm>
            <a:prstGeom prst="rect">
              <a:avLst/>
            </a:prstGeom>
            <a:solidFill>
              <a:srgbClr val="1F497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-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2</a:t>
              </a:r>
              <a:endParaRPr kumimoji="0" lang="ko-KR" altLang="en-US" sz="1600" b="1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2AF3EEC5-B531-EC62-481C-3A74F9DCBB8F}"/>
                </a:ext>
              </a:extLst>
            </p:cNvPr>
            <p:cNvSpPr/>
            <p:nvPr/>
          </p:nvSpPr>
          <p:spPr>
            <a:xfrm>
              <a:off x="739108" y="2096130"/>
              <a:ext cx="2986202" cy="34592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</a:rPr>
                <a:t>동적 소음</a:t>
              </a:r>
              <a:r>
                <a:rPr kumimoji="0" lang="en-US" altLang="ko-K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</a:rPr>
                <a:t> </a:t>
              </a:r>
              <a:r>
                <a: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</a:rPr>
                <a:t>검증 결과 </a:t>
              </a:r>
              <a:r>
                <a:rPr kumimoji="0" lang="en-US" altLang="ko-KR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“82</a:t>
              </a:r>
              <a:r>
                <a:rPr kumimoji="0" lang="en-US" altLang="ko-KR" sz="1800" b="1" i="0" u="sng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%</a:t>
              </a:r>
              <a:r>
                <a:rPr kumimoji="0" lang="ko-KR" altLang="en-US" sz="1800" b="1" i="0" u="sng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 </a:t>
              </a:r>
              <a:r>
                <a:rPr kumimoji="0" lang="ko-KR" altLang="en-US" sz="18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적중</a:t>
              </a:r>
              <a:r>
                <a:rPr kumimoji="0" lang="en-US" altLang="ko-K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”</a:t>
              </a: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0A7DDB3-880D-F0F1-FED3-2AAEB51B5CE4}"/>
              </a:ext>
            </a:extLst>
          </p:cNvPr>
          <p:cNvSpPr/>
          <p:nvPr/>
        </p:nvSpPr>
        <p:spPr>
          <a:xfrm>
            <a:off x="542508" y="4522631"/>
            <a:ext cx="8433050" cy="381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948E3"/>
                </a:solidFill>
                <a:effectLst/>
                <a:uLnTx/>
                <a:uFillTx/>
                <a:sym typeface="Wingdings" panose="05000000000000000000" pitchFamily="2" charset="2"/>
              </a:rPr>
              <a:t>학습된 소음 유형에서 변형된 동적 소음을 예측한 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2948E3"/>
                </a:solidFill>
                <a:effectLst/>
                <a:uLnTx/>
                <a:uFillTx/>
                <a:sym typeface="Wingdings" panose="05000000000000000000" pitchFamily="2" charset="2"/>
              </a:rPr>
              <a:t>결과  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Wingdings" panose="05000000000000000000" pitchFamily="2" charset="2"/>
              </a:rPr>
              <a:t>( ※ 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Wingdings" panose="05000000000000000000" pitchFamily="2" charset="2"/>
              </a:rPr>
              <a:t>케이스 별 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Wingdings" panose="05000000000000000000" pitchFamily="2" charset="2"/>
              </a:rPr>
              <a:t>30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Wingdings" panose="05000000000000000000" pitchFamily="2" charset="2"/>
              </a:rPr>
              <a:t>번씩 테스트 수행 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Wingdings" panose="05000000000000000000" pitchFamily="2" charset="2"/>
              </a:rPr>
              <a:t>)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sym typeface="Wingdings" panose="05000000000000000000" pitchFamily="2" charset="2"/>
            </a:endParaRPr>
          </a:p>
        </p:txBody>
      </p:sp>
      <p:graphicFrame>
        <p:nvGraphicFramePr>
          <p:cNvPr id="69" name="차트 6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5883860"/>
              </p:ext>
            </p:extLst>
          </p:nvPr>
        </p:nvGraphicFramePr>
        <p:xfrm>
          <a:off x="536312" y="4960611"/>
          <a:ext cx="2602831" cy="1877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0" name="직사각형 69"/>
          <p:cNvSpPr/>
          <p:nvPr/>
        </p:nvSpPr>
        <p:spPr>
          <a:xfrm>
            <a:off x="483836" y="5086595"/>
            <a:ext cx="2641767" cy="168049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3191619" y="5086595"/>
            <a:ext cx="2641767" cy="168049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5885862" y="5086595"/>
            <a:ext cx="2641767" cy="168049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>
          <a:xfrm>
            <a:off x="8580105" y="5086595"/>
            <a:ext cx="2641767" cy="168049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4" name="차트 7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1430334"/>
              </p:ext>
            </p:extLst>
          </p:nvPr>
        </p:nvGraphicFramePr>
        <p:xfrm>
          <a:off x="3284913" y="4960611"/>
          <a:ext cx="2428099" cy="1865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5" name="차트 7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2556839"/>
              </p:ext>
            </p:extLst>
          </p:nvPr>
        </p:nvGraphicFramePr>
        <p:xfrm>
          <a:off x="5979156" y="4960611"/>
          <a:ext cx="2548473" cy="1909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6" name="차트 7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2333898"/>
              </p:ext>
            </p:extLst>
          </p:nvPr>
        </p:nvGraphicFramePr>
        <p:xfrm>
          <a:off x="8710613" y="4960612"/>
          <a:ext cx="2511259" cy="1929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135481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17390950-2F17-BF33-84DF-6DC9E9C22C99}"/>
              </a:ext>
            </a:extLst>
          </p:cNvPr>
          <p:cNvSpPr/>
          <p:nvPr/>
        </p:nvSpPr>
        <p:spPr>
          <a:xfrm>
            <a:off x="253547" y="276724"/>
            <a:ext cx="11693813" cy="427186"/>
          </a:xfrm>
          <a:prstGeom prst="rect">
            <a:avLst/>
          </a:prstGeom>
          <a:solidFill>
            <a:srgbClr val="1F497D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75805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48585" algn="l"/>
              </a:tabLst>
              <a:defRPr/>
            </a:pPr>
            <a:r>
              <a:rPr lang="en-US" sz="2000" b="1" kern="0" noProof="0" dirty="0" smtClean="0">
                <a:solidFill>
                  <a:prstClr val="white"/>
                </a:solidFill>
                <a:latin typeface="맑은 고딕"/>
              </a:rPr>
              <a:t>Dynamic Test Results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5F0D349C-7DF9-9C7B-4DF0-40D9A7900C33}"/>
              </a:ext>
            </a:extLst>
          </p:cNvPr>
          <p:cNvSpPr/>
          <p:nvPr/>
        </p:nvSpPr>
        <p:spPr>
          <a:xfrm>
            <a:off x="993861" y="862146"/>
            <a:ext cx="2689266" cy="33238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75805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48585" algn="l"/>
              </a:tabLst>
              <a:defRPr/>
            </a:pPr>
            <a:r>
              <a:rPr lang="ko-KR" altLang="en-US" sz="1295" b="1" kern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말벌 </a:t>
            </a:r>
            <a:r>
              <a:rPr lang="en-US" altLang="ko-KR" sz="1295" b="1" kern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&amp; </a:t>
            </a:r>
            <a:r>
              <a:rPr lang="ko-KR" altLang="en-US" sz="1295" b="1" kern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꿀벌 중복</a:t>
            </a:r>
            <a:endParaRPr kumimoji="0" lang="en-US" sz="1295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44D699F-4BBC-94F7-53E8-6448DAE2B60B}"/>
              </a:ext>
            </a:extLst>
          </p:cNvPr>
          <p:cNvSpPr/>
          <p:nvPr/>
        </p:nvSpPr>
        <p:spPr>
          <a:xfrm>
            <a:off x="1179384" y="897789"/>
            <a:ext cx="228358" cy="23317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2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C7E5DC-96D1-36A7-BFC4-BE35ACE3128C}"/>
              </a:ext>
            </a:extLst>
          </p:cNvPr>
          <p:cNvSpPr txBox="1"/>
          <p:nvPr/>
        </p:nvSpPr>
        <p:spPr>
          <a:xfrm>
            <a:off x="1083734" y="898025"/>
            <a:ext cx="419657" cy="241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575805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48585" algn="l"/>
              </a:tabLst>
              <a:defRPr/>
            </a:pPr>
            <a:r>
              <a:rPr kumimoji="0" lang="en-US" altLang="ko-KR" sz="108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FA95CFEE-389F-47B5-A963-CA29F6A8DB70}"/>
              </a:ext>
            </a:extLst>
          </p:cNvPr>
          <p:cNvSpPr/>
          <p:nvPr/>
        </p:nvSpPr>
        <p:spPr>
          <a:xfrm>
            <a:off x="3782729" y="862146"/>
            <a:ext cx="2666943" cy="33238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75805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48585" algn="l"/>
              </a:tabLst>
              <a:defRPr/>
            </a:pPr>
            <a:r>
              <a:rPr kumimoji="0" lang="ko-KR" altLang="en-US" sz="1295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스케일 </a:t>
            </a:r>
            <a:r>
              <a:rPr lang="ko-KR" altLang="en-US" sz="1295" b="1" kern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변화</a:t>
            </a:r>
            <a:r>
              <a:rPr kumimoji="0" lang="en-US" altLang="ko-KR" sz="1295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95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장수말벌</a:t>
            </a:r>
            <a:r>
              <a:rPr kumimoji="0" lang="en-US" altLang="ko-KR" sz="1295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endParaRPr kumimoji="0" lang="en-US" sz="1295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6C2ECFD-6CAD-43DB-BF8F-F2A41F38FD79}"/>
              </a:ext>
            </a:extLst>
          </p:cNvPr>
          <p:cNvGrpSpPr/>
          <p:nvPr/>
        </p:nvGrpSpPr>
        <p:grpSpPr>
          <a:xfrm>
            <a:off x="3842523" y="909821"/>
            <a:ext cx="419657" cy="242162"/>
            <a:chOff x="3278350" y="2984278"/>
            <a:chExt cx="396947" cy="224330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43FF198-462A-4535-BE2C-B4D707B73D4A}"/>
                </a:ext>
              </a:extLst>
            </p:cNvPr>
            <p:cNvSpPr/>
            <p:nvPr/>
          </p:nvSpPr>
          <p:spPr>
            <a:xfrm>
              <a:off x="3368823" y="2984278"/>
              <a:ext cx="216000" cy="216000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" lastClr="FFFFFF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72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091311D-8714-4CEB-95D9-3F9EE3D253AF}"/>
                </a:ext>
              </a:extLst>
            </p:cNvPr>
            <p:cNvSpPr txBox="1"/>
            <p:nvPr/>
          </p:nvSpPr>
          <p:spPr>
            <a:xfrm>
              <a:off x="3278350" y="2984497"/>
              <a:ext cx="396947" cy="2241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575805" eaLnBrk="0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648585" algn="l"/>
                </a:tabLst>
                <a:defRPr/>
              </a:pPr>
              <a:r>
                <a:rPr kumimoji="0" lang="en-US" altLang="ko-KR" sz="108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2</a:t>
              </a:r>
            </a:p>
          </p:txBody>
        </p:sp>
      </p:grpSp>
      <p:sp>
        <p:nvSpPr>
          <p:cNvPr id="24" name="Rectangle 7">
            <a:extLst>
              <a:ext uri="{FF2B5EF4-FFF2-40B4-BE49-F238E27FC236}">
                <a16:creationId xmlns:a16="http://schemas.microsoft.com/office/drawing/2014/main" id="{F211B706-0048-4954-830E-FA3BF1A8DD02}"/>
              </a:ext>
            </a:extLst>
          </p:cNvPr>
          <p:cNvSpPr/>
          <p:nvPr/>
        </p:nvSpPr>
        <p:spPr>
          <a:xfrm>
            <a:off x="6548890" y="862146"/>
            <a:ext cx="2641768" cy="33238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5805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48585" algn="l"/>
              </a:tabLst>
              <a:defRPr/>
            </a:pPr>
            <a:r>
              <a:rPr kumimoji="0" lang="en-US" sz="1295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        </a:t>
            </a:r>
            <a:r>
              <a:rPr kumimoji="0" lang="ko-KR" altLang="en-US" sz="1295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외부노이즈</a:t>
            </a:r>
            <a:r>
              <a:rPr kumimoji="0" lang="ko-KR" altLang="en-US" sz="1295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lang="en-US" altLang="ko-KR" sz="1295" b="1" kern="0" dirty="0" smtClean="0">
                <a:solidFill>
                  <a:prstClr val="black"/>
                </a:solidFill>
                <a:latin typeface="맑은 고딕"/>
              </a:rPr>
              <a:t>(</a:t>
            </a:r>
            <a:r>
              <a:rPr lang="ko-KR" altLang="en-US" sz="1295" b="1" kern="0" dirty="0" smtClean="0">
                <a:solidFill>
                  <a:prstClr val="black"/>
                </a:solidFill>
                <a:latin typeface="맑은 고딕"/>
              </a:rPr>
              <a:t>말벌</a:t>
            </a:r>
            <a:r>
              <a:rPr lang="en-US" altLang="ko-KR" sz="1295" b="1" kern="0" dirty="0" smtClean="0">
                <a:solidFill>
                  <a:prstClr val="black"/>
                </a:solidFill>
                <a:latin typeface="맑은 고딕"/>
              </a:rPr>
              <a:t>+</a:t>
            </a:r>
            <a:r>
              <a:rPr lang="ko-KR" altLang="en-US" sz="1295" b="1" kern="0" dirty="0" smtClean="0">
                <a:solidFill>
                  <a:prstClr val="black"/>
                </a:solidFill>
                <a:latin typeface="맑은 고딕"/>
              </a:rPr>
              <a:t>음악</a:t>
            </a:r>
            <a:r>
              <a:rPr lang="en-US" altLang="ko-KR" sz="1295" b="1" kern="0" dirty="0" smtClean="0">
                <a:solidFill>
                  <a:prstClr val="black"/>
                </a:solidFill>
                <a:latin typeface="맑은 고딕"/>
              </a:rPr>
              <a:t>)</a:t>
            </a:r>
            <a:endParaRPr kumimoji="0" lang="en-US" sz="1295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0609D06-C409-420E-9027-7EA0DDEF271F}"/>
              </a:ext>
            </a:extLst>
          </p:cNvPr>
          <p:cNvGrpSpPr/>
          <p:nvPr/>
        </p:nvGrpSpPr>
        <p:grpSpPr>
          <a:xfrm>
            <a:off x="6571233" y="909821"/>
            <a:ext cx="419657" cy="242162"/>
            <a:chOff x="3278349" y="2984278"/>
            <a:chExt cx="396947" cy="224330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BA367CD6-CFAD-4548-AEF1-EFB3F06C8B18}"/>
                </a:ext>
              </a:extLst>
            </p:cNvPr>
            <p:cNvSpPr/>
            <p:nvPr/>
          </p:nvSpPr>
          <p:spPr>
            <a:xfrm>
              <a:off x="3368823" y="2984278"/>
              <a:ext cx="216000" cy="216000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" lastClr="FFFFFF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72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2AE8138-091B-4D32-A7E3-64ABF9A2C505}"/>
                </a:ext>
              </a:extLst>
            </p:cNvPr>
            <p:cNvSpPr txBox="1"/>
            <p:nvPr/>
          </p:nvSpPr>
          <p:spPr>
            <a:xfrm>
              <a:off x="3278349" y="2984497"/>
              <a:ext cx="396947" cy="2241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575805" eaLnBrk="0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648585" algn="l"/>
                </a:tabLst>
                <a:defRPr/>
              </a:pPr>
              <a:r>
                <a:rPr kumimoji="0" lang="en-US" altLang="ko-KR" sz="108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3</a:t>
              </a:r>
            </a:p>
          </p:txBody>
        </p:sp>
      </p:grpSp>
      <p:sp>
        <p:nvSpPr>
          <p:cNvPr id="28" name="Rectangle 7">
            <a:extLst>
              <a:ext uri="{FF2B5EF4-FFF2-40B4-BE49-F238E27FC236}">
                <a16:creationId xmlns:a16="http://schemas.microsoft.com/office/drawing/2014/main" id="{F211B706-0048-4954-830E-FA3BF1A8DD02}"/>
              </a:ext>
            </a:extLst>
          </p:cNvPr>
          <p:cNvSpPr/>
          <p:nvPr/>
        </p:nvSpPr>
        <p:spPr>
          <a:xfrm>
            <a:off x="9305593" y="853519"/>
            <a:ext cx="2641767" cy="33238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5805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48585" algn="l"/>
              </a:tabLst>
              <a:defRPr/>
            </a:pPr>
            <a:r>
              <a:rPr kumimoji="0" lang="en-US" sz="1295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        </a:t>
            </a:r>
            <a:r>
              <a:rPr kumimoji="0" lang="ko-KR" altLang="en-US" sz="1295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유사 사운드</a:t>
            </a:r>
            <a:r>
              <a:rPr kumimoji="0" lang="en-US" altLang="ko-KR" sz="1295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(</a:t>
            </a:r>
            <a:r>
              <a:rPr kumimoji="0" lang="ko-KR" altLang="en-US" sz="1295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청소기</a:t>
            </a:r>
            <a:r>
              <a:rPr kumimoji="0" lang="en-US" altLang="ko-KR" sz="1295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)</a:t>
            </a:r>
            <a:endParaRPr kumimoji="0" lang="en-US" sz="1295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0609D06-C409-420E-9027-7EA0DDEF271F}"/>
              </a:ext>
            </a:extLst>
          </p:cNvPr>
          <p:cNvGrpSpPr/>
          <p:nvPr/>
        </p:nvGrpSpPr>
        <p:grpSpPr>
          <a:xfrm>
            <a:off x="9327937" y="901194"/>
            <a:ext cx="419657" cy="242162"/>
            <a:chOff x="3278349" y="2984278"/>
            <a:chExt cx="396947" cy="224330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A367CD6-CFAD-4548-AEF1-EFB3F06C8B18}"/>
                </a:ext>
              </a:extLst>
            </p:cNvPr>
            <p:cNvSpPr/>
            <p:nvPr/>
          </p:nvSpPr>
          <p:spPr>
            <a:xfrm>
              <a:off x="3368823" y="2984278"/>
              <a:ext cx="216000" cy="216000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" lastClr="FFFFFF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72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AE8138-091B-4D32-A7E3-64ABF9A2C505}"/>
                </a:ext>
              </a:extLst>
            </p:cNvPr>
            <p:cNvSpPr txBox="1"/>
            <p:nvPr/>
          </p:nvSpPr>
          <p:spPr>
            <a:xfrm>
              <a:off x="3278349" y="2984497"/>
              <a:ext cx="396947" cy="2241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575805" eaLnBrk="0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648585" algn="l"/>
                </a:tabLst>
                <a:defRPr/>
              </a:pPr>
              <a:r>
                <a:rPr kumimoji="0" lang="en-US" altLang="ko-KR" sz="108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4</a:t>
              </a:r>
              <a:endParaRPr kumimoji="0" lang="en-US" altLang="ko-KR" sz="108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993859" y="1194526"/>
            <a:ext cx="2689267" cy="313684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3790102" y="1194526"/>
            <a:ext cx="2659570" cy="314699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539683" y="1194526"/>
            <a:ext cx="2650974" cy="313684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819" y="1232325"/>
            <a:ext cx="2456014" cy="3074979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9296386" y="1200112"/>
            <a:ext cx="2650974" cy="313171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253548" y="862146"/>
            <a:ext cx="606966" cy="3469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테스트 사운드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46711" y="4489604"/>
            <a:ext cx="606966" cy="21999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AI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결과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62" y="1242201"/>
            <a:ext cx="2442023" cy="3065103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6548889" y="4489604"/>
            <a:ext cx="2641767" cy="2112322"/>
            <a:chOff x="6548889" y="4489604"/>
            <a:chExt cx="2641767" cy="2112322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42819" y="4663747"/>
              <a:ext cx="2323720" cy="1833305"/>
            </a:xfrm>
            <a:prstGeom prst="rect">
              <a:avLst/>
            </a:prstGeom>
          </p:spPr>
        </p:pic>
        <p:sp>
          <p:nvSpPr>
            <p:cNvPr id="35" name="직사각형 34"/>
            <p:cNvSpPr/>
            <p:nvPr/>
          </p:nvSpPr>
          <p:spPr>
            <a:xfrm>
              <a:off x="6548889" y="4489604"/>
              <a:ext cx="2641767" cy="211232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062536" y="6265776"/>
              <a:ext cx="64970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solidFill>
                    <a:srgbClr val="0070C0"/>
                  </a:solidFill>
                </a:rPr>
                <a:t>말벌</a:t>
              </a:r>
              <a:endParaRPr lang="ko-KR" altLang="en-US" sz="1400" b="1" dirty="0">
                <a:solidFill>
                  <a:srgbClr val="0070C0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074695" y="6276221"/>
              <a:ext cx="64970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smtClean="0"/>
                <a:t>정상</a:t>
              </a:r>
              <a:endParaRPr lang="ko-KR" altLang="en-US" sz="14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942762" y="5237988"/>
              <a:ext cx="8537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rgbClr val="FFFF00"/>
                  </a:solidFill>
                </a:rPr>
                <a:t>95%</a:t>
              </a:r>
              <a:endParaRPr lang="ko-KR" altLang="en-US" sz="1400" b="1" dirty="0">
                <a:solidFill>
                  <a:srgbClr val="FFFF00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852805" y="5237987"/>
              <a:ext cx="8537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rgbClr val="FF0000"/>
                  </a:solidFill>
                </a:rPr>
                <a:t>5%</a:t>
              </a:r>
              <a:endParaRPr lang="ko-KR" altLang="en-US" sz="1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993859" y="4489604"/>
            <a:ext cx="2641767" cy="2113909"/>
            <a:chOff x="993859" y="4489604"/>
            <a:chExt cx="2641767" cy="2113909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36416" y="4672928"/>
              <a:ext cx="2347784" cy="1833305"/>
            </a:xfrm>
            <a:prstGeom prst="rect">
              <a:avLst/>
            </a:prstGeom>
          </p:spPr>
        </p:pic>
        <p:sp>
          <p:nvSpPr>
            <p:cNvPr id="41" name="직사각형 40"/>
            <p:cNvSpPr/>
            <p:nvPr/>
          </p:nvSpPr>
          <p:spPr>
            <a:xfrm>
              <a:off x="993859" y="4489604"/>
              <a:ext cx="2641767" cy="211232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546631" y="6295736"/>
              <a:ext cx="64970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solidFill>
                    <a:srgbClr val="0070C0"/>
                  </a:solidFill>
                </a:rPr>
                <a:t>말벌</a:t>
              </a:r>
              <a:endParaRPr lang="ko-KR" altLang="en-US" sz="1400" b="1" dirty="0">
                <a:solidFill>
                  <a:srgbClr val="0070C0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558790" y="6294149"/>
              <a:ext cx="64970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smtClean="0"/>
                <a:t>정상</a:t>
              </a:r>
              <a:endParaRPr lang="ko-KR" altLang="en-US" sz="14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26857" y="5267948"/>
              <a:ext cx="8537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rgbClr val="FFFF00"/>
                  </a:solidFill>
                </a:rPr>
                <a:t>99.8%</a:t>
              </a:r>
              <a:endParaRPr lang="ko-KR" altLang="en-US" sz="1400" b="1" dirty="0">
                <a:solidFill>
                  <a:srgbClr val="FFFF00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72996" y="5267947"/>
              <a:ext cx="8537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rgbClr val="FF0000"/>
                  </a:solidFill>
                </a:rPr>
                <a:t>0.2%</a:t>
              </a:r>
              <a:endParaRPr lang="ko-KR" altLang="en-US" sz="14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7342" y="1242481"/>
            <a:ext cx="2454159" cy="3099043"/>
          </a:xfrm>
          <a:prstGeom prst="rect">
            <a:avLst/>
          </a:prstGeom>
        </p:spPr>
      </p:pic>
      <p:grpSp>
        <p:nvGrpSpPr>
          <p:cNvPr id="57" name="그룹 56"/>
          <p:cNvGrpSpPr/>
          <p:nvPr/>
        </p:nvGrpSpPr>
        <p:grpSpPr>
          <a:xfrm>
            <a:off x="3790102" y="4501636"/>
            <a:ext cx="2641767" cy="2112322"/>
            <a:chOff x="3790102" y="4501636"/>
            <a:chExt cx="2641767" cy="2112322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26067" y="4684394"/>
              <a:ext cx="2323721" cy="1821839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4352729" y="6295736"/>
              <a:ext cx="64970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solidFill>
                    <a:srgbClr val="0070C0"/>
                  </a:solidFill>
                </a:rPr>
                <a:t>말벌</a:t>
              </a:r>
              <a:endParaRPr lang="ko-KR" altLang="en-US" sz="1400" b="1" dirty="0">
                <a:solidFill>
                  <a:srgbClr val="0070C0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364888" y="6306181"/>
              <a:ext cx="64970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smtClean="0"/>
                <a:t>정상</a:t>
              </a:r>
              <a:endParaRPr lang="ko-KR" altLang="en-US" sz="14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244987" y="5292012"/>
              <a:ext cx="8537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rgbClr val="FFFF00"/>
                  </a:solidFill>
                </a:rPr>
                <a:t>74%</a:t>
              </a:r>
              <a:endParaRPr lang="ko-KR" altLang="en-US" sz="1400" b="1" dirty="0">
                <a:solidFill>
                  <a:srgbClr val="FFFF00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239254" y="5279979"/>
              <a:ext cx="8537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rgbClr val="FF0000"/>
                  </a:solidFill>
                </a:rPr>
                <a:t>26%</a:t>
              </a:r>
              <a:endParaRPr lang="ko-KR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3790102" y="4501636"/>
              <a:ext cx="2641767" cy="211232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9288" y="1237069"/>
            <a:ext cx="2453683" cy="3070235"/>
          </a:xfrm>
          <a:prstGeom prst="rect">
            <a:avLst/>
          </a:prstGeom>
        </p:spPr>
      </p:pic>
      <p:grpSp>
        <p:nvGrpSpPr>
          <p:cNvPr id="56" name="그룹 55"/>
          <p:cNvGrpSpPr/>
          <p:nvPr/>
        </p:nvGrpSpPr>
        <p:grpSpPr>
          <a:xfrm>
            <a:off x="9300989" y="4489603"/>
            <a:ext cx="2641767" cy="2114051"/>
            <a:chOff x="9300989" y="4489603"/>
            <a:chExt cx="2641767" cy="2114051"/>
          </a:xfrm>
        </p:grpSpPr>
        <p:sp>
          <p:nvSpPr>
            <p:cNvPr id="51" name="직사각형 50"/>
            <p:cNvSpPr/>
            <p:nvPr/>
          </p:nvSpPr>
          <p:spPr>
            <a:xfrm>
              <a:off x="9300989" y="4489603"/>
              <a:ext cx="2641767" cy="211232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455823" y="4684394"/>
              <a:ext cx="2296118" cy="1821839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10900125" y="6285432"/>
              <a:ext cx="64970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smtClean="0"/>
                <a:t>말벌</a:t>
              </a:r>
              <a:endParaRPr lang="ko-KR" altLang="en-US" sz="14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878951" y="6295877"/>
              <a:ext cx="64970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solidFill>
                    <a:srgbClr val="0070C0"/>
                  </a:solidFill>
                </a:rPr>
                <a:t>정상</a:t>
              </a:r>
              <a:endParaRPr lang="ko-KR" altLang="en-US" sz="1400" b="1" dirty="0">
                <a:solidFill>
                  <a:srgbClr val="0070C0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733606" y="5257644"/>
              <a:ext cx="8537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rgbClr val="FFFF00"/>
                  </a:solidFill>
                </a:rPr>
                <a:t>87%</a:t>
              </a:r>
              <a:endParaRPr lang="ko-KR" altLang="en-US" sz="1400" b="1" dirty="0">
                <a:solidFill>
                  <a:srgbClr val="FFFF00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643649" y="5257643"/>
              <a:ext cx="8537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rgbClr val="FF0000"/>
                  </a:solidFill>
                </a:rPr>
                <a:t> 13%</a:t>
              </a:r>
              <a:endParaRPr lang="ko-KR" altLang="en-US" sz="1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1845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140</Words>
  <Application>Microsoft Office PowerPoint</Application>
  <PresentationFormat>와이드스크린</PresentationFormat>
  <Paragraphs>63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human</dc:creator>
  <cp:lastModifiedBy>human</cp:lastModifiedBy>
  <cp:revision>32</cp:revision>
  <dcterms:created xsi:type="dcterms:W3CDTF">2026-04-23T06:15:41Z</dcterms:created>
  <dcterms:modified xsi:type="dcterms:W3CDTF">2026-04-23T07:16:52Z</dcterms:modified>
</cp:coreProperties>
</file>