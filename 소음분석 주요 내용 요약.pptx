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7"/>
  </p:notesMasterIdLst>
  <p:handoutMasterIdLst>
    <p:handoutMasterId r:id="rId8"/>
  </p:handoutMasterIdLst>
  <p:sldIdLst>
    <p:sldId id="1126" r:id="rId2"/>
    <p:sldId id="1129" r:id="rId3"/>
    <p:sldId id="1130" r:id="rId4"/>
    <p:sldId id="1134" r:id="rId5"/>
    <p:sldId id="1135" r:id="rId6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orient="horz" pos="391">
          <p15:clr>
            <a:srgbClr val="A4A3A4"/>
          </p15:clr>
        </p15:guide>
        <p15:guide id="3" orient="horz" pos="1661">
          <p15:clr>
            <a:srgbClr val="A4A3A4"/>
          </p15:clr>
        </p15:guide>
        <p15:guide id="4" orient="horz" pos="3158">
          <p15:clr>
            <a:srgbClr val="A4A3A4"/>
          </p15:clr>
        </p15:guide>
        <p15:guide id="5" orient="horz" pos="709">
          <p15:clr>
            <a:srgbClr val="A4A3A4"/>
          </p15:clr>
        </p15:guide>
        <p15:guide id="6" pos="217" userDrawn="1">
          <p15:clr>
            <a:srgbClr val="A4A3A4"/>
          </p15:clr>
        </p15:guide>
        <p15:guide id="8" pos="2984">
          <p15:clr>
            <a:srgbClr val="A4A3A4"/>
          </p15:clr>
        </p15:guide>
        <p15:guide id="9" pos="3075">
          <p15:clr>
            <a:srgbClr val="A4A3A4"/>
          </p15:clr>
        </p15:guide>
        <p15:guide id="10" pos="602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C6D9F1"/>
    <a:srgbClr val="2948E3"/>
    <a:srgbClr val="FF0000"/>
    <a:srgbClr val="DBEEF4"/>
    <a:srgbClr val="FFFF00"/>
    <a:srgbClr val="A6A6A6"/>
    <a:srgbClr val="DCE6F2"/>
    <a:srgbClr val="3A7CCB"/>
    <a:srgbClr val="115F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545" autoAdjust="0"/>
    <p:restoredTop sz="95184" autoAdjust="0"/>
  </p:normalViewPr>
  <p:slideViewPr>
    <p:cSldViewPr>
      <p:cViewPr varScale="1">
        <p:scale>
          <a:sx n="108" d="100"/>
          <a:sy n="108" d="100"/>
        </p:scale>
        <p:origin x="240" y="96"/>
      </p:cViewPr>
      <p:guideLst>
        <p:guide orient="horz" pos="3838"/>
        <p:guide orient="horz" pos="391"/>
        <p:guide orient="horz" pos="1661"/>
        <p:guide orient="horz" pos="3158"/>
        <p:guide orient="horz" pos="709"/>
        <p:guide pos="217"/>
        <p:guide pos="2984"/>
        <p:guide pos="3075"/>
        <p:guide pos="602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64" d="100"/>
          <a:sy n="64" d="100"/>
        </p:scale>
        <p:origin x="3192" y="8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7A86675-2659-0002-E916-11C5B6A1E4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2FD821-AA04-BF1D-D279-CDE09B7C5C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30D59-D4A6-436B-95F8-DF25C7B1D418}" type="datetimeFigureOut">
              <a:rPr lang="ko-KR" altLang="en-US" smtClean="0"/>
              <a:t>2026-04-10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DD5DD1-791F-D28F-27CD-A66A93FE35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53581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AE3F4B-5518-4BA6-B131-D4A91D778DE5}" type="datetimeFigureOut">
              <a:rPr lang="ko-KR" altLang="en-US" smtClean="0"/>
              <a:pPr/>
              <a:t>2026-04-10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8445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순서도: 수동 입력 9"/>
          <p:cNvSpPr/>
          <p:nvPr userDrawn="1"/>
        </p:nvSpPr>
        <p:spPr>
          <a:xfrm>
            <a:off x="5" y="5421861"/>
            <a:ext cx="9922451" cy="1420944"/>
          </a:xfrm>
          <a:prstGeom prst="flowChartManualInpu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85247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 flipV="1">
            <a:off x="0" y="0"/>
            <a:ext cx="9906000" cy="53887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881120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/>
          <p:cNvSpPr>
            <a:spLocks noEditPoints="1"/>
          </p:cNvSpPr>
          <p:nvPr userDrawn="1"/>
        </p:nvSpPr>
        <p:spPr bwMode="auto">
          <a:xfrm>
            <a:off x="7649348" y="3861048"/>
            <a:ext cx="2330100" cy="2996952"/>
          </a:xfrm>
          <a:custGeom>
            <a:avLst/>
            <a:gdLst>
              <a:gd name="T0" fmla="*/ 597 w 762"/>
              <a:gd name="T1" fmla="*/ 859 h 978"/>
              <a:gd name="T2" fmla="*/ 648 w 762"/>
              <a:gd name="T3" fmla="*/ 788 h 978"/>
              <a:gd name="T4" fmla="*/ 599 w 762"/>
              <a:gd name="T5" fmla="*/ 788 h 978"/>
              <a:gd name="T6" fmla="*/ 607 w 762"/>
              <a:gd name="T7" fmla="*/ 831 h 978"/>
              <a:gd name="T8" fmla="*/ 672 w 762"/>
              <a:gd name="T9" fmla="*/ 716 h 978"/>
              <a:gd name="T10" fmla="*/ 509 w 762"/>
              <a:gd name="T11" fmla="*/ 627 h 978"/>
              <a:gd name="T12" fmla="*/ 431 w 762"/>
              <a:gd name="T13" fmla="*/ 720 h 978"/>
              <a:gd name="T14" fmla="*/ 519 w 762"/>
              <a:gd name="T15" fmla="*/ 793 h 978"/>
              <a:gd name="T16" fmla="*/ 488 w 762"/>
              <a:gd name="T17" fmla="*/ 781 h 978"/>
              <a:gd name="T18" fmla="*/ 478 w 762"/>
              <a:gd name="T19" fmla="*/ 812 h 978"/>
              <a:gd name="T20" fmla="*/ 538 w 762"/>
              <a:gd name="T21" fmla="*/ 933 h 978"/>
              <a:gd name="T22" fmla="*/ 476 w 762"/>
              <a:gd name="T23" fmla="*/ 589 h 978"/>
              <a:gd name="T24" fmla="*/ 551 w 762"/>
              <a:gd name="T25" fmla="*/ 523 h 978"/>
              <a:gd name="T26" fmla="*/ 457 w 762"/>
              <a:gd name="T27" fmla="*/ 514 h 978"/>
              <a:gd name="T28" fmla="*/ 440 w 762"/>
              <a:gd name="T29" fmla="*/ 465 h 978"/>
              <a:gd name="T30" fmla="*/ 530 w 762"/>
              <a:gd name="T31" fmla="*/ 144 h 978"/>
              <a:gd name="T32" fmla="*/ 187 w 762"/>
              <a:gd name="T33" fmla="*/ 148 h 978"/>
              <a:gd name="T34" fmla="*/ 297 w 762"/>
              <a:gd name="T35" fmla="*/ 637 h 978"/>
              <a:gd name="T36" fmla="*/ 241 w 762"/>
              <a:gd name="T37" fmla="*/ 532 h 978"/>
              <a:gd name="T38" fmla="*/ 100 w 762"/>
              <a:gd name="T39" fmla="*/ 495 h 978"/>
              <a:gd name="T40" fmla="*/ 92 w 762"/>
              <a:gd name="T41" fmla="*/ 642 h 978"/>
              <a:gd name="T42" fmla="*/ 236 w 762"/>
              <a:gd name="T43" fmla="*/ 934 h 978"/>
              <a:gd name="T44" fmla="*/ 180 w 762"/>
              <a:gd name="T45" fmla="*/ 920 h 978"/>
              <a:gd name="T46" fmla="*/ 197 w 762"/>
              <a:gd name="T47" fmla="*/ 903 h 978"/>
              <a:gd name="T48" fmla="*/ 185 w 762"/>
              <a:gd name="T49" fmla="*/ 898 h 978"/>
              <a:gd name="T50" fmla="*/ 181 w 762"/>
              <a:gd name="T51" fmla="*/ 911 h 978"/>
              <a:gd name="T52" fmla="*/ 188 w 762"/>
              <a:gd name="T53" fmla="*/ 892 h 978"/>
              <a:gd name="T54" fmla="*/ 178 w 762"/>
              <a:gd name="T55" fmla="*/ 867 h 978"/>
              <a:gd name="T56" fmla="*/ 143 w 762"/>
              <a:gd name="T57" fmla="*/ 878 h 978"/>
              <a:gd name="T58" fmla="*/ 163 w 762"/>
              <a:gd name="T59" fmla="*/ 907 h 978"/>
              <a:gd name="T60" fmla="*/ 158 w 762"/>
              <a:gd name="T61" fmla="*/ 898 h 978"/>
              <a:gd name="T62" fmla="*/ 151 w 762"/>
              <a:gd name="T63" fmla="*/ 904 h 978"/>
              <a:gd name="T64" fmla="*/ 169 w 762"/>
              <a:gd name="T65" fmla="*/ 911 h 978"/>
              <a:gd name="T66" fmla="*/ 148 w 762"/>
              <a:gd name="T67" fmla="*/ 853 h 978"/>
              <a:gd name="T68" fmla="*/ 172 w 762"/>
              <a:gd name="T69" fmla="*/ 837 h 978"/>
              <a:gd name="T70" fmla="*/ 151 w 762"/>
              <a:gd name="T71" fmla="*/ 832 h 978"/>
              <a:gd name="T72" fmla="*/ 146 w 762"/>
              <a:gd name="T73" fmla="*/ 852 h 978"/>
              <a:gd name="T74" fmla="*/ 184 w 762"/>
              <a:gd name="T75" fmla="*/ 757 h 978"/>
              <a:gd name="T76" fmla="*/ 86 w 762"/>
              <a:gd name="T77" fmla="*/ 745 h 978"/>
              <a:gd name="T78" fmla="*/ 105 w 762"/>
              <a:gd name="T79" fmla="*/ 821 h 978"/>
              <a:gd name="T80" fmla="*/ 101 w 762"/>
              <a:gd name="T81" fmla="*/ 846 h 978"/>
              <a:gd name="T82" fmla="*/ 72 w 762"/>
              <a:gd name="T83" fmla="*/ 820 h 978"/>
              <a:gd name="T84" fmla="*/ 47 w 762"/>
              <a:gd name="T85" fmla="*/ 861 h 978"/>
              <a:gd name="T86" fmla="*/ 102 w 762"/>
              <a:gd name="T87" fmla="*/ 931 h 978"/>
              <a:gd name="T88" fmla="*/ 535 w 762"/>
              <a:gd name="T89" fmla="*/ 970 h 978"/>
              <a:gd name="T90" fmla="*/ 153 w 762"/>
              <a:gd name="T91" fmla="*/ 645 h 978"/>
              <a:gd name="T92" fmla="*/ 547 w 762"/>
              <a:gd name="T93" fmla="*/ 807 h 978"/>
              <a:gd name="T94" fmla="*/ 546 w 762"/>
              <a:gd name="T95" fmla="*/ 783 h 978"/>
              <a:gd name="T96" fmla="*/ 547 w 762"/>
              <a:gd name="T97" fmla="*/ 800 h 978"/>
              <a:gd name="T98" fmla="*/ 548 w 762"/>
              <a:gd name="T99" fmla="*/ 809 h 978"/>
              <a:gd name="T100" fmla="*/ 390 w 762"/>
              <a:gd name="T101" fmla="*/ 502 h 978"/>
              <a:gd name="T102" fmla="*/ 353 w 762"/>
              <a:gd name="T103" fmla="*/ 568 h 978"/>
              <a:gd name="T104" fmla="*/ 351 w 762"/>
              <a:gd name="T105" fmla="*/ 565 h 978"/>
              <a:gd name="T106" fmla="*/ 354 w 762"/>
              <a:gd name="T107" fmla="*/ 543 h 978"/>
              <a:gd name="T108" fmla="*/ 402 w 762"/>
              <a:gd name="T109" fmla="*/ 476 h 978"/>
              <a:gd name="T110" fmla="*/ 170 w 762"/>
              <a:gd name="T111" fmla="*/ 900 h 978"/>
              <a:gd name="T112" fmla="*/ 170 w 762"/>
              <a:gd name="T113" fmla="*/ 906 h 978"/>
              <a:gd name="T114" fmla="*/ 128 w 762"/>
              <a:gd name="T115" fmla="*/ 841 h 978"/>
              <a:gd name="T116" fmla="*/ 122 w 762"/>
              <a:gd name="T117" fmla="*/ 847 h 978"/>
              <a:gd name="T118" fmla="*/ 123 w 762"/>
              <a:gd name="T119" fmla="*/ 838 h 978"/>
              <a:gd name="T120" fmla="*/ 127 w 762"/>
              <a:gd name="T121" fmla="*/ 826 h 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762" h="978">
                <a:moveTo>
                  <a:pt x="696" y="951"/>
                </a:moveTo>
                <a:cubicBezTo>
                  <a:pt x="665" y="949"/>
                  <a:pt x="635" y="945"/>
                  <a:pt x="608" y="941"/>
                </a:cubicBezTo>
                <a:cubicBezTo>
                  <a:pt x="605" y="940"/>
                  <a:pt x="601" y="939"/>
                  <a:pt x="592" y="939"/>
                </a:cubicBezTo>
                <a:cubicBezTo>
                  <a:pt x="576" y="937"/>
                  <a:pt x="578" y="927"/>
                  <a:pt x="578" y="927"/>
                </a:cubicBezTo>
                <a:cubicBezTo>
                  <a:pt x="578" y="927"/>
                  <a:pt x="577" y="927"/>
                  <a:pt x="577" y="927"/>
                </a:cubicBezTo>
                <a:cubicBezTo>
                  <a:pt x="578" y="915"/>
                  <a:pt x="577" y="898"/>
                  <a:pt x="575" y="875"/>
                </a:cubicBezTo>
                <a:cubicBezTo>
                  <a:pt x="578" y="872"/>
                  <a:pt x="583" y="867"/>
                  <a:pt x="589" y="864"/>
                </a:cubicBezTo>
                <a:cubicBezTo>
                  <a:pt x="591" y="863"/>
                  <a:pt x="593" y="862"/>
                  <a:pt x="596" y="860"/>
                </a:cubicBezTo>
                <a:cubicBezTo>
                  <a:pt x="595" y="862"/>
                  <a:pt x="595" y="862"/>
                  <a:pt x="597" y="859"/>
                </a:cubicBezTo>
                <a:cubicBezTo>
                  <a:pt x="605" y="853"/>
                  <a:pt x="615" y="844"/>
                  <a:pt x="623" y="835"/>
                </a:cubicBezTo>
                <a:cubicBezTo>
                  <a:pt x="627" y="835"/>
                  <a:pt x="631" y="834"/>
                  <a:pt x="634" y="832"/>
                </a:cubicBezTo>
                <a:cubicBezTo>
                  <a:pt x="636" y="833"/>
                  <a:pt x="638" y="834"/>
                  <a:pt x="641" y="834"/>
                </a:cubicBezTo>
                <a:cubicBezTo>
                  <a:pt x="646" y="834"/>
                  <a:pt x="651" y="830"/>
                  <a:pt x="652" y="825"/>
                </a:cubicBezTo>
                <a:cubicBezTo>
                  <a:pt x="654" y="826"/>
                  <a:pt x="656" y="826"/>
                  <a:pt x="658" y="826"/>
                </a:cubicBezTo>
                <a:cubicBezTo>
                  <a:pt x="667" y="826"/>
                  <a:pt x="673" y="820"/>
                  <a:pt x="673" y="812"/>
                </a:cubicBezTo>
                <a:cubicBezTo>
                  <a:pt x="673" y="804"/>
                  <a:pt x="667" y="797"/>
                  <a:pt x="660" y="797"/>
                </a:cubicBezTo>
                <a:cubicBezTo>
                  <a:pt x="659" y="792"/>
                  <a:pt x="654" y="788"/>
                  <a:pt x="649" y="788"/>
                </a:cubicBezTo>
                <a:cubicBezTo>
                  <a:pt x="648" y="788"/>
                  <a:pt x="648" y="788"/>
                  <a:pt x="648" y="788"/>
                </a:cubicBezTo>
                <a:cubicBezTo>
                  <a:pt x="647" y="788"/>
                  <a:pt x="646" y="788"/>
                  <a:pt x="645" y="788"/>
                </a:cubicBezTo>
                <a:cubicBezTo>
                  <a:pt x="645" y="788"/>
                  <a:pt x="645" y="788"/>
                  <a:pt x="645" y="788"/>
                </a:cubicBezTo>
                <a:cubicBezTo>
                  <a:pt x="645" y="784"/>
                  <a:pt x="641" y="782"/>
                  <a:pt x="637" y="782"/>
                </a:cubicBezTo>
                <a:cubicBezTo>
                  <a:pt x="637" y="782"/>
                  <a:pt x="637" y="782"/>
                  <a:pt x="637" y="782"/>
                </a:cubicBezTo>
                <a:cubicBezTo>
                  <a:pt x="637" y="774"/>
                  <a:pt x="630" y="767"/>
                  <a:pt x="622" y="767"/>
                </a:cubicBezTo>
                <a:cubicBezTo>
                  <a:pt x="616" y="767"/>
                  <a:pt x="611" y="771"/>
                  <a:pt x="609" y="776"/>
                </a:cubicBezTo>
                <a:cubicBezTo>
                  <a:pt x="608" y="776"/>
                  <a:pt x="608" y="776"/>
                  <a:pt x="608" y="776"/>
                </a:cubicBezTo>
                <a:cubicBezTo>
                  <a:pt x="603" y="776"/>
                  <a:pt x="598" y="780"/>
                  <a:pt x="598" y="786"/>
                </a:cubicBezTo>
                <a:cubicBezTo>
                  <a:pt x="598" y="786"/>
                  <a:pt x="598" y="787"/>
                  <a:pt x="599" y="788"/>
                </a:cubicBezTo>
                <a:cubicBezTo>
                  <a:pt x="595" y="789"/>
                  <a:pt x="592" y="791"/>
                  <a:pt x="590" y="794"/>
                </a:cubicBezTo>
                <a:cubicBezTo>
                  <a:pt x="589" y="794"/>
                  <a:pt x="589" y="794"/>
                  <a:pt x="588" y="795"/>
                </a:cubicBezTo>
                <a:cubicBezTo>
                  <a:pt x="588" y="795"/>
                  <a:pt x="588" y="795"/>
                  <a:pt x="587" y="795"/>
                </a:cubicBezTo>
                <a:cubicBezTo>
                  <a:pt x="583" y="795"/>
                  <a:pt x="580" y="798"/>
                  <a:pt x="580" y="802"/>
                </a:cubicBezTo>
                <a:cubicBezTo>
                  <a:pt x="580" y="803"/>
                  <a:pt x="580" y="804"/>
                  <a:pt x="580" y="805"/>
                </a:cubicBezTo>
                <a:cubicBezTo>
                  <a:pt x="578" y="807"/>
                  <a:pt x="577" y="810"/>
                  <a:pt x="577" y="813"/>
                </a:cubicBezTo>
                <a:cubicBezTo>
                  <a:pt x="577" y="821"/>
                  <a:pt x="584" y="828"/>
                  <a:pt x="592" y="828"/>
                </a:cubicBezTo>
                <a:cubicBezTo>
                  <a:pt x="595" y="828"/>
                  <a:pt x="598" y="827"/>
                  <a:pt x="600" y="826"/>
                </a:cubicBezTo>
                <a:cubicBezTo>
                  <a:pt x="602" y="828"/>
                  <a:pt x="605" y="830"/>
                  <a:pt x="607" y="831"/>
                </a:cubicBezTo>
                <a:cubicBezTo>
                  <a:pt x="606" y="837"/>
                  <a:pt x="605" y="844"/>
                  <a:pt x="602" y="850"/>
                </a:cubicBezTo>
                <a:cubicBezTo>
                  <a:pt x="594" y="855"/>
                  <a:pt x="585" y="860"/>
                  <a:pt x="573" y="864"/>
                </a:cubicBezTo>
                <a:cubicBezTo>
                  <a:pt x="572" y="854"/>
                  <a:pt x="570" y="843"/>
                  <a:pt x="567" y="832"/>
                </a:cubicBezTo>
                <a:cubicBezTo>
                  <a:pt x="559" y="796"/>
                  <a:pt x="559" y="780"/>
                  <a:pt x="560" y="773"/>
                </a:cubicBezTo>
                <a:cubicBezTo>
                  <a:pt x="564" y="772"/>
                  <a:pt x="569" y="770"/>
                  <a:pt x="574" y="768"/>
                </a:cubicBezTo>
                <a:cubicBezTo>
                  <a:pt x="578" y="771"/>
                  <a:pt x="584" y="772"/>
                  <a:pt x="590" y="772"/>
                </a:cubicBezTo>
                <a:cubicBezTo>
                  <a:pt x="603" y="772"/>
                  <a:pt x="615" y="763"/>
                  <a:pt x="619" y="751"/>
                </a:cubicBezTo>
                <a:cubicBezTo>
                  <a:pt x="624" y="753"/>
                  <a:pt x="629" y="754"/>
                  <a:pt x="634" y="754"/>
                </a:cubicBezTo>
                <a:cubicBezTo>
                  <a:pt x="655" y="754"/>
                  <a:pt x="672" y="737"/>
                  <a:pt x="672" y="716"/>
                </a:cubicBezTo>
                <a:cubicBezTo>
                  <a:pt x="672" y="697"/>
                  <a:pt x="657" y="680"/>
                  <a:pt x="638" y="679"/>
                </a:cubicBezTo>
                <a:cubicBezTo>
                  <a:pt x="635" y="667"/>
                  <a:pt x="624" y="657"/>
                  <a:pt x="611" y="657"/>
                </a:cubicBezTo>
                <a:cubicBezTo>
                  <a:pt x="609" y="657"/>
                  <a:pt x="608" y="658"/>
                  <a:pt x="606" y="658"/>
                </a:cubicBezTo>
                <a:cubicBezTo>
                  <a:pt x="605" y="658"/>
                  <a:pt x="603" y="657"/>
                  <a:pt x="602" y="657"/>
                </a:cubicBezTo>
                <a:cubicBezTo>
                  <a:pt x="602" y="657"/>
                  <a:pt x="601" y="657"/>
                  <a:pt x="601" y="657"/>
                </a:cubicBezTo>
                <a:cubicBezTo>
                  <a:pt x="600" y="647"/>
                  <a:pt x="592" y="639"/>
                  <a:pt x="582" y="639"/>
                </a:cubicBezTo>
                <a:cubicBezTo>
                  <a:pt x="581" y="639"/>
                  <a:pt x="581" y="639"/>
                  <a:pt x="581" y="639"/>
                </a:cubicBezTo>
                <a:cubicBezTo>
                  <a:pt x="580" y="619"/>
                  <a:pt x="564" y="604"/>
                  <a:pt x="543" y="604"/>
                </a:cubicBezTo>
                <a:cubicBezTo>
                  <a:pt x="528" y="604"/>
                  <a:pt x="515" y="614"/>
                  <a:pt x="509" y="627"/>
                </a:cubicBezTo>
                <a:cubicBezTo>
                  <a:pt x="509" y="627"/>
                  <a:pt x="508" y="627"/>
                  <a:pt x="507" y="627"/>
                </a:cubicBezTo>
                <a:cubicBezTo>
                  <a:pt x="494" y="627"/>
                  <a:pt x="484" y="638"/>
                  <a:pt x="484" y="651"/>
                </a:cubicBezTo>
                <a:cubicBezTo>
                  <a:pt x="484" y="652"/>
                  <a:pt x="484" y="654"/>
                  <a:pt x="484" y="656"/>
                </a:cubicBezTo>
                <a:cubicBezTo>
                  <a:pt x="475" y="659"/>
                  <a:pt x="468" y="664"/>
                  <a:pt x="462" y="672"/>
                </a:cubicBezTo>
                <a:cubicBezTo>
                  <a:pt x="461" y="672"/>
                  <a:pt x="459" y="673"/>
                  <a:pt x="457" y="674"/>
                </a:cubicBezTo>
                <a:cubicBezTo>
                  <a:pt x="457" y="674"/>
                  <a:pt x="456" y="674"/>
                  <a:pt x="456" y="674"/>
                </a:cubicBezTo>
                <a:cubicBezTo>
                  <a:pt x="445" y="674"/>
                  <a:pt x="436" y="682"/>
                  <a:pt x="436" y="693"/>
                </a:cubicBezTo>
                <a:cubicBezTo>
                  <a:pt x="436" y="695"/>
                  <a:pt x="437" y="697"/>
                  <a:pt x="437" y="699"/>
                </a:cubicBezTo>
                <a:cubicBezTo>
                  <a:pt x="433" y="705"/>
                  <a:pt x="431" y="712"/>
                  <a:pt x="431" y="720"/>
                </a:cubicBezTo>
                <a:cubicBezTo>
                  <a:pt x="431" y="741"/>
                  <a:pt x="448" y="758"/>
                  <a:pt x="468" y="758"/>
                </a:cubicBezTo>
                <a:cubicBezTo>
                  <a:pt x="476" y="758"/>
                  <a:pt x="483" y="756"/>
                  <a:pt x="488" y="752"/>
                </a:cubicBezTo>
                <a:cubicBezTo>
                  <a:pt x="496" y="760"/>
                  <a:pt x="506" y="767"/>
                  <a:pt x="516" y="771"/>
                </a:cubicBezTo>
                <a:cubicBezTo>
                  <a:pt x="523" y="786"/>
                  <a:pt x="534" y="804"/>
                  <a:pt x="542" y="823"/>
                </a:cubicBezTo>
                <a:cubicBezTo>
                  <a:pt x="529" y="821"/>
                  <a:pt x="520" y="817"/>
                  <a:pt x="513" y="813"/>
                </a:cubicBezTo>
                <a:cubicBezTo>
                  <a:pt x="514" y="812"/>
                  <a:pt x="514" y="812"/>
                  <a:pt x="515" y="811"/>
                </a:cubicBezTo>
                <a:cubicBezTo>
                  <a:pt x="516" y="811"/>
                  <a:pt x="517" y="811"/>
                  <a:pt x="518" y="811"/>
                </a:cubicBezTo>
                <a:cubicBezTo>
                  <a:pt x="523" y="811"/>
                  <a:pt x="527" y="807"/>
                  <a:pt x="527" y="802"/>
                </a:cubicBezTo>
                <a:cubicBezTo>
                  <a:pt x="527" y="798"/>
                  <a:pt x="524" y="794"/>
                  <a:pt x="519" y="793"/>
                </a:cubicBezTo>
                <a:cubicBezTo>
                  <a:pt x="519" y="790"/>
                  <a:pt x="516" y="788"/>
                  <a:pt x="513" y="788"/>
                </a:cubicBezTo>
                <a:cubicBezTo>
                  <a:pt x="512" y="788"/>
                  <a:pt x="512" y="788"/>
                  <a:pt x="511" y="788"/>
                </a:cubicBezTo>
                <a:cubicBezTo>
                  <a:pt x="511" y="788"/>
                  <a:pt x="511" y="788"/>
                  <a:pt x="511" y="788"/>
                </a:cubicBezTo>
                <a:cubicBezTo>
                  <a:pt x="510" y="788"/>
                  <a:pt x="510" y="788"/>
                  <a:pt x="510" y="788"/>
                </a:cubicBezTo>
                <a:cubicBezTo>
                  <a:pt x="510" y="785"/>
                  <a:pt x="508" y="783"/>
                  <a:pt x="506" y="783"/>
                </a:cubicBezTo>
                <a:cubicBezTo>
                  <a:pt x="505" y="783"/>
                  <a:pt x="505" y="783"/>
                  <a:pt x="505" y="783"/>
                </a:cubicBezTo>
                <a:cubicBezTo>
                  <a:pt x="505" y="779"/>
                  <a:pt x="501" y="775"/>
                  <a:pt x="496" y="775"/>
                </a:cubicBezTo>
                <a:cubicBezTo>
                  <a:pt x="493" y="775"/>
                  <a:pt x="490" y="777"/>
                  <a:pt x="488" y="781"/>
                </a:cubicBezTo>
                <a:cubicBezTo>
                  <a:pt x="488" y="780"/>
                  <a:pt x="488" y="781"/>
                  <a:pt x="488" y="781"/>
                </a:cubicBezTo>
                <a:cubicBezTo>
                  <a:pt x="484" y="781"/>
                  <a:pt x="482" y="783"/>
                  <a:pt x="482" y="786"/>
                </a:cubicBezTo>
                <a:cubicBezTo>
                  <a:pt x="482" y="787"/>
                  <a:pt x="482" y="787"/>
                  <a:pt x="482" y="788"/>
                </a:cubicBezTo>
                <a:cubicBezTo>
                  <a:pt x="480" y="788"/>
                  <a:pt x="478" y="790"/>
                  <a:pt x="477" y="792"/>
                </a:cubicBezTo>
                <a:cubicBezTo>
                  <a:pt x="476" y="792"/>
                  <a:pt x="476" y="792"/>
                  <a:pt x="476" y="792"/>
                </a:cubicBezTo>
                <a:cubicBezTo>
                  <a:pt x="475" y="792"/>
                  <a:pt x="475" y="792"/>
                  <a:pt x="475" y="792"/>
                </a:cubicBezTo>
                <a:cubicBezTo>
                  <a:pt x="473" y="792"/>
                  <a:pt x="470" y="794"/>
                  <a:pt x="470" y="797"/>
                </a:cubicBezTo>
                <a:cubicBezTo>
                  <a:pt x="470" y="797"/>
                  <a:pt x="471" y="798"/>
                  <a:pt x="471" y="798"/>
                </a:cubicBezTo>
                <a:cubicBezTo>
                  <a:pt x="470" y="800"/>
                  <a:pt x="469" y="801"/>
                  <a:pt x="469" y="803"/>
                </a:cubicBezTo>
                <a:cubicBezTo>
                  <a:pt x="469" y="808"/>
                  <a:pt x="473" y="812"/>
                  <a:pt x="478" y="812"/>
                </a:cubicBezTo>
                <a:cubicBezTo>
                  <a:pt x="480" y="812"/>
                  <a:pt x="482" y="812"/>
                  <a:pt x="483" y="811"/>
                </a:cubicBezTo>
                <a:cubicBezTo>
                  <a:pt x="486" y="814"/>
                  <a:pt x="491" y="817"/>
                  <a:pt x="496" y="817"/>
                </a:cubicBezTo>
                <a:cubicBezTo>
                  <a:pt x="499" y="817"/>
                  <a:pt x="501" y="816"/>
                  <a:pt x="504" y="815"/>
                </a:cubicBezTo>
                <a:cubicBezTo>
                  <a:pt x="505" y="815"/>
                  <a:pt x="506" y="816"/>
                  <a:pt x="508" y="816"/>
                </a:cubicBezTo>
                <a:cubicBezTo>
                  <a:pt x="509" y="816"/>
                  <a:pt x="510" y="815"/>
                  <a:pt x="511" y="815"/>
                </a:cubicBezTo>
                <a:cubicBezTo>
                  <a:pt x="521" y="821"/>
                  <a:pt x="535" y="827"/>
                  <a:pt x="542" y="828"/>
                </a:cubicBezTo>
                <a:cubicBezTo>
                  <a:pt x="542" y="828"/>
                  <a:pt x="543" y="828"/>
                  <a:pt x="544" y="829"/>
                </a:cubicBezTo>
                <a:cubicBezTo>
                  <a:pt x="548" y="839"/>
                  <a:pt x="552" y="850"/>
                  <a:pt x="552" y="862"/>
                </a:cubicBezTo>
                <a:cubicBezTo>
                  <a:pt x="554" y="891"/>
                  <a:pt x="543" y="921"/>
                  <a:pt x="538" y="933"/>
                </a:cubicBezTo>
                <a:cubicBezTo>
                  <a:pt x="535" y="933"/>
                  <a:pt x="532" y="933"/>
                  <a:pt x="530" y="933"/>
                </a:cubicBezTo>
                <a:cubicBezTo>
                  <a:pt x="500" y="933"/>
                  <a:pt x="439" y="932"/>
                  <a:pt x="405" y="935"/>
                </a:cubicBezTo>
                <a:cubicBezTo>
                  <a:pt x="396" y="933"/>
                  <a:pt x="388" y="930"/>
                  <a:pt x="382" y="925"/>
                </a:cubicBezTo>
                <a:cubicBezTo>
                  <a:pt x="368" y="894"/>
                  <a:pt x="334" y="807"/>
                  <a:pt x="340" y="720"/>
                </a:cubicBezTo>
                <a:cubicBezTo>
                  <a:pt x="341" y="689"/>
                  <a:pt x="350" y="657"/>
                  <a:pt x="362" y="627"/>
                </a:cubicBezTo>
                <a:cubicBezTo>
                  <a:pt x="365" y="627"/>
                  <a:pt x="367" y="626"/>
                  <a:pt x="370" y="626"/>
                </a:cubicBezTo>
                <a:cubicBezTo>
                  <a:pt x="387" y="623"/>
                  <a:pt x="426" y="608"/>
                  <a:pt x="455" y="589"/>
                </a:cubicBezTo>
                <a:cubicBezTo>
                  <a:pt x="458" y="591"/>
                  <a:pt x="461" y="592"/>
                  <a:pt x="465" y="592"/>
                </a:cubicBezTo>
                <a:cubicBezTo>
                  <a:pt x="469" y="592"/>
                  <a:pt x="472" y="590"/>
                  <a:pt x="476" y="589"/>
                </a:cubicBezTo>
                <a:cubicBezTo>
                  <a:pt x="482" y="592"/>
                  <a:pt x="490" y="594"/>
                  <a:pt x="497" y="594"/>
                </a:cubicBezTo>
                <a:cubicBezTo>
                  <a:pt x="512" y="594"/>
                  <a:pt x="525" y="588"/>
                  <a:pt x="534" y="578"/>
                </a:cubicBezTo>
                <a:cubicBezTo>
                  <a:pt x="538" y="580"/>
                  <a:pt x="542" y="582"/>
                  <a:pt x="547" y="582"/>
                </a:cubicBezTo>
                <a:cubicBezTo>
                  <a:pt x="561" y="582"/>
                  <a:pt x="573" y="570"/>
                  <a:pt x="573" y="556"/>
                </a:cubicBezTo>
                <a:cubicBezTo>
                  <a:pt x="573" y="551"/>
                  <a:pt x="571" y="546"/>
                  <a:pt x="568" y="542"/>
                </a:cubicBezTo>
                <a:cubicBezTo>
                  <a:pt x="569" y="541"/>
                  <a:pt x="569" y="539"/>
                  <a:pt x="569" y="538"/>
                </a:cubicBezTo>
                <a:cubicBezTo>
                  <a:pt x="569" y="531"/>
                  <a:pt x="563" y="525"/>
                  <a:pt x="556" y="525"/>
                </a:cubicBezTo>
                <a:cubicBezTo>
                  <a:pt x="555" y="525"/>
                  <a:pt x="555" y="525"/>
                  <a:pt x="555" y="525"/>
                </a:cubicBezTo>
                <a:cubicBezTo>
                  <a:pt x="554" y="524"/>
                  <a:pt x="553" y="524"/>
                  <a:pt x="551" y="523"/>
                </a:cubicBezTo>
                <a:cubicBezTo>
                  <a:pt x="548" y="518"/>
                  <a:pt x="543" y="514"/>
                  <a:pt x="536" y="513"/>
                </a:cubicBezTo>
                <a:cubicBezTo>
                  <a:pt x="537" y="512"/>
                  <a:pt x="537" y="510"/>
                  <a:pt x="537" y="509"/>
                </a:cubicBezTo>
                <a:cubicBezTo>
                  <a:pt x="537" y="500"/>
                  <a:pt x="530" y="493"/>
                  <a:pt x="521" y="493"/>
                </a:cubicBezTo>
                <a:cubicBezTo>
                  <a:pt x="520" y="493"/>
                  <a:pt x="520" y="493"/>
                  <a:pt x="520" y="493"/>
                </a:cubicBezTo>
                <a:cubicBezTo>
                  <a:pt x="516" y="484"/>
                  <a:pt x="507" y="478"/>
                  <a:pt x="496" y="478"/>
                </a:cubicBezTo>
                <a:cubicBezTo>
                  <a:pt x="483" y="478"/>
                  <a:pt x="471" y="489"/>
                  <a:pt x="471" y="502"/>
                </a:cubicBezTo>
                <a:cubicBezTo>
                  <a:pt x="471" y="502"/>
                  <a:pt x="470" y="502"/>
                  <a:pt x="470" y="502"/>
                </a:cubicBezTo>
                <a:cubicBezTo>
                  <a:pt x="463" y="502"/>
                  <a:pt x="458" y="507"/>
                  <a:pt x="457" y="514"/>
                </a:cubicBezTo>
                <a:cubicBezTo>
                  <a:pt x="457" y="514"/>
                  <a:pt x="457" y="514"/>
                  <a:pt x="457" y="514"/>
                </a:cubicBezTo>
                <a:cubicBezTo>
                  <a:pt x="455" y="514"/>
                  <a:pt x="454" y="514"/>
                  <a:pt x="453" y="514"/>
                </a:cubicBezTo>
                <a:cubicBezTo>
                  <a:pt x="452" y="514"/>
                  <a:pt x="451" y="514"/>
                  <a:pt x="450" y="514"/>
                </a:cubicBezTo>
                <a:cubicBezTo>
                  <a:pt x="442" y="514"/>
                  <a:pt x="434" y="520"/>
                  <a:pt x="432" y="528"/>
                </a:cubicBezTo>
                <a:cubicBezTo>
                  <a:pt x="419" y="529"/>
                  <a:pt x="409" y="540"/>
                  <a:pt x="409" y="554"/>
                </a:cubicBezTo>
                <a:cubicBezTo>
                  <a:pt x="409" y="568"/>
                  <a:pt x="420" y="579"/>
                  <a:pt x="435" y="579"/>
                </a:cubicBezTo>
                <a:cubicBezTo>
                  <a:pt x="438" y="579"/>
                  <a:pt x="442" y="578"/>
                  <a:pt x="445" y="577"/>
                </a:cubicBezTo>
                <a:cubicBezTo>
                  <a:pt x="446" y="580"/>
                  <a:pt x="447" y="582"/>
                  <a:pt x="449" y="585"/>
                </a:cubicBezTo>
                <a:cubicBezTo>
                  <a:pt x="431" y="595"/>
                  <a:pt x="405" y="607"/>
                  <a:pt x="368" y="613"/>
                </a:cubicBezTo>
                <a:cubicBezTo>
                  <a:pt x="391" y="559"/>
                  <a:pt x="422" y="509"/>
                  <a:pt x="440" y="465"/>
                </a:cubicBezTo>
                <a:cubicBezTo>
                  <a:pt x="471" y="454"/>
                  <a:pt x="497" y="436"/>
                  <a:pt x="519" y="412"/>
                </a:cubicBezTo>
                <a:cubicBezTo>
                  <a:pt x="535" y="423"/>
                  <a:pt x="554" y="429"/>
                  <a:pt x="575" y="429"/>
                </a:cubicBezTo>
                <a:cubicBezTo>
                  <a:pt x="633" y="429"/>
                  <a:pt x="680" y="381"/>
                  <a:pt x="680" y="323"/>
                </a:cubicBezTo>
                <a:cubicBezTo>
                  <a:pt x="680" y="302"/>
                  <a:pt x="673" y="281"/>
                  <a:pt x="662" y="264"/>
                </a:cubicBezTo>
                <a:cubicBezTo>
                  <a:pt x="664" y="259"/>
                  <a:pt x="665" y="253"/>
                  <a:pt x="665" y="247"/>
                </a:cubicBezTo>
                <a:cubicBezTo>
                  <a:pt x="665" y="217"/>
                  <a:pt x="640" y="193"/>
                  <a:pt x="610" y="193"/>
                </a:cubicBezTo>
                <a:cubicBezTo>
                  <a:pt x="609" y="193"/>
                  <a:pt x="607" y="193"/>
                  <a:pt x="606" y="193"/>
                </a:cubicBezTo>
                <a:cubicBezTo>
                  <a:pt x="601" y="191"/>
                  <a:pt x="596" y="189"/>
                  <a:pt x="591" y="188"/>
                </a:cubicBezTo>
                <a:cubicBezTo>
                  <a:pt x="577" y="167"/>
                  <a:pt x="555" y="151"/>
                  <a:pt x="530" y="144"/>
                </a:cubicBezTo>
                <a:cubicBezTo>
                  <a:pt x="531" y="139"/>
                  <a:pt x="532" y="134"/>
                  <a:pt x="532" y="128"/>
                </a:cubicBezTo>
                <a:cubicBezTo>
                  <a:pt x="532" y="92"/>
                  <a:pt x="502" y="62"/>
                  <a:pt x="466" y="62"/>
                </a:cubicBezTo>
                <a:cubicBezTo>
                  <a:pt x="464" y="62"/>
                  <a:pt x="462" y="62"/>
                  <a:pt x="460" y="63"/>
                </a:cubicBezTo>
                <a:cubicBezTo>
                  <a:pt x="444" y="26"/>
                  <a:pt x="407" y="0"/>
                  <a:pt x="364" y="0"/>
                </a:cubicBezTo>
                <a:cubicBezTo>
                  <a:pt x="308" y="0"/>
                  <a:pt x="262" y="45"/>
                  <a:pt x="259" y="100"/>
                </a:cubicBezTo>
                <a:cubicBezTo>
                  <a:pt x="258" y="100"/>
                  <a:pt x="258" y="100"/>
                  <a:pt x="257" y="100"/>
                </a:cubicBezTo>
                <a:cubicBezTo>
                  <a:pt x="229" y="100"/>
                  <a:pt x="207" y="121"/>
                  <a:pt x="203" y="147"/>
                </a:cubicBezTo>
                <a:cubicBezTo>
                  <a:pt x="202" y="147"/>
                  <a:pt x="201" y="147"/>
                  <a:pt x="201" y="147"/>
                </a:cubicBezTo>
                <a:cubicBezTo>
                  <a:pt x="196" y="147"/>
                  <a:pt x="192" y="147"/>
                  <a:pt x="187" y="148"/>
                </a:cubicBezTo>
                <a:cubicBezTo>
                  <a:pt x="184" y="148"/>
                  <a:pt x="180" y="147"/>
                  <a:pt x="176" y="147"/>
                </a:cubicBezTo>
                <a:cubicBezTo>
                  <a:pt x="139" y="147"/>
                  <a:pt x="108" y="173"/>
                  <a:pt x="100" y="207"/>
                </a:cubicBezTo>
                <a:cubicBezTo>
                  <a:pt x="47" y="212"/>
                  <a:pt x="4" y="257"/>
                  <a:pt x="4" y="312"/>
                </a:cubicBezTo>
                <a:cubicBezTo>
                  <a:pt x="4" y="370"/>
                  <a:pt x="52" y="417"/>
                  <a:pt x="110" y="417"/>
                </a:cubicBezTo>
                <a:cubicBezTo>
                  <a:pt x="125" y="417"/>
                  <a:pt x="139" y="414"/>
                  <a:pt x="152" y="408"/>
                </a:cubicBezTo>
                <a:cubicBezTo>
                  <a:pt x="163" y="444"/>
                  <a:pt x="196" y="469"/>
                  <a:pt x="235" y="469"/>
                </a:cubicBezTo>
                <a:cubicBezTo>
                  <a:pt x="251" y="469"/>
                  <a:pt x="266" y="465"/>
                  <a:pt x="279" y="457"/>
                </a:cubicBezTo>
                <a:cubicBezTo>
                  <a:pt x="292" y="463"/>
                  <a:pt x="305" y="468"/>
                  <a:pt x="319" y="472"/>
                </a:cubicBezTo>
                <a:cubicBezTo>
                  <a:pt x="322" y="491"/>
                  <a:pt x="320" y="535"/>
                  <a:pt x="297" y="637"/>
                </a:cubicBezTo>
                <a:cubicBezTo>
                  <a:pt x="289" y="669"/>
                  <a:pt x="284" y="699"/>
                  <a:pt x="280" y="727"/>
                </a:cubicBezTo>
                <a:cubicBezTo>
                  <a:pt x="248" y="715"/>
                  <a:pt x="222" y="701"/>
                  <a:pt x="201" y="687"/>
                </a:cubicBezTo>
                <a:cubicBezTo>
                  <a:pt x="192" y="670"/>
                  <a:pt x="188" y="652"/>
                  <a:pt x="186" y="635"/>
                </a:cubicBezTo>
                <a:cubicBezTo>
                  <a:pt x="193" y="631"/>
                  <a:pt x="199" y="626"/>
                  <a:pt x="205" y="620"/>
                </a:cubicBezTo>
                <a:cubicBezTo>
                  <a:pt x="211" y="624"/>
                  <a:pt x="219" y="626"/>
                  <a:pt x="227" y="626"/>
                </a:cubicBezTo>
                <a:cubicBezTo>
                  <a:pt x="250" y="626"/>
                  <a:pt x="269" y="607"/>
                  <a:pt x="269" y="584"/>
                </a:cubicBezTo>
                <a:cubicBezTo>
                  <a:pt x="269" y="575"/>
                  <a:pt x="266" y="567"/>
                  <a:pt x="262" y="561"/>
                </a:cubicBezTo>
                <a:cubicBezTo>
                  <a:pt x="263" y="558"/>
                  <a:pt x="263" y="556"/>
                  <a:pt x="263" y="554"/>
                </a:cubicBezTo>
                <a:cubicBezTo>
                  <a:pt x="263" y="542"/>
                  <a:pt x="253" y="532"/>
                  <a:pt x="241" y="532"/>
                </a:cubicBezTo>
                <a:cubicBezTo>
                  <a:pt x="241" y="532"/>
                  <a:pt x="240" y="532"/>
                  <a:pt x="239" y="532"/>
                </a:cubicBezTo>
                <a:cubicBezTo>
                  <a:pt x="238" y="531"/>
                  <a:pt x="236" y="531"/>
                  <a:pt x="234" y="530"/>
                </a:cubicBezTo>
                <a:cubicBezTo>
                  <a:pt x="228" y="522"/>
                  <a:pt x="219" y="515"/>
                  <a:pt x="209" y="513"/>
                </a:cubicBezTo>
                <a:cubicBezTo>
                  <a:pt x="210" y="511"/>
                  <a:pt x="210" y="509"/>
                  <a:pt x="210" y="506"/>
                </a:cubicBezTo>
                <a:cubicBezTo>
                  <a:pt x="210" y="492"/>
                  <a:pt x="198" y="480"/>
                  <a:pt x="184" y="480"/>
                </a:cubicBezTo>
                <a:cubicBezTo>
                  <a:pt x="183" y="480"/>
                  <a:pt x="182" y="480"/>
                  <a:pt x="182" y="480"/>
                </a:cubicBezTo>
                <a:cubicBezTo>
                  <a:pt x="175" y="466"/>
                  <a:pt x="160" y="455"/>
                  <a:pt x="143" y="455"/>
                </a:cubicBezTo>
                <a:cubicBezTo>
                  <a:pt x="121" y="455"/>
                  <a:pt x="103" y="473"/>
                  <a:pt x="102" y="495"/>
                </a:cubicBezTo>
                <a:cubicBezTo>
                  <a:pt x="101" y="495"/>
                  <a:pt x="101" y="495"/>
                  <a:pt x="100" y="495"/>
                </a:cubicBezTo>
                <a:cubicBezTo>
                  <a:pt x="89" y="495"/>
                  <a:pt x="81" y="503"/>
                  <a:pt x="79" y="514"/>
                </a:cubicBezTo>
                <a:cubicBezTo>
                  <a:pt x="79" y="514"/>
                  <a:pt x="78" y="514"/>
                  <a:pt x="78" y="514"/>
                </a:cubicBezTo>
                <a:cubicBezTo>
                  <a:pt x="76" y="514"/>
                  <a:pt x="75" y="514"/>
                  <a:pt x="73" y="514"/>
                </a:cubicBezTo>
                <a:cubicBezTo>
                  <a:pt x="72" y="514"/>
                  <a:pt x="70" y="514"/>
                  <a:pt x="68" y="514"/>
                </a:cubicBezTo>
                <a:cubicBezTo>
                  <a:pt x="54" y="514"/>
                  <a:pt x="41" y="524"/>
                  <a:pt x="38" y="538"/>
                </a:cubicBezTo>
                <a:cubicBezTo>
                  <a:pt x="17" y="540"/>
                  <a:pt x="0" y="558"/>
                  <a:pt x="0" y="580"/>
                </a:cubicBezTo>
                <a:cubicBezTo>
                  <a:pt x="0" y="603"/>
                  <a:pt x="19" y="621"/>
                  <a:pt x="42" y="621"/>
                </a:cubicBezTo>
                <a:cubicBezTo>
                  <a:pt x="48" y="621"/>
                  <a:pt x="54" y="620"/>
                  <a:pt x="59" y="618"/>
                </a:cubicBezTo>
                <a:cubicBezTo>
                  <a:pt x="63" y="632"/>
                  <a:pt x="76" y="642"/>
                  <a:pt x="92" y="642"/>
                </a:cubicBezTo>
                <a:cubicBezTo>
                  <a:pt x="98" y="642"/>
                  <a:pt x="104" y="640"/>
                  <a:pt x="110" y="637"/>
                </a:cubicBezTo>
                <a:cubicBezTo>
                  <a:pt x="119" y="642"/>
                  <a:pt x="130" y="645"/>
                  <a:pt x="142" y="646"/>
                </a:cubicBezTo>
                <a:cubicBezTo>
                  <a:pt x="163" y="671"/>
                  <a:pt x="193" y="697"/>
                  <a:pt x="215" y="713"/>
                </a:cubicBezTo>
                <a:cubicBezTo>
                  <a:pt x="220" y="722"/>
                  <a:pt x="219" y="719"/>
                  <a:pt x="216" y="714"/>
                </a:cubicBezTo>
                <a:cubicBezTo>
                  <a:pt x="224" y="720"/>
                  <a:pt x="231" y="724"/>
                  <a:pt x="237" y="727"/>
                </a:cubicBezTo>
                <a:cubicBezTo>
                  <a:pt x="253" y="735"/>
                  <a:pt x="267" y="748"/>
                  <a:pt x="276" y="757"/>
                </a:cubicBezTo>
                <a:cubicBezTo>
                  <a:pt x="269" y="821"/>
                  <a:pt x="268" y="871"/>
                  <a:pt x="269" y="902"/>
                </a:cubicBezTo>
                <a:cubicBezTo>
                  <a:pt x="269" y="902"/>
                  <a:pt x="268" y="902"/>
                  <a:pt x="268" y="902"/>
                </a:cubicBezTo>
                <a:cubicBezTo>
                  <a:pt x="268" y="902"/>
                  <a:pt x="273" y="927"/>
                  <a:pt x="236" y="934"/>
                </a:cubicBezTo>
                <a:cubicBezTo>
                  <a:pt x="234" y="934"/>
                  <a:pt x="231" y="935"/>
                  <a:pt x="228" y="935"/>
                </a:cubicBezTo>
                <a:cubicBezTo>
                  <a:pt x="228" y="935"/>
                  <a:pt x="227" y="935"/>
                  <a:pt x="227" y="935"/>
                </a:cubicBezTo>
                <a:cubicBezTo>
                  <a:pt x="212" y="936"/>
                  <a:pt x="201" y="938"/>
                  <a:pt x="194" y="940"/>
                </a:cubicBezTo>
                <a:cubicBezTo>
                  <a:pt x="191" y="939"/>
                  <a:pt x="188" y="939"/>
                  <a:pt x="185" y="939"/>
                </a:cubicBezTo>
                <a:cubicBezTo>
                  <a:pt x="184" y="938"/>
                  <a:pt x="183" y="938"/>
                  <a:pt x="181" y="938"/>
                </a:cubicBezTo>
                <a:cubicBezTo>
                  <a:pt x="177" y="938"/>
                  <a:pt x="177" y="935"/>
                  <a:pt x="177" y="935"/>
                </a:cubicBezTo>
                <a:cubicBezTo>
                  <a:pt x="177" y="935"/>
                  <a:pt x="177" y="935"/>
                  <a:pt x="177" y="935"/>
                </a:cubicBezTo>
                <a:cubicBezTo>
                  <a:pt x="177" y="931"/>
                  <a:pt x="177" y="928"/>
                  <a:pt x="177" y="922"/>
                </a:cubicBezTo>
                <a:cubicBezTo>
                  <a:pt x="178" y="922"/>
                  <a:pt x="179" y="921"/>
                  <a:pt x="180" y="920"/>
                </a:cubicBezTo>
                <a:cubicBezTo>
                  <a:pt x="181" y="920"/>
                  <a:pt x="181" y="919"/>
                  <a:pt x="182" y="919"/>
                </a:cubicBezTo>
                <a:cubicBezTo>
                  <a:pt x="182" y="919"/>
                  <a:pt x="182" y="919"/>
                  <a:pt x="182" y="919"/>
                </a:cubicBezTo>
                <a:cubicBezTo>
                  <a:pt x="184" y="917"/>
                  <a:pt x="187" y="915"/>
                  <a:pt x="188" y="913"/>
                </a:cubicBezTo>
                <a:cubicBezTo>
                  <a:pt x="189" y="913"/>
                  <a:pt x="190" y="912"/>
                  <a:pt x="191" y="912"/>
                </a:cubicBezTo>
                <a:cubicBezTo>
                  <a:pt x="192" y="912"/>
                  <a:pt x="192" y="913"/>
                  <a:pt x="193" y="913"/>
                </a:cubicBezTo>
                <a:cubicBezTo>
                  <a:pt x="194" y="913"/>
                  <a:pt x="195" y="912"/>
                  <a:pt x="196" y="910"/>
                </a:cubicBezTo>
                <a:cubicBezTo>
                  <a:pt x="196" y="911"/>
                  <a:pt x="197" y="911"/>
                  <a:pt x="197" y="911"/>
                </a:cubicBezTo>
                <a:cubicBezTo>
                  <a:pt x="199" y="911"/>
                  <a:pt x="201" y="909"/>
                  <a:pt x="201" y="907"/>
                </a:cubicBezTo>
                <a:cubicBezTo>
                  <a:pt x="201" y="905"/>
                  <a:pt x="199" y="904"/>
                  <a:pt x="197" y="903"/>
                </a:cubicBezTo>
                <a:cubicBezTo>
                  <a:pt x="197" y="902"/>
                  <a:pt x="196" y="901"/>
                  <a:pt x="195" y="901"/>
                </a:cubicBezTo>
                <a:cubicBezTo>
                  <a:pt x="195" y="901"/>
                  <a:pt x="195" y="901"/>
                  <a:pt x="194" y="901"/>
                </a:cubicBezTo>
                <a:cubicBezTo>
                  <a:pt x="194" y="901"/>
                  <a:pt x="194" y="901"/>
                  <a:pt x="194" y="901"/>
                </a:cubicBezTo>
                <a:cubicBezTo>
                  <a:pt x="194" y="901"/>
                  <a:pt x="194" y="901"/>
                  <a:pt x="194" y="901"/>
                </a:cubicBezTo>
                <a:cubicBezTo>
                  <a:pt x="194" y="900"/>
                  <a:pt x="193" y="899"/>
                  <a:pt x="192" y="899"/>
                </a:cubicBezTo>
                <a:cubicBezTo>
                  <a:pt x="192" y="899"/>
                  <a:pt x="192" y="899"/>
                  <a:pt x="192" y="899"/>
                </a:cubicBezTo>
                <a:cubicBezTo>
                  <a:pt x="192" y="899"/>
                  <a:pt x="190" y="896"/>
                  <a:pt x="188" y="896"/>
                </a:cubicBezTo>
                <a:cubicBezTo>
                  <a:pt x="187" y="896"/>
                  <a:pt x="186" y="897"/>
                  <a:pt x="185" y="898"/>
                </a:cubicBezTo>
                <a:cubicBezTo>
                  <a:pt x="185" y="898"/>
                  <a:pt x="185" y="898"/>
                  <a:pt x="185" y="898"/>
                </a:cubicBezTo>
                <a:cubicBezTo>
                  <a:pt x="184" y="898"/>
                  <a:pt x="182" y="899"/>
                  <a:pt x="182" y="901"/>
                </a:cubicBezTo>
                <a:cubicBezTo>
                  <a:pt x="182" y="901"/>
                  <a:pt x="182" y="901"/>
                  <a:pt x="183" y="901"/>
                </a:cubicBezTo>
                <a:cubicBezTo>
                  <a:pt x="182" y="901"/>
                  <a:pt x="181" y="902"/>
                  <a:pt x="180" y="903"/>
                </a:cubicBezTo>
                <a:cubicBezTo>
                  <a:pt x="180" y="903"/>
                  <a:pt x="180" y="903"/>
                  <a:pt x="180" y="903"/>
                </a:cubicBezTo>
                <a:cubicBezTo>
                  <a:pt x="180" y="903"/>
                  <a:pt x="180" y="903"/>
                  <a:pt x="180" y="903"/>
                </a:cubicBezTo>
                <a:cubicBezTo>
                  <a:pt x="179" y="903"/>
                  <a:pt x="178" y="904"/>
                  <a:pt x="178" y="905"/>
                </a:cubicBezTo>
                <a:cubicBezTo>
                  <a:pt x="178" y="905"/>
                  <a:pt x="178" y="905"/>
                  <a:pt x="178" y="905"/>
                </a:cubicBezTo>
                <a:cubicBezTo>
                  <a:pt x="178" y="906"/>
                  <a:pt x="177" y="907"/>
                  <a:pt x="177" y="907"/>
                </a:cubicBezTo>
                <a:cubicBezTo>
                  <a:pt x="177" y="909"/>
                  <a:pt x="179" y="911"/>
                  <a:pt x="181" y="911"/>
                </a:cubicBezTo>
                <a:cubicBezTo>
                  <a:pt x="182" y="911"/>
                  <a:pt x="182" y="911"/>
                  <a:pt x="183" y="911"/>
                </a:cubicBezTo>
                <a:cubicBezTo>
                  <a:pt x="183" y="911"/>
                  <a:pt x="184" y="911"/>
                  <a:pt x="185" y="912"/>
                </a:cubicBezTo>
                <a:cubicBezTo>
                  <a:pt x="184" y="913"/>
                  <a:pt x="184" y="915"/>
                  <a:pt x="183" y="916"/>
                </a:cubicBezTo>
                <a:cubicBezTo>
                  <a:pt x="181" y="918"/>
                  <a:pt x="179" y="919"/>
                  <a:pt x="176" y="920"/>
                </a:cubicBezTo>
                <a:cubicBezTo>
                  <a:pt x="176" y="917"/>
                  <a:pt x="176" y="915"/>
                  <a:pt x="175" y="912"/>
                </a:cubicBezTo>
                <a:cubicBezTo>
                  <a:pt x="173" y="903"/>
                  <a:pt x="173" y="899"/>
                  <a:pt x="173" y="898"/>
                </a:cubicBezTo>
                <a:cubicBezTo>
                  <a:pt x="174" y="897"/>
                  <a:pt x="175" y="897"/>
                  <a:pt x="176" y="896"/>
                </a:cubicBezTo>
                <a:cubicBezTo>
                  <a:pt x="178" y="897"/>
                  <a:pt x="179" y="897"/>
                  <a:pt x="180" y="897"/>
                </a:cubicBezTo>
                <a:cubicBezTo>
                  <a:pt x="184" y="897"/>
                  <a:pt x="187" y="895"/>
                  <a:pt x="188" y="892"/>
                </a:cubicBezTo>
                <a:cubicBezTo>
                  <a:pt x="189" y="893"/>
                  <a:pt x="190" y="893"/>
                  <a:pt x="191" y="893"/>
                </a:cubicBezTo>
                <a:cubicBezTo>
                  <a:pt x="196" y="893"/>
                  <a:pt x="200" y="889"/>
                  <a:pt x="200" y="884"/>
                </a:cubicBezTo>
                <a:cubicBezTo>
                  <a:pt x="200" y="879"/>
                  <a:pt x="197" y="875"/>
                  <a:pt x="192" y="875"/>
                </a:cubicBezTo>
                <a:cubicBezTo>
                  <a:pt x="191" y="872"/>
                  <a:pt x="189" y="870"/>
                  <a:pt x="185" y="870"/>
                </a:cubicBezTo>
                <a:cubicBezTo>
                  <a:pt x="185" y="870"/>
                  <a:pt x="185" y="870"/>
                  <a:pt x="184" y="870"/>
                </a:cubicBezTo>
                <a:cubicBezTo>
                  <a:pt x="184" y="870"/>
                  <a:pt x="184" y="870"/>
                  <a:pt x="183" y="870"/>
                </a:cubicBezTo>
                <a:cubicBezTo>
                  <a:pt x="183" y="870"/>
                  <a:pt x="183" y="870"/>
                  <a:pt x="183" y="870"/>
                </a:cubicBezTo>
                <a:cubicBezTo>
                  <a:pt x="183" y="868"/>
                  <a:pt x="181" y="867"/>
                  <a:pt x="178" y="867"/>
                </a:cubicBezTo>
                <a:cubicBezTo>
                  <a:pt x="178" y="867"/>
                  <a:pt x="178" y="867"/>
                  <a:pt x="178" y="867"/>
                </a:cubicBezTo>
                <a:cubicBezTo>
                  <a:pt x="178" y="859"/>
                  <a:pt x="174" y="858"/>
                  <a:pt x="169" y="858"/>
                </a:cubicBezTo>
                <a:cubicBezTo>
                  <a:pt x="165" y="858"/>
                  <a:pt x="162" y="859"/>
                  <a:pt x="161" y="863"/>
                </a:cubicBezTo>
                <a:cubicBezTo>
                  <a:pt x="161" y="863"/>
                  <a:pt x="160" y="862"/>
                  <a:pt x="160" y="862"/>
                </a:cubicBezTo>
                <a:cubicBezTo>
                  <a:pt x="157" y="862"/>
                  <a:pt x="155" y="865"/>
                  <a:pt x="155" y="868"/>
                </a:cubicBezTo>
                <a:cubicBezTo>
                  <a:pt x="155" y="868"/>
                  <a:pt x="155" y="869"/>
                  <a:pt x="155" y="869"/>
                </a:cubicBezTo>
                <a:cubicBezTo>
                  <a:pt x="153" y="870"/>
                  <a:pt x="151" y="871"/>
                  <a:pt x="149" y="873"/>
                </a:cubicBezTo>
                <a:cubicBezTo>
                  <a:pt x="149" y="873"/>
                  <a:pt x="149" y="873"/>
                  <a:pt x="148" y="874"/>
                </a:cubicBezTo>
                <a:cubicBezTo>
                  <a:pt x="148" y="874"/>
                  <a:pt x="148" y="874"/>
                  <a:pt x="148" y="874"/>
                </a:cubicBezTo>
                <a:cubicBezTo>
                  <a:pt x="145" y="874"/>
                  <a:pt x="143" y="876"/>
                  <a:pt x="143" y="878"/>
                </a:cubicBezTo>
                <a:cubicBezTo>
                  <a:pt x="143" y="879"/>
                  <a:pt x="143" y="879"/>
                  <a:pt x="143" y="880"/>
                </a:cubicBezTo>
                <a:cubicBezTo>
                  <a:pt x="142" y="881"/>
                  <a:pt x="142" y="883"/>
                  <a:pt x="142" y="885"/>
                </a:cubicBezTo>
                <a:cubicBezTo>
                  <a:pt x="142" y="890"/>
                  <a:pt x="146" y="894"/>
                  <a:pt x="151" y="894"/>
                </a:cubicBezTo>
                <a:cubicBezTo>
                  <a:pt x="153" y="894"/>
                  <a:pt x="154" y="893"/>
                  <a:pt x="156" y="893"/>
                </a:cubicBezTo>
                <a:cubicBezTo>
                  <a:pt x="158" y="895"/>
                  <a:pt x="160" y="896"/>
                  <a:pt x="162" y="897"/>
                </a:cubicBezTo>
                <a:cubicBezTo>
                  <a:pt x="164" y="901"/>
                  <a:pt x="167" y="905"/>
                  <a:pt x="169" y="910"/>
                </a:cubicBezTo>
                <a:cubicBezTo>
                  <a:pt x="166" y="909"/>
                  <a:pt x="163" y="908"/>
                  <a:pt x="162" y="907"/>
                </a:cubicBezTo>
                <a:cubicBezTo>
                  <a:pt x="162" y="907"/>
                  <a:pt x="162" y="907"/>
                  <a:pt x="162" y="907"/>
                </a:cubicBezTo>
                <a:cubicBezTo>
                  <a:pt x="162" y="907"/>
                  <a:pt x="163" y="907"/>
                  <a:pt x="163" y="907"/>
                </a:cubicBezTo>
                <a:cubicBezTo>
                  <a:pt x="164" y="907"/>
                  <a:pt x="165" y="906"/>
                  <a:pt x="165" y="905"/>
                </a:cubicBezTo>
                <a:cubicBezTo>
                  <a:pt x="165" y="904"/>
                  <a:pt x="164" y="903"/>
                  <a:pt x="163" y="903"/>
                </a:cubicBezTo>
                <a:cubicBezTo>
                  <a:pt x="163" y="902"/>
                  <a:pt x="162" y="901"/>
                  <a:pt x="162" y="901"/>
                </a:cubicBezTo>
                <a:cubicBezTo>
                  <a:pt x="162" y="901"/>
                  <a:pt x="161" y="901"/>
                  <a:pt x="161" y="901"/>
                </a:cubicBezTo>
                <a:cubicBezTo>
                  <a:pt x="161" y="901"/>
                  <a:pt x="161" y="901"/>
                  <a:pt x="161" y="901"/>
                </a:cubicBezTo>
                <a:cubicBezTo>
                  <a:pt x="161" y="901"/>
                  <a:pt x="161" y="901"/>
                  <a:pt x="161" y="901"/>
                </a:cubicBezTo>
                <a:cubicBezTo>
                  <a:pt x="161" y="900"/>
                  <a:pt x="160" y="899"/>
                  <a:pt x="160" y="899"/>
                </a:cubicBezTo>
                <a:cubicBezTo>
                  <a:pt x="160" y="899"/>
                  <a:pt x="160" y="899"/>
                  <a:pt x="160" y="899"/>
                </a:cubicBezTo>
                <a:cubicBezTo>
                  <a:pt x="160" y="899"/>
                  <a:pt x="159" y="898"/>
                  <a:pt x="158" y="898"/>
                </a:cubicBezTo>
                <a:cubicBezTo>
                  <a:pt x="157" y="898"/>
                  <a:pt x="156" y="898"/>
                  <a:pt x="156" y="899"/>
                </a:cubicBezTo>
                <a:cubicBezTo>
                  <a:pt x="156" y="899"/>
                  <a:pt x="156" y="899"/>
                  <a:pt x="156" y="899"/>
                </a:cubicBezTo>
                <a:cubicBezTo>
                  <a:pt x="155" y="899"/>
                  <a:pt x="154" y="900"/>
                  <a:pt x="154" y="901"/>
                </a:cubicBezTo>
                <a:cubicBezTo>
                  <a:pt x="154" y="901"/>
                  <a:pt x="154" y="901"/>
                  <a:pt x="154" y="901"/>
                </a:cubicBezTo>
                <a:cubicBezTo>
                  <a:pt x="154" y="901"/>
                  <a:pt x="153" y="902"/>
                  <a:pt x="153" y="902"/>
                </a:cubicBezTo>
                <a:cubicBezTo>
                  <a:pt x="153" y="902"/>
                  <a:pt x="153" y="902"/>
                  <a:pt x="153" y="902"/>
                </a:cubicBezTo>
                <a:cubicBezTo>
                  <a:pt x="153" y="902"/>
                  <a:pt x="153" y="902"/>
                  <a:pt x="152" y="902"/>
                </a:cubicBezTo>
                <a:cubicBezTo>
                  <a:pt x="152" y="902"/>
                  <a:pt x="151" y="903"/>
                  <a:pt x="151" y="903"/>
                </a:cubicBezTo>
                <a:cubicBezTo>
                  <a:pt x="151" y="904"/>
                  <a:pt x="151" y="904"/>
                  <a:pt x="151" y="904"/>
                </a:cubicBezTo>
                <a:cubicBezTo>
                  <a:pt x="151" y="904"/>
                  <a:pt x="151" y="905"/>
                  <a:pt x="151" y="905"/>
                </a:cubicBezTo>
                <a:cubicBezTo>
                  <a:pt x="151" y="906"/>
                  <a:pt x="152" y="907"/>
                  <a:pt x="153" y="907"/>
                </a:cubicBezTo>
                <a:cubicBezTo>
                  <a:pt x="154" y="907"/>
                  <a:pt x="154" y="907"/>
                  <a:pt x="154" y="907"/>
                </a:cubicBezTo>
                <a:cubicBezTo>
                  <a:pt x="155" y="908"/>
                  <a:pt x="156" y="908"/>
                  <a:pt x="158" y="908"/>
                </a:cubicBezTo>
                <a:cubicBezTo>
                  <a:pt x="158" y="908"/>
                  <a:pt x="159" y="908"/>
                  <a:pt x="159" y="908"/>
                </a:cubicBezTo>
                <a:cubicBezTo>
                  <a:pt x="160" y="908"/>
                  <a:pt x="160" y="908"/>
                  <a:pt x="160" y="908"/>
                </a:cubicBezTo>
                <a:cubicBezTo>
                  <a:pt x="161" y="908"/>
                  <a:pt x="161" y="908"/>
                  <a:pt x="161" y="908"/>
                </a:cubicBezTo>
                <a:cubicBezTo>
                  <a:pt x="164" y="909"/>
                  <a:pt x="167" y="911"/>
                  <a:pt x="169" y="911"/>
                </a:cubicBezTo>
                <a:cubicBezTo>
                  <a:pt x="169" y="911"/>
                  <a:pt x="169" y="911"/>
                  <a:pt x="169" y="911"/>
                </a:cubicBezTo>
                <a:cubicBezTo>
                  <a:pt x="170" y="914"/>
                  <a:pt x="171" y="917"/>
                  <a:pt x="171" y="919"/>
                </a:cubicBezTo>
                <a:cubicBezTo>
                  <a:pt x="172" y="927"/>
                  <a:pt x="169" y="934"/>
                  <a:pt x="168" y="937"/>
                </a:cubicBezTo>
                <a:cubicBezTo>
                  <a:pt x="167" y="937"/>
                  <a:pt x="166" y="937"/>
                  <a:pt x="166" y="937"/>
                </a:cubicBezTo>
                <a:cubicBezTo>
                  <a:pt x="159" y="937"/>
                  <a:pt x="144" y="936"/>
                  <a:pt x="135" y="937"/>
                </a:cubicBezTo>
                <a:cubicBezTo>
                  <a:pt x="133" y="937"/>
                  <a:pt x="131" y="936"/>
                  <a:pt x="130" y="935"/>
                </a:cubicBezTo>
                <a:cubicBezTo>
                  <a:pt x="126" y="927"/>
                  <a:pt x="118" y="906"/>
                  <a:pt x="119" y="885"/>
                </a:cubicBezTo>
                <a:cubicBezTo>
                  <a:pt x="120" y="877"/>
                  <a:pt x="122" y="870"/>
                  <a:pt x="125" y="862"/>
                </a:cubicBezTo>
                <a:cubicBezTo>
                  <a:pt x="126" y="862"/>
                  <a:pt x="126" y="862"/>
                  <a:pt x="127" y="862"/>
                </a:cubicBezTo>
                <a:cubicBezTo>
                  <a:pt x="131" y="861"/>
                  <a:pt x="140" y="857"/>
                  <a:pt x="148" y="853"/>
                </a:cubicBezTo>
                <a:cubicBezTo>
                  <a:pt x="148" y="853"/>
                  <a:pt x="149" y="854"/>
                  <a:pt x="150" y="854"/>
                </a:cubicBezTo>
                <a:cubicBezTo>
                  <a:pt x="151" y="854"/>
                  <a:pt x="152" y="853"/>
                  <a:pt x="153" y="853"/>
                </a:cubicBezTo>
                <a:cubicBezTo>
                  <a:pt x="154" y="854"/>
                  <a:pt x="156" y="854"/>
                  <a:pt x="158" y="854"/>
                </a:cubicBezTo>
                <a:cubicBezTo>
                  <a:pt x="161" y="854"/>
                  <a:pt x="165" y="853"/>
                  <a:pt x="167" y="850"/>
                </a:cubicBezTo>
                <a:cubicBezTo>
                  <a:pt x="168" y="851"/>
                  <a:pt x="169" y="851"/>
                  <a:pt x="170" y="851"/>
                </a:cubicBezTo>
                <a:cubicBezTo>
                  <a:pt x="173" y="851"/>
                  <a:pt x="176" y="848"/>
                  <a:pt x="176" y="845"/>
                </a:cubicBezTo>
                <a:cubicBezTo>
                  <a:pt x="176" y="844"/>
                  <a:pt x="176" y="842"/>
                  <a:pt x="175" y="841"/>
                </a:cubicBezTo>
                <a:cubicBezTo>
                  <a:pt x="175" y="841"/>
                  <a:pt x="175" y="841"/>
                  <a:pt x="175" y="840"/>
                </a:cubicBezTo>
                <a:cubicBezTo>
                  <a:pt x="175" y="839"/>
                  <a:pt x="174" y="837"/>
                  <a:pt x="172" y="837"/>
                </a:cubicBezTo>
                <a:cubicBezTo>
                  <a:pt x="172" y="837"/>
                  <a:pt x="172" y="837"/>
                  <a:pt x="172" y="837"/>
                </a:cubicBezTo>
                <a:cubicBezTo>
                  <a:pt x="172" y="837"/>
                  <a:pt x="171" y="837"/>
                  <a:pt x="171" y="837"/>
                </a:cubicBezTo>
                <a:cubicBezTo>
                  <a:pt x="170" y="836"/>
                  <a:pt x="169" y="835"/>
                  <a:pt x="167" y="834"/>
                </a:cubicBezTo>
                <a:cubicBezTo>
                  <a:pt x="167" y="834"/>
                  <a:pt x="167" y="834"/>
                  <a:pt x="167" y="833"/>
                </a:cubicBezTo>
                <a:cubicBezTo>
                  <a:pt x="167" y="831"/>
                  <a:pt x="166" y="830"/>
                  <a:pt x="164" y="830"/>
                </a:cubicBezTo>
                <a:cubicBezTo>
                  <a:pt x="163" y="830"/>
                  <a:pt x="163" y="830"/>
                  <a:pt x="163" y="830"/>
                </a:cubicBezTo>
                <a:cubicBezTo>
                  <a:pt x="162" y="827"/>
                  <a:pt x="160" y="826"/>
                  <a:pt x="158" y="826"/>
                </a:cubicBezTo>
                <a:cubicBezTo>
                  <a:pt x="154" y="826"/>
                  <a:pt x="152" y="829"/>
                  <a:pt x="151" y="832"/>
                </a:cubicBezTo>
                <a:cubicBezTo>
                  <a:pt x="151" y="832"/>
                  <a:pt x="151" y="832"/>
                  <a:pt x="151" y="832"/>
                </a:cubicBezTo>
                <a:cubicBezTo>
                  <a:pt x="150" y="832"/>
                  <a:pt x="148" y="833"/>
                  <a:pt x="148" y="835"/>
                </a:cubicBezTo>
                <a:cubicBezTo>
                  <a:pt x="148" y="835"/>
                  <a:pt x="148" y="835"/>
                  <a:pt x="148" y="835"/>
                </a:cubicBezTo>
                <a:cubicBezTo>
                  <a:pt x="148" y="835"/>
                  <a:pt x="147" y="835"/>
                  <a:pt x="147" y="835"/>
                </a:cubicBezTo>
                <a:cubicBezTo>
                  <a:pt x="147" y="835"/>
                  <a:pt x="147" y="835"/>
                  <a:pt x="146" y="835"/>
                </a:cubicBezTo>
                <a:cubicBezTo>
                  <a:pt x="144" y="835"/>
                  <a:pt x="143" y="836"/>
                  <a:pt x="142" y="838"/>
                </a:cubicBezTo>
                <a:cubicBezTo>
                  <a:pt x="139" y="838"/>
                  <a:pt x="136" y="841"/>
                  <a:pt x="136" y="844"/>
                </a:cubicBezTo>
                <a:cubicBezTo>
                  <a:pt x="136" y="848"/>
                  <a:pt x="139" y="850"/>
                  <a:pt x="143" y="850"/>
                </a:cubicBezTo>
                <a:cubicBezTo>
                  <a:pt x="143" y="850"/>
                  <a:pt x="144" y="850"/>
                  <a:pt x="145" y="850"/>
                </a:cubicBezTo>
                <a:cubicBezTo>
                  <a:pt x="145" y="851"/>
                  <a:pt x="146" y="851"/>
                  <a:pt x="146" y="852"/>
                </a:cubicBezTo>
                <a:cubicBezTo>
                  <a:pt x="142" y="854"/>
                  <a:pt x="135" y="857"/>
                  <a:pt x="126" y="859"/>
                </a:cubicBezTo>
                <a:cubicBezTo>
                  <a:pt x="132" y="846"/>
                  <a:pt x="140" y="833"/>
                  <a:pt x="144" y="823"/>
                </a:cubicBezTo>
                <a:cubicBezTo>
                  <a:pt x="151" y="820"/>
                  <a:pt x="158" y="816"/>
                  <a:pt x="163" y="810"/>
                </a:cubicBezTo>
                <a:cubicBezTo>
                  <a:pt x="167" y="812"/>
                  <a:pt x="172" y="814"/>
                  <a:pt x="177" y="814"/>
                </a:cubicBezTo>
                <a:cubicBezTo>
                  <a:pt x="191" y="814"/>
                  <a:pt x="202" y="802"/>
                  <a:pt x="202" y="788"/>
                </a:cubicBezTo>
                <a:cubicBezTo>
                  <a:pt x="202" y="783"/>
                  <a:pt x="201" y="778"/>
                  <a:pt x="198" y="774"/>
                </a:cubicBezTo>
                <a:cubicBezTo>
                  <a:pt x="198" y="773"/>
                  <a:pt x="199" y="771"/>
                  <a:pt x="199" y="770"/>
                </a:cubicBezTo>
                <a:cubicBezTo>
                  <a:pt x="199" y="762"/>
                  <a:pt x="193" y="757"/>
                  <a:pt x="185" y="757"/>
                </a:cubicBezTo>
                <a:cubicBezTo>
                  <a:pt x="185" y="757"/>
                  <a:pt x="185" y="757"/>
                  <a:pt x="184" y="757"/>
                </a:cubicBezTo>
                <a:cubicBezTo>
                  <a:pt x="183" y="756"/>
                  <a:pt x="182" y="756"/>
                  <a:pt x="181" y="755"/>
                </a:cubicBezTo>
                <a:cubicBezTo>
                  <a:pt x="177" y="750"/>
                  <a:pt x="172" y="746"/>
                  <a:pt x="166" y="745"/>
                </a:cubicBezTo>
                <a:cubicBezTo>
                  <a:pt x="166" y="743"/>
                  <a:pt x="166" y="742"/>
                  <a:pt x="166" y="741"/>
                </a:cubicBezTo>
                <a:cubicBezTo>
                  <a:pt x="166" y="732"/>
                  <a:pt x="159" y="725"/>
                  <a:pt x="150" y="725"/>
                </a:cubicBezTo>
                <a:cubicBezTo>
                  <a:pt x="150" y="725"/>
                  <a:pt x="149" y="725"/>
                  <a:pt x="149" y="725"/>
                </a:cubicBezTo>
                <a:cubicBezTo>
                  <a:pt x="145" y="716"/>
                  <a:pt x="136" y="710"/>
                  <a:pt x="126" y="710"/>
                </a:cubicBezTo>
                <a:cubicBezTo>
                  <a:pt x="112" y="710"/>
                  <a:pt x="101" y="720"/>
                  <a:pt x="100" y="734"/>
                </a:cubicBezTo>
                <a:cubicBezTo>
                  <a:pt x="100" y="734"/>
                  <a:pt x="100" y="734"/>
                  <a:pt x="99" y="734"/>
                </a:cubicBezTo>
                <a:cubicBezTo>
                  <a:pt x="93" y="734"/>
                  <a:pt x="87" y="739"/>
                  <a:pt x="86" y="745"/>
                </a:cubicBezTo>
                <a:cubicBezTo>
                  <a:pt x="86" y="745"/>
                  <a:pt x="86" y="745"/>
                  <a:pt x="86" y="745"/>
                </a:cubicBezTo>
                <a:cubicBezTo>
                  <a:pt x="85" y="745"/>
                  <a:pt x="83" y="745"/>
                  <a:pt x="82" y="746"/>
                </a:cubicBezTo>
                <a:cubicBezTo>
                  <a:pt x="82" y="746"/>
                  <a:pt x="81" y="745"/>
                  <a:pt x="80" y="745"/>
                </a:cubicBezTo>
                <a:cubicBezTo>
                  <a:pt x="71" y="745"/>
                  <a:pt x="63" y="752"/>
                  <a:pt x="61" y="760"/>
                </a:cubicBezTo>
                <a:cubicBezTo>
                  <a:pt x="48" y="761"/>
                  <a:pt x="38" y="772"/>
                  <a:pt x="38" y="786"/>
                </a:cubicBezTo>
                <a:cubicBezTo>
                  <a:pt x="38" y="800"/>
                  <a:pt x="49" y="811"/>
                  <a:pt x="64" y="811"/>
                </a:cubicBezTo>
                <a:cubicBezTo>
                  <a:pt x="67" y="811"/>
                  <a:pt x="71" y="810"/>
                  <a:pt x="74" y="809"/>
                </a:cubicBezTo>
                <a:cubicBezTo>
                  <a:pt x="77" y="818"/>
                  <a:pt x="85" y="824"/>
                  <a:pt x="94" y="824"/>
                </a:cubicBezTo>
                <a:cubicBezTo>
                  <a:pt x="98" y="824"/>
                  <a:pt x="102" y="823"/>
                  <a:pt x="105" y="821"/>
                </a:cubicBezTo>
                <a:cubicBezTo>
                  <a:pt x="108" y="822"/>
                  <a:pt x="111" y="823"/>
                  <a:pt x="115" y="824"/>
                </a:cubicBezTo>
                <a:cubicBezTo>
                  <a:pt x="115" y="829"/>
                  <a:pt x="115" y="840"/>
                  <a:pt x="109" y="865"/>
                </a:cubicBezTo>
                <a:cubicBezTo>
                  <a:pt x="107" y="872"/>
                  <a:pt x="106" y="880"/>
                  <a:pt x="105" y="887"/>
                </a:cubicBezTo>
                <a:cubicBezTo>
                  <a:pt x="97" y="884"/>
                  <a:pt x="91" y="880"/>
                  <a:pt x="86" y="877"/>
                </a:cubicBezTo>
                <a:cubicBezTo>
                  <a:pt x="84" y="873"/>
                  <a:pt x="83" y="868"/>
                  <a:pt x="82" y="864"/>
                </a:cubicBezTo>
                <a:cubicBezTo>
                  <a:pt x="84" y="863"/>
                  <a:pt x="85" y="862"/>
                  <a:pt x="87" y="860"/>
                </a:cubicBezTo>
                <a:cubicBezTo>
                  <a:pt x="88" y="861"/>
                  <a:pt x="90" y="862"/>
                  <a:pt x="92" y="862"/>
                </a:cubicBezTo>
                <a:cubicBezTo>
                  <a:pt x="98" y="862"/>
                  <a:pt x="102" y="857"/>
                  <a:pt x="102" y="852"/>
                </a:cubicBezTo>
                <a:cubicBezTo>
                  <a:pt x="102" y="850"/>
                  <a:pt x="102" y="848"/>
                  <a:pt x="101" y="846"/>
                </a:cubicBezTo>
                <a:cubicBezTo>
                  <a:pt x="101" y="845"/>
                  <a:pt x="101" y="845"/>
                  <a:pt x="101" y="844"/>
                </a:cubicBezTo>
                <a:cubicBezTo>
                  <a:pt x="101" y="841"/>
                  <a:pt x="98" y="839"/>
                  <a:pt x="96" y="839"/>
                </a:cubicBezTo>
                <a:cubicBezTo>
                  <a:pt x="95" y="839"/>
                  <a:pt x="95" y="839"/>
                  <a:pt x="95" y="839"/>
                </a:cubicBezTo>
                <a:cubicBezTo>
                  <a:pt x="95" y="839"/>
                  <a:pt x="94" y="839"/>
                  <a:pt x="94" y="839"/>
                </a:cubicBezTo>
                <a:cubicBezTo>
                  <a:pt x="92" y="837"/>
                  <a:pt x="90" y="835"/>
                  <a:pt x="88" y="834"/>
                </a:cubicBezTo>
                <a:cubicBezTo>
                  <a:pt x="88" y="834"/>
                  <a:pt x="88" y="833"/>
                  <a:pt x="88" y="833"/>
                </a:cubicBezTo>
                <a:cubicBezTo>
                  <a:pt x="88" y="829"/>
                  <a:pt x="85" y="826"/>
                  <a:pt x="82" y="826"/>
                </a:cubicBezTo>
                <a:cubicBezTo>
                  <a:pt x="81" y="826"/>
                  <a:pt x="81" y="826"/>
                  <a:pt x="81" y="826"/>
                </a:cubicBezTo>
                <a:cubicBezTo>
                  <a:pt x="79" y="823"/>
                  <a:pt x="76" y="820"/>
                  <a:pt x="72" y="820"/>
                </a:cubicBezTo>
                <a:cubicBezTo>
                  <a:pt x="66" y="820"/>
                  <a:pt x="62" y="825"/>
                  <a:pt x="62" y="830"/>
                </a:cubicBezTo>
                <a:cubicBezTo>
                  <a:pt x="62" y="830"/>
                  <a:pt x="61" y="830"/>
                  <a:pt x="61" y="830"/>
                </a:cubicBezTo>
                <a:cubicBezTo>
                  <a:pt x="59" y="830"/>
                  <a:pt x="57" y="832"/>
                  <a:pt x="56" y="835"/>
                </a:cubicBezTo>
                <a:cubicBezTo>
                  <a:pt x="56" y="835"/>
                  <a:pt x="56" y="835"/>
                  <a:pt x="56" y="835"/>
                </a:cubicBezTo>
                <a:cubicBezTo>
                  <a:pt x="56" y="835"/>
                  <a:pt x="55" y="835"/>
                  <a:pt x="55" y="835"/>
                </a:cubicBezTo>
                <a:cubicBezTo>
                  <a:pt x="54" y="835"/>
                  <a:pt x="54" y="835"/>
                  <a:pt x="53" y="835"/>
                </a:cubicBezTo>
                <a:cubicBezTo>
                  <a:pt x="50" y="835"/>
                  <a:pt x="47" y="837"/>
                  <a:pt x="46" y="840"/>
                </a:cubicBezTo>
                <a:cubicBezTo>
                  <a:pt x="41" y="841"/>
                  <a:pt x="37" y="845"/>
                  <a:pt x="37" y="851"/>
                </a:cubicBezTo>
                <a:cubicBezTo>
                  <a:pt x="37" y="856"/>
                  <a:pt x="41" y="861"/>
                  <a:pt x="47" y="861"/>
                </a:cubicBezTo>
                <a:cubicBezTo>
                  <a:pt x="49" y="861"/>
                  <a:pt x="50" y="861"/>
                  <a:pt x="51" y="860"/>
                </a:cubicBezTo>
                <a:cubicBezTo>
                  <a:pt x="52" y="863"/>
                  <a:pt x="55" y="866"/>
                  <a:pt x="59" y="866"/>
                </a:cubicBezTo>
                <a:cubicBezTo>
                  <a:pt x="61" y="866"/>
                  <a:pt x="62" y="865"/>
                  <a:pt x="64" y="865"/>
                </a:cubicBezTo>
                <a:cubicBezTo>
                  <a:pt x="66" y="866"/>
                  <a:pt x="69" y="867"/>
                  <a:pt x="71" y="867"/>
                </a:cubicBezTo>
                <a:cubicBezTo>
                  <a:pt x="76" y="873"/>
                  <a:pt x="84" y="879"/>
                  <a:pt x="89" y="883"/>
                </a:cubicBezTo>
                <a:cubicBezTo>
                  <a:pt x="90" y="885"/>
                  <a:pt x="90" y="885"/>
                  <a:pt x="90" y="883"/>
                </a:cubicBezTo>
                <a:cubicBezTo>
                  <a:pt x="91" y="885"/>
                  <a:pt x="93" y="886"/>
                  <a:pt x="94" y="886"/>
                </a:cubicBezTo>
                <a:cubicBezTo>
                  <a:pt x="99" y="888"/>
                  <a:pt x="102" y="892"/>
                  <a:pt x="104" y="895"/>
                </a:cubicBezTo>
                <a:cubicBezTo>
                  <a:pt x="102" y="910"/>
                  <a:pt x="102" y="923"/>
                  <a:pt x="102" y="931"/>
                </a:cubicBezTo>
                <a:cubicBezTo>
                  <a:pt x="102" y="931"/>
                  <a:pt x="102" y="931"/>
                  <a:pt x="102" y="931"/>
                </a:cubicBezTo>
                <a:cubicBezTo>
                  <a:pt x="102" y="931"/>
                  <a:pt x="103" y="937"/>
                  <a:pt x="92" y="938"/>
                </a:cubicBezTo>
                <a:cubicBezTo>
                  <a:pt x="86" y="939"/>
                  <a:pt x="83" y="939"/>
                  <a:pt x="81" y="939"/>
                </a:cubicBezTo>
                <a:cubicBezTo>
                  <a:pt x="81" y="939"/>
                  <a:pt x="81" y="939"/>
                  <a:pt x="81" y="939"/>
                </a:cubicBezTo>
                <a:cubicBezTo>
                  <a:pt x="75" y="939"/>
                  <a:pt x="52" y="939"/>
                  <a:pt x="46" y="942"/>
                </a:cubicBezTo>
                <a:cubicBezTo>
                  <a:pt x="41" y="945"/>
                  <a:pt x="57" y="946"/>
                  <a:pt x="79" y="947"/>
                </a:cubicBezTo>
                <a:cubicBezTo>
                  <a:pt x="60" y="949"/>
                  <a:pt x="45" y="951"/>
                  <a:pt x="37" y="956"/>
                </a:cubicBezTo>
                <a:cubicBezTo>
                  <a:pt x="9" y="970"/>
                  <a:pt x="143" y="978"/>
                  <a:pt x="272" y="973"/>
                </a:cubicBezTo>
                <a:cubicBezTo>
                  <a:pt x="401" y="969"/>
                  <a:pt x="457" y="973"/>
                  <a:pt x="535" y="970"/>
                </a:cubicBezTo>
                <a:cubicBezTo>
                  <a:pt x="612" y="967"/>
                  <a:pt x="762" y="956"/>
                  <a:pt x="696" y="951"/>
                </a:cubicBezTo>
                <a:close/>
                <a:moveTo>
                  <a:pt x="611" y="833"/>
                </a:moveTo>
                <a:cubicBezTo>
                  <a:pt x="613" y="834"/>
                  <a:pt x="616" y="835"/>
                  <a:pt x="619" y="835"/>
                </a:cubicBezTo>
                <a:cubicBezTo>
                  <a:pt x="616" y="838"/>
                  <a:pt x="613" y="841"/>
                  <a:pt x="610" y="844"/>
                </a:cubicBezTo>
                <a:cubicBezTo>
                  <a:pt x="610" y="842"/>
                  <a:pt x="610" y="838"/>
                  <a:pt x="611" y="833"/>
                </a:cubicBezTo>
                <a:close/>
                <a:moveTo>
                  <a:pt x="153" y="645"/>
                </a:moveTo>
                <a:cubicBezTo>
                  <a:pt x="161" y="645"/>
                  <a:pt x="169" y="643"/>
                  <a:pt x="176" y="640"/>
                </a:cubicBezTo>
                <a:cubicBezTo>
                  <a:pt x="176" y="653"/>
                  <a:pt x="178" y="665"/>
                  <a:pt x="178" y="670"/>
                </a:cubicBezTo>
                <a:cubicBezTo>
                  <a:pt x="168" y="661"/>
                  <a:pt x="160" y="653"/>
                  <a:pt x="153" y="645"/>
                </a:cubicBezTo>
                <a:close/>
                <a:moveTo>
                  <a:pt x="185" y="912"/>
                </a:moveTo>
                <a:cubicBezTo>
                  <a:pt x="186" y="913"/>
                  <a:pt x="187" y="913"/>
                  <a:pt x="187" y="913"/>
                </a:cubicBezTo>
                <a:cubicBezTo>
                  <a:pt x="187" y="913"/>
                  <a:pt x="186" y="914"/>
                  <a:pt x="185" y="915"/>
                </a:cubicBezTo>
                <a:cubicBezTo>
                  <a:pt x="185" y="914"/>
                  <a:pt x="185" y="913"/>
                  <a:pt x="185" y="912"/>
                </a:cubicBezTo>
                <a:close/>
                <a:moveTo>
                  <a:pt x="74" y="867"/>
                </a:moveTo>
                <a:cubicBezTo>
                  <a:pt x="76" y="866"/>
                  <a:pt x="78" y="866"/>
                  <a:pt x="80" y="865"/>
                </a:cubicBezTo>
                <a:cubicBezTo>
                  <a:pt x="80" y="869"/>
                  <a:pt x="80" y="871"/>
                  <a:pt x="80" y="873"/>
                </a:cubicBezTo>
                <a:cubicBezTo>
                  <a:pt x="78" y="870"/>
                  <a:pt x="76" y="868"/>
                  <a:pt x="74" y="867"/>
                </a:cubicBezTo>
                <a:close/>
                <a:moveTo>
                  <a:pt x="547" y="807"/>
                </a:moveTo>
                <a:cubicBezTo>
                  <a:pt x="547" y="807"/>
                  <a:pt x="547" y="807"/>
                  <a:pt x="547" y="807"/>
                </a:cubicBezTo>
                <a:cubicBezTo>
                  <a:pt x="542" y="801"/>
                  <a:pt x="535" y="786"/>
                  <a:pt x="530" y="774"/>
                </a:cubicBezTo>
                <a:cubicBezTo>
                  <a:pt x="534" y="775"/>
                  <a:pt x="537" y="775"/>
                  <a:pt x="541" y="775"/>
                </a:cubicBezTo>
                <a:cubicBezTo>
                  <a:pt x="542" y="775"/>
                  <a:pt x="544" y="775"/>
                  <a:pt x="544" y="775"/>
                </a:cubicBezTo>
                <a:cubicBezTo>
                  <a:pt x="544" y="775"/>
                  <a:pt x="544" y="775"/>
                  <a:pt x="544" y="776"/>
                </a:cubicBezTo>
                <a:cubicBezTo>
                  <a:pt x="544" y="776"/>
                  <a:pt x="545" y="777"/>
                  <a:pt x="545" y="778"/>
                </a:cubicBezTo>
                <a:cubicBezTo>
                  <a:pt x="545" y="779"/>
                  <a:pt x="545" y="779"/>
                  <a:pt x="545" y="779"/>
                </a:cubicBezTo>
                <a:cubicBezTo>
                  <a:pt x="545" y="780"/>
                  <a:pt x="546" y="781"/>
                  <a:pt x="546" y="782"/>
                </a:cubicBezTo>
                <a:cubicBezTo>
                  <a:pt x="546" y="782"/>
                  <a:pt x="546" y="783"/>
                  <a:pt x="546" y="783"/>
                </a:cubicBezTo>
                <a:cubicBezTo>
                  <a:pt x="546" y="784"/>
                  <a:pt x="546" y="786"/>
                  <a:pt x="546" y="787"/>
                </a:cubicBezTo>
                <a:cubicBezTo>
                  <a:pt x="546" y="788"/>
                  <a:pt x="546" y="788"/>
                  <a:pt x="546" y="789"/>
                </a:cubicBezTo>
                <a:cubicBezTo>
                  <a:pt x="546" y="790"/>
                  <a:pt x="546" y="790"/>
                  <a:pt x="546" y="791"/>
                </a:cubicBezTo>
                <a:cubicBezTo>
                  <a:pt x="547" y="791"/>
                  <a:pt x="547" y="792"/>
                  <a:pt x="547" y="793"/>
                </a:cubicBezTo>
                <a:cubicBezTo>
                  <a:pt x="547" y="793"/>
                  <a:pt x="547" y="794"/>
                  <a:pt x="547" y="794"/>
                </a:cubicBezTo>
                <a:cubicBezTo>
                  <a:pt x="547" y="795"/>
                  <a:pt x="547" y="795"/>
                  <a:pt x="547" y="796"/>
                </a:cubicBezTo>
                <a:cubicBezTo>
                  <a:pt x="547" y="797"/>
                  <a:pt x="547" y="797"/>
                  <a:pt x="547" y="797"/>
                </a:cubicBezTo>
                <a:cubicBezTo>
                  <a:pt x="547" y="798"/>
                  <a:pt x="547" y="799"/>
                  <a:pt x="547" y="800"/>
                </a:cubicBezTo>
                <a:cubicBezTo>
                  <a:pt x="547" y="800"/>
                  <a:pt x="547" y="800"/>
                  <a:pt x="547" y="800"/>
                </a:cubicBezTo>
                <a:cubicBezTo>
                  <a:pt x="548" y="801"/>
                  <a:pt x="548" y="802"/>
                  <a:pt x="548" y="803"/>
                </a:cubicBezTo>
                <a:cubicBezTo>
                  <a:pt x="548" y="803"/>
                  <a:pt x="548" y="803"/>
                  <a:pt x="548" y="803"/>
                </a:cubicBezTo>
                <a:cubicBezTo>
                  <a:pt x="548" y="804"/>
                  <a:pt x="548" y="805"/>
                  <a:pt x="548" y="805"/>
                </a:cubicBezTo>
                <a:cubicBezTo>
                  <a:pt x="548" y="805"/>
                  <a:pt x="548" y="806"/>
                  <a:pt x="548" y="806"/>
                </a:cubicBezTo>
                <a:cubicBezTo>
                  <a:pt x="548" y="806"/>
                  <a:pt x="548" y="807"/>
                  <a:pt x="548" y="807"/>
                </a:cubicBezTo>
                <a:cubicBezTo>
                  <a:pt x="548" y="807"/>
                  <a:pt x="548" y="807"/>
                  <a:pt x="548" y="807"/>
                </a:cubicBezTo>
                <a:cubicBezTo>
                  <a:pt x="548" y="808"/>
                  <a:pt x="548" y="808"/>
                  <a:pt x="548" y="808"/>
                </a:cubicBezTo>
                <a:cubicBezTo>
                  <a:pt x="548" y="808"/>
                  <a:pt x="548" y="808"/>
                  <a:pt x="548" y="808"/>
                </a:cubicBezTo>
                <a:cubicBezTo>
                  <a:pt x="548" y="809"/>
                  <a:pt x="548" y="809"/>
                  <a:pt x="548" y="809"/>
                </a:cubicBezTo>
                <a:cubicBezTo>
                  <a:pt x="548" y="808"/>
                  <a:pt x="548" y="808"/>
                  <a:pt x="547" y="807"/>
                </a:cubicBezTo>
                <a:close/>
                <a:moveTo>
                  <a:pt x="399" y="482"/>
                </a:moveTo>
                <a:cubicBezTo>
                  <a:pt x="399" y="483"/>
                  <a:pt x="398" y="484"/>
                  <a:pt x="398" y="485"/>
                </a:cubicBezTo>
                <a:cubicBezTo>
                  <a:pt x="397" y="486"/>
                  <a:pt x="397" y="487"/>
                  <a:pt x="397" y="488"/>
                </a:cubicBezTo>
                <a:cubicBezTo>
                  <a:pt x="396" y="489"/>
                  <a:pt x="396" y="490"/>
                  <a:pt x="395" y="491"/>
                </a:cubicBezTo>
                <a:cubicBezTo>
                  <a:pt x="395" y="492"/>
                  <a:pt x="394" y="494"/>
                  <a:pt x="394" y="495"/>
                </a:cubicBezTo>
                <a:cubicBezTo>
                  <a:pt x="393" y="495"/>
                  <a:pt x="393" y="496"/>
                  <a:pt x="393" y="497"/>
                </a:cubicBezTo>
                <a:cubicBezTo>
                  <a:pt x="392" y="498"/>
                  <a:pt x="391" y="500"/>
                  <a:pt x="390" y="502"/>
                </a:cubicBezTo>
                <a:cubicBezTo>
                  <a:pt x="390" y="502"/>
                  <a:pt x="390" y="502"/>
                  <a:pt x="390" y="502"/>
                </a:cubicBezTo>
                <a:cubicBezTo>
                  <a:pt x="389" y="504"/>
                  <a:pt x="388" y="506"/>
                  <a:pt x="388" y="508"/>
                </a:cubicBezTo>
                <a:cubicBezTo>
                  <a:pt x="388" y="508"/>
                  <a:pt x="387" y="508"/>
                  <a:pt x="387" y="508"/>
                </a:cubicBezTo>
                <a:cubicBezTo>
                  <a:pt x="385" y="512"/>
                  <a:pt x="384" y="516"/>
                  <a:pt x="382" y="520"/>
                </a:cubicBezTo>
                <a:cubicBezTo>
                  <a:pt x="382" y="520"/>
                  <a:pt x="382" y="520"/>
                  <a:pt x="382" y="520"/>
                </a:cubicBezTo>
                <a:cubicBezTo>
                  <a:pt x="376" y="532"/>
                  <a:pt x="370" y="543"/>
                  <a:pt x="364" y="553"/>
                </a:cubicBezTo>
                <a:cubicBezTo>
                  <a:pt x="364" y="553"/>
                  <a:pt x="364" y="553"/>
                  <a:pt x="364" y="553"/>
                </a:cubicBezTo>
                <a:cubicBezTo>
                  <a:pt x="362" y="556"/>
                  <a:pt x="360" y="559"/>
                  <a:pt x="358" y="561"/>
                </a:cubicBezTo>
                <a:cubicBezTo>
                  <a:pt x="358" y="562"/>
                  <a:pt x="358" y="562"/>
                  <a:pt x="358" y="562"/>
                </a:cubicBezTo>
                <a:cubicBezTo>
                  <a:pt x="356" y="564"/>
                  <a:pt x="355" y="566"/>
                  <a:pt x="353" y="568"/>
                </a:cubicBezTo>
                <a:cubicBezTo>
                  <a:pt x="353" y="569"/>
                  <a:pt x="353" y="569"/>
                  <a:pt x="353" y="569"/>
                </a:cubicBezTo>
                <a:cubicBezTo>
                  <a:pt x="352" y="570"/>
                  <a:pt x="351" y="571"/>
                  <a:pt x="350" y="572"/>
                </a:cubicBezTo>
                <a:cubicBezTo>
                  <a:pt x="350" y="572"/>
                  <a:pt x="350" y="571"/>
                  <a:pt x="350" y="571"/>
                </a:cubicBezTo>
                <a:cubicBezTo>
                  <a:pt x="350" y="571"/>
                  <a:pt x="350" y="571"/>
                  <a:pt x="350" y="571"/>
                </a:cubicBezTo>
                <a:cubicBezTo>
                  <a:pt x="350" y="571"/>
                  <a:pt x="350" y="571"/>
                  <a:pt x="350" y="571"/>
                </a:cubicBezTo>
                <a:cubicBezTo>
                  <a:pt x="350" y="570"/>
                  <a:pt x="350" y="570"/>
                  <a:pt x="350" y="570"/>
                </a:cubicBezTo>
                <a:cubicBezTo>
                  <a:pt x="350" y="570"/>
                  <a:pt x="350" y="570"/>
                  <a:pt x="350" y="569"/>
                </a:cubicBezTo>
                <a:cubicBezTo>
                  <a:pt x="350" y="569"/>
                  <a:pt x="351" y="569"/>
                  <a:pt x="351" y="569"/>
                </a:cubicBezTo>
                <a:cubicBezTo>
                  <a:pt x="351" y="568"/>
                  <a:pt x="351" y="567"/>
                  <a:pt x="351" y="565"/>
                </a:cubicBezTo>
                <a:cubicBezTo>
                  <a:pt x="351" y="565"/>
                  <a:pt x="351" y="565"/>
                  <a:pt x="351" y="565"/>
                </a:cubicBezTo>
                <a:cubicBezTo>
                  <a:pt x="351" y="564"/>
                  <a:pt x="351" y="563"/>
                  <a:pt x="351" y="562"/>
                </a:cubicBezTo>
                <a:cubicBezTo>
                  <a:pt x="351" y="562"/>
                  <a:pt x="351" y="562"/>
                  <a:pt x="351" y="562"/>
                </a:cubicBezTo>
                <a:cubicBezTo>
                  <a:pt x="352" y="561"/>
                  <a:pt x="352" y="560"/>
                  <a:pt x="352" y="559"/>
                </a:cubicBezTo>
                <a:cubicBezTo>
                  <a:pt x="352" y="559"/>
                  <a:pt x="352" y="559"/>
                  <a:pt x="352" y="559"/>
                </a:cubicBezTo>
                <a:cubicBezTo>
                  <a:pt x="352" y="556"/>
                  <a:pt x="353" y="552"/>
                  <a:pt x="353" y="548"/>
                </a:cubicBezTo>
                <a:cubicBezTo>
                  <a:pt x="353" y="547"/>
                  <a:pt x="353" y="547"/>
                  <a:pt x="353" y="547"/>
                </a:cubicBezTo>
                <a:cubicBezTo>
                  <a:pt x="353" y="546"/>
                  <a:pt x="354" y="545"/>
                  <a:pt x="354" y="543"/>
                </a:cubicBezTo>
                <a:cubicBezTo>
                  <a:pt x="354" y="543"/>
                  <a:pt x="354" y="543"/>
                  <a:pt x="354" y="543"/>
                </a:cubicBezTo>
                <a:cubicBezTo>
                  <a:pt x="354" y="541"/>
                  <a:pt x="354" y="540"/>
                  <a:pt x="354" y="538"/>
                </a:cubicBezTo>
                <a:cubicBezTo>
                  <a:pt x="354" y="538"/>
                  <a:pt x="354" y="538"/>
                  <a:pt x="354" y="538"/>
                </a:cubicBezTo>
                <a:cubicBezTo>
                  <a:pt x="355" y="533"/>
                  <a:pt x="355" y="528"/>
                  <a:pt x="356" y="523"/>
                </a:cubicBezTo>
                <a:cubicBezTo>
                  <a:pt x="356" y="523"/>
                  <a:pt x="356" y="523"/>
                  <a:pt x="356" y="522"/>
                </a:cubicBezTo>
                <a:cubicBezTo>
                  <a:pt x="356" y="521"/>
                  <a:pt x="356" y="519"/>
                  <a:pt x="356" y="517"/>
                </a:cubicBezTo>
                <a:cubicBezTo>
                  <a:pt x="356" y="517"/>
                  <a:pt x="356" y="517"/>
                  <a:pt x="356" y="517"/>
                </a:cubicBezTo>
                <a:cubicBezTo>
                  <a:pt x="357" y="504"/>
                  <a:pt x="358" y="491"/>
                  <a:pt x="358" y="478"/>
                </a:cubicBezTo>
                <a:cubicBezTo>
                  <a:pt x="362" y="478"/>
                  <a:pt x="366" y="478"/>
                  <a:pt x="369" y="478"/>
                </a:cubicBezTo>
                <a:cubicBezTo>
                  <a:pt x="380" y="478"/>
                  <a:pt x="391" y="477"/>
                  <a:pt x="402" y="476"/>
                </a:cubicBezTo>
                <a:cubicBezTo>
                  <a:pt x="401" y="477"/>
                  <a:pt x="400" y="479"/>
                  <a:pt x="400" y="481"/>
                </a:cubicBezTo>
                <a:cubicBezTo>
                  <a:pt x="399" y="481"/>
                  <a:pt x="399" y="481"/>
                  <a:pt x="399" y="482"/>
                </a:cubicBezTo>
                <a:close/>
                <a:moveTo>
                  <a:pt x="170" y="906"/>
                </a:moveTo>
                <a:cubicBezTo>
                  <a:pt x="170" y="906"/>
                  <a:pt x="170" y="906"/>
                  <a:pt x="170" y="906"/>
                </a:cubicBezTo>
                <a:cubicBezTo>
                  <a:pt x="168" y="904"/>
                  <a:pt x="167" y="901"/>
                  <a:pt x="166" y="898"/>
                </a:cubicBezTo>
                <a:cubicBezTo>
                  <a:pt x="167" y="898"/>
                  <a:pt x="168" y="898"/>
                  <a:pt x="169" y="898"/>
                </a:cubicBezTo>
                <a:cubicBezTo>
                  <a:pt x="169" y="898"/>
                  <a:pt x="169" y="898"/>
                  <a:pt x="170" y="898"/>
                </a:cubicBezTo>
                <a:cubicBezTo>
                  <a:pt x="170" y="898"/>
                  <a:pt x="170" y="899"/>
                  <a:pt x="170" y="899"/>
                </a:cubicBezTo>
                <a:cubicBezTo>
                  <a:pt x="170" y="899"/>
                  <a:pt x="170" y="900"/>
                  <a:pt x="170" y="900"/>
                </a:cubicBezTo>
                <a:cubicBezTo>
                  <a:pt x="170" y="900"/>
                  <a:pt x="170" y="901"/>
                  <a:pt x="170" y="902"/>
                </a:cubicBezTo>
                <a:cubicBezTo>
                  <a:pt x="170" y="902"/>
                  <a:pt x="170" y="902"/>
                  <a:pt x="170" y="902"/>
                </a:cubicBezTo>
                <a:cubicBezTo>
                  <a:pt x="170" y="903"/>
                  <a:pt x="170" y="903"/>
                  <a:pt x="170" y="903"/>
                </a:cubicBezTo>
                <a:cubicBezTo>
                  <a:pt x="170" y="904"/>
                  <a:pt x="170" y="904"/>
                  <a:pt x="170" y="904"/>
                </a:cubicBezTo>
                <a:cubicBezTo>
                  <a:pt x="170" y="904"/>
                  <a:pt x="170" y="904"/>
                  <a:pt x="170" y="905"/>
                </a:cubicBezTo>
                <a:cubicBezTo>
                  <a:pt x="170" y="905"/>
                  <a:pt x="170" y="905"/>
                  <a:pt x="170" y="905"/>
                </a:cubicBezTo>
                <a:cubicBezTo>
                  <a:pt x="170" y="905"/>
                  <a:pt x="170" y="906"/>
                  <a:pt x="170" y="906"/>
                </a:cubicBezTo>
                <a:cubicBezTo>
                  <a:pt x="170" y="906"/>
                  <a:pt x="170" y="906"/>
                  <a:pt x="170" y="906"/>
                </a:cubicBezTo>
                <a:cubicBezTo>
                  <a:pt x="170" y="906"/>
                  <a:pt x="170" y="906"/>
                  <a:pt x="170" y="906"/>
                </a:cubicBezTo>
                <a:cubicBezTo>
                  <a:pt x="170" y="906"/>
                  <a:pt x="170" y="906"/>
                  <a:pt x="170" y="906"/>
                </a:cubicBezTo>
                <a:close/>
                <a:moveTo>
                  <a:pt x="134" y="828"/>
                </a:moveTo>
                <a:cubicBezTo>
                  <a:pt x="133" y="828"/>
                  <a:pt x="133" y="829"/>
                  <a:pt x="133" y="829"/>
                </a:cubicBezTo>
                <a:cubicBezTo>
                  <a:pt x="133" y="830"/>
                  <a:pt x="132" y="831"/>
                  <a:pt x="132" y="832"/>
                </a:cubicBezTo>
                <a:cubicBezTo>
                  <a:pt x="131" y="833"/>
                  <a:pt x="131" y="833"/>
                  <a:pt x="131" y="833"/>
                </a:cubicBezTo>
                <a:cubicBezTo>
                  <a:pt x="131" y="834"/>
                  <a:pt x="130" y="835"/>
                  <a:pt x="130" y="836"/>
                </a:cubicBezTo>
                <a:cubicBezTo>
                  <a:pt x="130" y="836"/>
                  <a:pt x="130" y="837"/>
                  <a:pt x="129" y="837"/>
                </a:cubicBezTo>
                <a:cubicBezTo>
                  <a:pt x="129" y="838"/>
                  <a:pt x="128" y="839"/>
                  <a:pt x="128" y="840"/>
                </a:cubicBezTo>
                <a:cubicBezTo>
                  <a:pt x="128" y="840"/>
                  <a:pt x="128" y="840"/>
                  <a:pt x="128" y="841"/>
                </a:cubicBezTo>
                <a:cubicBezTo>
                  <a:pt x="127" y="841"/>
                  <a:pt x="126" y="842"/>
                  <a:pt x="126" y="843"/>
                </a:cubicBezTo>
                <a:cubicBezTo>
                  <a:pt x="126" y="844"/>
                  <a:pt x="126" y="844"/>
                  <a:pt x="125" y="844"/>
                </a:cubicBezTo>
                <a:cubicBezTo>
                  <a:pt x="125" y="845"/>
                  <a:pt x="125" y="845"/>
                  <a:pt x="124" y="846"/>
                </a:cubicBezTo>
                <a:cubicBezTo>
                  <a:pt x="124" y="846"/>
                  <a:pt x="124" y="847"/>
                  <a:pt x="124" y="847"/>
                </a:cubicBezTo>
                <a:cubicBezTo>
                  <a:pt x="123" y="847"/>
                  <a:pt x="123" y="848"/>
                  <a:pt x="122" y="849"/>
                </a:cubicBezTo>
                <a:cubicBezTo>
                  <a:pt x="122" y="849"/>
                  <a:pt x="122" y="849"/>
                  <a:pt x="122" y="848"/>
                </a:cubicBezTo>
                <a:cubicBezTo>
                  <a:pt x="122" y="848"/>
                  <a:pt x="122" y="848"/>
                  <a:pt x="122" y="848"/>
                </a:cubicBezTo>
                <a:cubicBezTo>
                  <a:pt x="122" y="848"/>
                  <a:pt x="122" y="848"/>
                  <a:pt x="122" y="848"/>
                </a:cubicBezTo>
                <a:cubicBezTo>
                  <a:pt x="122" y="848"/>
                  <a:pt x="122" y="848"/>
                  <a:pt x="122" y="847"/>
                </a:cubicBezTo>
                <a:cubicBezTo>
                  <a:pt x="122" y="847"/>
                  <a:pt x="122" y="847"/>
                  <a:pt x="122" y="847"/>
                </a:cubicBezTo>
                <a:cubicBezTo>
                  <a:pt x="122" y="847"/>
                  <a:pt x="123" y="846"/>
                  <a:pt x="123" y="846"/>
                </a:cubicBezTo>
                <a:cubicBezTo>
                  <a:pt x="123" y="846"/>
                  <a:pt x="124" y="845"/>
                  <a:pt x="124" y="845"/>
                </a:cubicBezTo>
                <a:cubicBezTo>
                  <a:pt x="124" y="845"/>
                  <a:pt x="124" y="845"/>
                  <a:pt x="124" y="845"/>
                </a:cubicBezTo>
                <a:cubicBezTo>
                  <a:pt x="124" y="844"/>
                  <a:pt x="123" y="844"/>
                  <a:pt x="124" y="843"/>
                </a:cubicBezTo>
                <a:cubicBezTo>
                  <a:pt x="124" y="843"/>
                  <a:pt x="123" y="843"/>
                  <a:pt x="123" y="843"/>
                </a:cubicBezTo>
                <a:cubicBezTo>
                  <a:pt x="123" y="842"/>
                  <a:pt x="123" y="841"/>
                  <a:pt x="123" y="841"/>
                </a:cubicBezTo>
                <a:cubicBezTo>
                  <a:pt x="123" y="841"/>
                  <a:pt x="123" y="840"/>
                  <a:pt x="123" y="840"/>
                </a:cubicBezTo>
                <a:cubicBezTo>
                  <a:pt x="123" y="840"/>
                  <a:pt x="123" y="839"/>
                  <a:pt x="123" y="838"/>
                </a:cubicBezTo>
                <a:cubicBezTo>
                  <a:pt x="123" y="838"/>
                  <a:pt x="123" y="838"/>
                  <a:pt x="123" y="838"/>
                </a:cubicBezTo>
                <a:cubicBezTo>
                  <a:pt x="123" y="837"/>
                  <a:pt x="123" y="836"/>
                  <a:pt x="124" y="836"/>
                </a:cubicBezTo>
                <a:cubicBezTo>
                  <a:pt x="124" y="836"/>
                  <a:pt x="124" y="835"/>
                  <a:pt x="124" y="835"/>
                </a:cubicBezTo>
                <a:cubicBezTo>
                  <a:pt x="124" y="834"/>
                  <a:pt x="124" y="832"/>
                  <a:pt x="124" y="830"/>
                </a:cubicBezTo>
                <a:cubicBezTo>
                  <a:pt x="124" y="830"/>
                  <a:pt x="124" y="830"/>
                  <a:pt x="124" y="830"/>
                </a:cubicBezTo>
                <a:cubicBezTo>
                  <a:pt x="124" y="829"/>
                  <a:pt x="124" y="828"/>
                  <a:pt x="124" y="827"/>
                </a:cubicBezTo>
                <a:cubicBezTo>
                  <a:pt x="124" y="827"/>
                  <a:pt x="124" y="827"/>
                  <a:pt x="124" y="827"/>
                </a:cubicBezTo>
                <a:cubicBezTo>
                  <a:pt x="124" y="826"/>
                  <a:pt x="124" y="826"/>
                  <a:pt x="124" y="826"/>
                </a:cubicBezTo>
                <a:cubicBezTo>
                  <a:pt x="125" y="826"/>
                  <a:pt x="126" y="826"/>
                  <a:pt x="127" y="826"/>
                </a:cubicBezTo>
                <a:cubicBezTo>
                  <a:pt x="129" y="826"/>
                  <a:pt x="132" y="826"/>
                  <a:pt x="135" y="825"/>
                </a:cubicBezTo>
                <a:cubicBezTo>
                  <a:pt x="135" y="825"/>
                  <a:pt x="135" y="825"/>
                  <a:pt x="135" y="825"/>
                </a:cubicBezTo>
                <a:cubicBezTo>
                  <a:pt x="134" y="826"/>
                  <a:pt x="134" y="827"/>
                  <a:pt x="134" y="8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0813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60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5"/>
          <p:cNvSpPr>
            <a:spLocks/>
          </p:cNvSpPr>
          <p:nvPr userDrawn="1"/>
        </p:nvSpPr>
        <p:spPr bwMode="auto">
          <a:xfrm>
            <a:off x="-1" y="5179682"/>
            <a:ext cx="9906001" cy="1705702"/>
          </a:xfrm>
          <a:custGeom>
            <a:avLst/>
            <a:gdLst>
              <a:gd name="T0" fmla="*/ 29 w 5783"/>
              <a:gd name="T1" fmla="*/ 781 h 1078"/>
              <a:gd name="T2" fmla="*/ 203 w 5783"/>
              <a:gd name="T3" fmla="*/ 622 h 1078"/>
              <a:gd name="T4" fmla="*/ 364 w 5783"/>
              <a:gd name="T5" fmla="*/ 706 h 1078"/>
              <a:gd name="T6" fmla="*/ 430 w 5783"/>
              <a:gd name="T7" fmla="*/ 443 h 1078"/>
              <a:gd name="T8" fmla="*/ 526 w 5783"/>
              <a:gd name="T9" fmla="*/ 405 h 1078"/>
              <a:gd name="T10" fmla="*/ 555 w 5783"/>
              <a:gd name="T11" fmla="*/ 602 h 1078"/>
              <a:gd name="T12" fmla="*/ 633 w 5783"/>
              <a:gd name="T13" fmla="*/ 735 h 1078"/>
              <a:gd name="T14" fmla="*/ 671 w 5783"/>
              <a:gd name="T15" fmla="*/ 309 h 1078"/>
              <a:gd name="T16" fmla="*/ 716 w 5783"/>
              <a:gd name="T17" fmla="*/ 188 h 1078"/>
              <a:gd name="T18" fmla="*/ 733 w 5783"/>
              <a:gd name="T19" fmla="*/ 0 h 1078"/>
              <a:gd name="T20" fmla="*/ 782 w 5783"/>
              <a:gd name="T21" fmla="*/ 96 h 1078"/>
              <a:gd name="T22" fmla="*/ 803 w 5783"/>
              <a:gd name="T23" fmla="*/ 317 h 1078"/>
              <a:gd name="T24" fmla="*/ 857 w 5783"/>
              <a:gd name="T25" fmla="*/ 505 h 1078"/>
              <a:gd name="T26" fmla="*/ 902 w 5783"/>
              <a:gd name="T27" fmla="*/ 710 h 1078"/>
              <a:gd name="T28" fmla="*/ 1039 w 5783"/>
              <a:gd name="T29" fmla="*/ 744 h 1078"/>
              <a:gd name="T30" fmla="*/ 1068 w 5783"/>
              <a:gd name="T31" fmla="*/ 443 h 1078"/>
              <a:gd name="T32" fmla="*/ 1176 w 5783"/>
              <a:gd name="T33" fmla="*/ 539 h 1078"/>
              <a:gd name="T34" fmla="*/ 1209 w 5783"/>
              <a:gd name="T35" fmla="*/ 627 h 1078"/>
              <a:gd name="T36" fmla="*/ 1349 w 5783"/>
              <a:gd name="T37" fmla="*/ 673 h 1078"/>
              <a:gd name="T38" fmla="*/ 1403 w 5783"/>
              <a:gd name="T39" fmla="*/ 656 h 1078"/>
              <a:gd name="T40" fmla="*/ 1672 w 5783"/>
              <a:gd name="T41" fmla="*/ 535 h 1078"/>
              <a:gd name="T42" fmla="*/ 1714 w 5783"/>
              <a:gd name="T43" fmla="*/ 535 h 1078"/>
              <a:gd name="T44" fmla="*/ 1958 w 5783"/>
              <a:gd name="T45" fmla="*/ 585 h 1078"/>
              <a:gd name="T46" fmla="*/ 2032 w 5783"/>
              <a:gd name="T47" fmla="*/ 610 h 1078"/>
              <a:gd name="T48" fmla="*/ 2322 w 5783"/>
              <a:gd name="T49" fmla="*/ 689 h 1078"/>
              <a:gd name="T50" fmla="*/ 2347 w 5783"/>
              <a:gd name="T51" fmla="*/ 856 h 1078"/>
              <a:gd name="T52" fmla="*/ 2562 w 5783"/>
              <a:gd name="T53" fmla="*/ 668 h 1078"/>
              <a:gd name="T54" fmla="*/ 2600 w 5783"/>
              <a:gd name="T55" fmla="*/ 668 h 1078"/>
              <a:gd name="T56" fmla="*/ 2749 w 5783"/>
              <a:gd name="T57" fmla="*/ 781 h 1078"/>
              <a:gd name="T58" fmla="*/ 2811 w 5783"/>
              <a:gd name="T59" fmla="*/ 727 h 1078"/>
              <a:gd name="T60" fmla="*/ 2972 w 5783"/>
              <a:gd name="T61" fmla="*/ 698 h 1078"/>
              <a:gd name="T62" fmla="*/ 2997 w 5783"/>
              <a:gd name="T63" fmla="*/ 689 h 1078"/>
              <a:gd name="T64" fmla="*/ 3101 w 5783"/>
              <a:gd name="T65" fmla="*/ 652 h 1078"/>
              <a:gd name="T66" fmla="*/ 3134 w 5783"/>
              <a:gd name="T67" fmla="*/ 785 h 1078"/>
              <a:gd name="T68" fmla="*/ 3312 w 5783"/>
              <a:gd name="T69" fmla="*/ 647 h 1078"/>
              <a:gd name="T70" fmla="*/ 3361 w 5783"/>
              <a:gd name="T71" fmla="*/ 518 h 1078"/>
              <a:gd name="T72" fmla="*/ 3415 w 5783"/>
              <a:gd name="T73" fmla="*/ 372 h 1078"/>
              <a:gd name="T74" fmla="*/ 3457 w 5783"/>
              <a:gd name="T75" fmla="*/ 785 h 1078"/>
              <a:gd name="T76" fmla="*/ 3668 w 5783"/>
              <a:gd name="T77" fmla="*/ 267 h 1078"/>
              <a:gd name="T78" fmla="*/ 3701 w 5783"/>
              <a:gd name="T79" fmla="*/ 668 h 1078"/>
              <a:gd name="T80" fmla="*/ 3912 w 5783"/>
              <a:gd name="T81" fmla="*/ 719 h 1078"/>
              <a:gd name="T82" fmla="*/ 4024 w 5783"/>
              <a:gd name="T83" fmla="*/ 685 h 1078"/>
              <a:gd name="T84" fmla="*/ 4127 w 5783"/>
              <a:gd name="T85" fmla="*/ 739 h 1078"/>
              <a:gd name="T86" fmla="*/ 4189 w 5783"/>
              <a:gd name="T87" fmla="*/ 664 h 1078"/>
              <a:gd name="T88" fmla="*/ 4322 w 5783"/>
              <a:gd name="T89" fmla="*/ 773 h 1078"/>
              <a:gd name="T90" fmla="*/ 4409 w 5783"/>
              <a:gd name="T91" fmla="*/ 568 h 1078"/>
              <a:gd name="T92" fmla="*/ 4471 w 5783"/>
              <a:gd name="T93" fmla="*/ 748 h 1078"/>
              <a:gd name="T94" fmla="*/ 4603 w 5783"/>
              <a:gd name="T95" fmla="*/ 652 h 1078"/>
              <a:gd name="T96" fmla="*/ 4674 w 5783"/>
              <a:gd name="T97" fmla="*/ 639 h 1078"/>
              <a:gd name="T98" fmla="*/ 4909 w 5783"/>
              <a:gd name="T99" fmla="*/ 597 h 1078"/>
              <a:gd name="T100" fmla="*/ 4926 w 5783"/>
              <a:gd name="T101" fmla="*/ 710 h 1078"/>
              <a:gd name="T102" fmla="*/ 5050 w 5783"/>
              <a:gd name="T103" fmla="*/ 890 h 1078"/>
              <a:gd name="T104" fmla="*/ 5071 w 5783"/>
              <a:gd name="T105" fmla="*/ 643 h 1078"/>
              <a:gd name="T106" fmla="*/ 5179 w 5783"/>
              <a:gd name="T107" fmla="*/ 911 h 1078"/>
              <a:gd name="T108" fmla="*/ 5253 w 5783"/>
              <a:gd name="T109" fmla="*/ 919 h 1078"/>
              <a:gd name="T110" fmla="*/ 5530 w 5783"/>
              <a:gd name="T111" fmla="*/ 622 h 1078"/>
              <a:gd name="T112" fmla="*/ 5783 w 5783"/>
              <a:gd name="T113" fmla="*/ 1078 h 1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83" h="1078">
                <a:moveTo>
                  <a:pt x="0" y="1065"/>
                </a:moveTo>
                <a:lnTo>
                  <a:pt x="0" y="781"/>
                </a:lnTo>
                <a:lnTo>
                  <a:pt x="29" y="781"/>
                </a:lnTo>
                <a:lnTo>
                  <a:pt x="29" y="698"/>
                </a:lnTo>
                <a:lnTo>
                  <a:pt x="203" y="698"/>
                </a:lnTo>
                <a:lnTo>
                  <a:pt x="203" y="622"/>
                </a:lnTo>
                <a:lnTo>
                  <a:pt x="306" y="622"/>
                </a:lnTo>
                <a:lnTo>
                  <a:pt x="306" y="706"/>
                </a:lnTo>
                <a:lnTo>
                  <a:pt x="364" y="706"/>
                </a:lnTo>
                <a:lnTo>
                  <a:pt x="364" y="622"/>
                </a:lnTo>
                <a:lnTo>
                  <a:pt x="430" y="622"/>
                </a:lnTo>
                <a:lnTo>
                  <a:pt x="430" y="443"/>
                </a:lnTo>
                <a:lnTo>
                  <a:pt x="455" y="443"/>
                </a:lnTo>
                <a:lnTo>
                  <a:pt x="455" y="405"/>
                </a:lnTo>
                <a:lnTo>
                  <a:pt x="526" y="405"/>
                </a:lnTo>
                <a:lnTo>
                  <a:pt x="526" y="443"/>
                </a:lnTo>
                <a:lnTo>
                  <a:pt x="555" y="443"/>
                </a:lnTo>
                <a:lnTo>
                  <a:pt x="555" y="602"/>
                </a:lnTo>
                <a:lnTo>
                  <a:pt x="580" y="602"/>
                </a:lnTo>
                <a:lnTo>
                  <a:pt x="580" y="735"/>
                </a:lnTo>
                <a:lnTo>
                  <a:pt x="633" y="735"/>
                </a:lnTo>
                <a:lnTo>
                  <a:pt x="633" y="493"/>
                </a:lnTo>
                <a:lnTo>
                  <a:pt x="671" y="493"/>
                </a:lnTo>
                <a:lnTo>
                  <a:pt x="671" y="309"/>
                </a:lnTo>
                <a:lnTo>
                  <a:pt x="695" y="309"/>
                </a:lnTo>
                <a:lnTo>
                  <a:pt x="695" y="188"/>
                </a:lnTo>
                <a:lnTo>
                  <a:pt x="716" y="188"/>
                </a:lnTo>
                <a:lnTo>
                  <a:pt x="716" y="100"/>
                </a:lnTo>
                <a:lnTo>
                  <a:pt x="733" y="100"/>
                </a:lnTo>
                <a:lnTo>
                  <a:pt x="733" y="0"/>
                </a:lnTo>
                <a:lnTo>
                  <a:pt x="762" y="0"/>
                </a:lnTo>
                <a:lnTo>
                  <a:pt x="762" y="96"/>
                </a:lnTo>
                <a:lnTo>
                  <a:pt x="782" y="96"/>
                </a:lnTo>
                <a:lnTo>
                  <a:pt x="782" y="171"/>
                </a:lnTo>
                <a:lnTo>
                  <a:pt x="803" y="171"/>
                </a:lnTo>
                <a:lnTo>
                  <a:pt x="803" y="317"/>
                </a:lnTo>
                <a:lnTo>
                  <a:pt x="828" y="317"/>
                </a:lnTo>
                <a:lnTo>
                  <a:pt x="828" y="505"/>
                </a:lnTo>
                <a:lnTo>
                  <a:pt x="857" y="505"/>
                </a:lnTo>
                <a:lnTo>
                  <a:pt x="857" y="773"/>
                </a:lnTo>
                <a:lnTo>
                  <a:pt x="902" y="773"/>
                </a:lnTo>
                <a:lnTo>
                  <a:pt x="902" y="710"/>
                </a:lnTo>
                <a:lnTo>
                  <a:pt x="1002" y="710"/>
                </a:lnTo>
                <a:lnTo>
                  <a:pt x="1002" y="744"/>
                </a:lnTo>
                <a:lnTo>
                  <a:pt x="1039" y="744"/>
                </a:lnTo>
                <a:lnTo>
                  <a:pt x="1039" y="522"/>
                </a:lnTo>
                <a:lnTo>
                  <a:pt x="1068" y="522"/>
                </a:lnTo>
                <a:lnTo>
                  <a:pt x="1068" y="443"/>
                </a:lnTo>
                <a:lnTo>
                  <a:pt x="1155" y="443"/>
                </a:lnTo>
                <a:lnTo>
                  <a:pt x="1155" y="522"/>
                </a:lnTo>
                <a:lnTo>
                  <a:pt x="1176" y="539"/>
                </a:lnTo>
                <a:lnTo>
                  <a:pt x="1176" y="668"/>
                </a:lnTo>
                <a:lnTo>
                  <a:pt x="1209" y="668"/>
                </a:lnTo>
                <a:lnTo>
                  <a:pt x="1209" y="627"/>
                </a:lnTo>
                <a:lnTo>
                  <a:pt x="1296" y="627"/>
                </a:lnTo>
                <a:lnTo>
                  <a:pt x="1296" y="673"/>
                </a:lnTo>
                <a:lnTo>
                  <a:pt x="1349" y="673"/>
                </a:lnTo>
                <a:lnTo>
                  <a:pt x="1349" y="710"/>
                </a:lnTo>
                <a:lnTo>
                  <a:pt x="1403" y="710"/>
                </a:lnTo>
                <a:lnTo>
                  <a:pt x="1403" y="656"/>
                </a:lnTo>
                <a:lnTo>
                  <a:pt x="1445" y="656"/>
                </a:lnTo>
                <a:lnTo>
                  <a:pt x="1445" y="535"/>
                </a:lnTo>
                <a:lnTo>
                  <a:pt x="1672" y="535"/>
                </a:lnTo>
                <a:lnTo>
                  <a:pt x="1672" y="656"/>
                </a:lnTo>
                <a:lnTo>
                  <a:pt x="1714" y="656"/>
                </a:lnTo>
                <a:lnTo>
                  <a:pt x="1714" y="535"/>
                </a:lnTo>
                <a:lnTo>
                  <a:pt x="1904" y="535"/>
                </a:lnTo>
                <a:lnTo>
                  <a:pt x="1904" y="585"/>
                </a:lnTo>
                <a:lnTo>
                  <a:pt x="1958" y="585"/>
                </a:lnTo>
                <a:lnTo>
                  <a:pt x="1958" y="760"/>
                </a:lnTo>
                <a:lnTo>
                  <a:pt x="2032" y="760"/>
                </a:lnTo>
                <a:lnTo>
                  <a:pt x="2032" y="610"/>
                </a:lnTo>
                <a:lnTo>
                  <a:pt x="2285" y="610"/>
                </a:lnTo>
                <a:lnTo>
                  <a:pt x="2285" y="689"/>
                </a:lnTo>
                <a:lnTo>
                  <a:pt x="2322" y="689"/>
                </a:lnTo>
                <a:lnTo>
                  <a:pt x="2322" y="794"/>
                </a:lnTo>
                <a:lnTo>
                  <a:pt x="2347" y="794"/>
                </a:lnTo>
                <a:lnTo>
                  <a:pt x="2347" y="856"/>
                </a:lnTo>
                <a:lnTo>
                  <a:pt x="2455" y="856"/>
                </a:lnTo>
                <a:lnTo>
                  <a:pt x="2455" y="668"/>
                </a:lnTo>
                <a:lnTo>
                  <a:pt x="2562" y="668"/>
                </a:lnTo>
                <a:lnTo>
                  <a:pt x="2562" y="731"/>
                </a:lnTo>
                <a:lnTo>
                  <a:pt x="2600" y="731"/>
                </a:lnTo>
                <a:lnTo>
                  <a:pt x="2600" y="668"/>
                </a:lnTo>
                <a:lnTo>
                  <a:pt x="2724" y="668"/>
                </a:lnTo>
                <a:lnTo>
                  <a:pt x="2724" y="781"/>
                </a:lnTo>
                <a:lnTo>
                  <a:pt x="2749" y="781"/>
                </a:lnTo>
                <a:lnTo>
                  <a:pt x="2749" y="856"/>
                </a:lnTo>
                <a:lnTo>
                  <a:pt x="2811" y="856"/>
                </a:lnTo>
                <a:lnTo>
                  <a:pt x="2811" y="727"/>
                </a:lnTo>
                <a:lnTo>
                  <a:pt x="2943" y="727"/>
                </a:lnTo>
                <a:lnTo>
                  <a:pt x="2943" y="698"/>
                </a:lnTo>
                <a:lnTo>
                  <a:pt x="2972" y="698"/>
                </a:lnTo>
                <a:lnTo>
                  <a:pt x="2972" y="660"/>
                </a:lnTo>
                <a:lnTo>
                  <a:pt x="2997" y="660"/>
                </a:lnTo>
                <a:lnTo>
                  <a:pt x="2997" y="689"/>
                </a:lnTo>
                <a:lnTo>
                  <a:pt x="3030" y="689"/>
                </a:lnTo>
                <a:lnTo>
                  <a:pt x="3030" y="652"/>
                </a:lnTo>
                <a:lnTo>
                  <a:pt x="3101" y="652"/>
                </a:lnTo>
                <a:lnTo>
                  <a:pt x="3101" y="685"/>
                </a:lnTo>
                <a:lnTo>
                  <a:pt x="3134" y="685"/>
                </a:lnTo>
                <a:lnTo>
                  <a:pt x="3134" y="785"/>
                </a:lnTo>
                <a:lnTo>
                  <a:pt x="3192" y="785"/>
                </a:lnTo>
                <a:lnTo>
                  <a:pt x="3192" y="647"/>
                </a:lnTo>
                <a:lnTo>
                  <a:pt x="3312" y="647"/>
                </a:lnTo>
                <a:lnTo>
                  <a:pt x="3312" y="689"/>
                </a:lnTo>
                <a:lnTo>
                  <a:pt x="3361" y="689"/>
                </a:lnTo>
                <a:lnTo>
                  <a:pt x="3361" y="518"/>
                </a:lnTo>
                <a:lnTo>
                  <a:pt x="3399" y="447"/>
                </a:lnTo>
                <a:lnTo>
                  <a:pt x="3399" y="372"/>
                </a:lnTo>
                <a:lnTo>
                  <a:pt x="3415" y="372"/>
                </a:lnTo>
                <a:lnTo>
                  <a:pt x="3415" y="451"/>
                </a:lnTo>
                <a:lnTo>
                  <a:pt x="3457" y="514"/>
                </a:lnTo>
                <a:lnTo>
                  <a:pt x="3457" y="785"/>
                </a:lnTo>
                <a:lnTo>
                  <a:pt x="3510" y="785"/>
                </a:lnTo>
                <a:lnTo>
                  <a:pt x="3510" y="267"/>
                </a:lnTo>
                <a:lnTo>
                  <a:pt x="3668" y="267"/>
                </a:lnTo>
                <a:lnTo>
                  <a:pt x="3668" y="748"/>
                </a:lnTo>
                <a:lnTo>
                  <a:pt x="3701" y="748"/>
                </a:lnTo>
                <a:lnTo>
                  <a:pt x="3701" y="668"/>
                </a:lnTo>
                <a:lnTo>
                  <a:pt x="3767" y="668"/>
                </a:lnTo>
                <a:lnTo>
                  <a:pt x="3767" y="719"/>
                </a:lnTo>
                <a:lnTo>
                  <a:pt x="3912" y="719"/>
                </a:lnTo>
                <a:lnTo>
                  <a:pt x="3912" y="781"/>
                </a:lnTo>
                <a:lnTo>
                  <a:pt x="4024" y="781"/>
                </a:lnTo>
                <a:lnTo>
                  <a:pt x="4024" y="685"/>
                </a:lnTo>
                <a:lnTo>
                  <a:pt x="4082" y="685"/>
                </a:lnTo>
                <a:lnTo>
                  <a:pt x="4082" y="739"/>
                </a:lnTo>
                <a:lnTo>
                  <a:pt x="4127" y="739"/>
                </a:lnTo>
                <a:lnTo>
                  <a:pt x="4127" y="706"/>
                </a:lnTo>
                <a:lnTo>
                  <a:pt x="4189" y="706"/>
                </a:lnTo>
                <a:lnTo>
                  <a:pt x="4189" y="664"/>
                </a:lnTo>
                <a:lnTo>
                  <a:pt x="4264" y="664"/>
                </a:lnTo>
                <a:lnTo>
                  <a:pt x="4264" y="773"/>
                </a:lnTo>
                <a:lnTo>
                  <a:pt x="4322" y="773"/>
                </a:lnTo>
                <a:lnTo>
                  <a:pt x="4322" y="564"/>
                </a:lnTo>
                <a:lnTo>
                  <a:pt x="4359" y="514"/>
                </a:lnTo>
                <a:lnTo>
                  <a:pt x="4409" y="568"/>
                </a:lnTo>
                <a:lnTo>
                  <a:pt x="4409" y="660"/>
                </a:lnTo>
                <a:lnTo>
                  <a:pt x="4471" y="660"/>
                </a:lnTo>
                <a:lnTo>
                  <a:pt x="4471" y="748"/>
                </a:lnTo>
                <a:lnTo>
                  <a:pt x="4549" y="748"/>
                </a:lnTo>
                <a:lnTo>
                  <a:pt x="4549" y="652"/>
                </a:lnTo>
                <a:lnTo>
                  <a:pt x="4603" y="652"/>
                </a:lnTo>
                <a:lnTo>
                  <a:pt x="4603" y="610"/>
                </a:lnTo>
                <a:lnTo>
                  <a:pt x="4674" y="610"/>
                </a:lnTo>
                <a:lnTo>
                  <a:pt x="4674" y="639"/>
                </a:lnTo>
                <a:lnTo>
                  <a:pt x="4723" y="639"/>
                </a:lnTo>
                <a:lnTo>
                  <a:pt x="4723" y="597"/>
                </a:lnTo>
                <a:lnTo>
                  <a:pt x="4909" y="597"/>
                </a:lnTo>
                <a:lnTo>
                  <a:pt x="4909" y="744"/>
                </a:lnTo>
                <a:lnTo>
                  <a:pt x="4926" y="744"/>
                </a:lnTo>
                <a:lnTo>
                  <a:pt x="4926" y="710"/>
                </a:lnTo>
                <a:lnTo>
                  <a:pt x="4996" y="710"/>
                </a:lnTo>
                <a:lnTo>
                  <a:pt x="4996" y="890"/>
                </a:lnTo>
                <a:lnTo>
                  <a:pt x="5050" y="890"/>
                </a:lnTo>
                <a:lnTo>
                  <a:pt x="5050" y="831"/>
                </a:lnTo>
                <a:lnTo>
                  <a:pt x="5071" y="831"/>
                </a:lnTo>
                <a:lnTo>
                  <a:pt x="5071" y="643"/>
                </a:lnTo>
                <a:lnTo>
                  <a:pt x="5141" y="643"/>
                </a:lnTo>
                <a:lnTo>
                  <a:pt x="5141" y="911"/>
                </a:lnTo>
                <a:lnTo>
                  <a:pt x="5179" y="911"/>
                </a:lnTo>
                <a:lnTo>
                  <a:pt x="5179" y="965"/>
                </a:lnTo>
                <a:lnTo>
                  <a:pt x="5253" y="965"/>
                </a:lnTo>
                <a:lnTo>
                  <a:pt x="5253" y="919"/>
                </a:lnTo>
                <a:lnTo>
                  <a:pt x="5410" y="919"/>
                </a:lnTo>
                <a:lnTo>
                  <a:pt x="5410" y="622"/>
                </a:lnTo>
                <a:lnTo>
                  <a:pt x="5530" y="622"/>
                </a:lnTo>
                <a:lnTo>
                  <a:pt x="5530" y="927"/>
                </a:lnTo>
                <a:lnTo>
                  <a:pt x="5783" y="927"/>
                </a:lnTo>
                <a:lnTo>
                  <a:pt x="5783" y="1078"/>
                </a:lnTo>
                <a:lnTo>
                  <a:pt x="0" y="106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직사각형 18"/>
          <p:cNvSpPr/>
          <p:nvPr userDrawn="1"/>
        </p:nvSpPr>
        <p:spPr>
          <a:xfrm>
            <a:off x="-1" y="647549"/>
            <a:ext cx="9906001" cy="623221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02423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74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</p:sldLayoutIdLst>
  <p:hf hdr="0" ftr="0" dt="0"/>
  <p:txStyles>
    <p:titleStyle>
      <a:lvl1pPr algn="l" defTabSz="914378" rtl="0" eaLnBrk="1" latinLnBrk="1" hangingPunct="1">
        <a:spcBef>
          <a:spcPct val="0"/>
        </a:spcBef>
        <a:buNone/>
        <a:defRPr sz="3200" b="1" kern="1200" spc="-151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cs"/>
        </a:defRPr>
      </a:lvl1pPr>
    </p:titleStyle>
    <p:bodyStyle>
      <a:lvl1pPr marL="342891" indent="-342891" algn="l" defTabSz="914378" rtl="0" eaLnBrk="1" latinLnBrk="1" hangingPunct="1">
        <a:spcBef>
          <a:spcPct val="20000"/>
        </a:spcBef>
        <a:buFont typeface="Arial" pitchFamily="34" charset="0"/>
        <a:buChar char="•"/>
        <a:defRPr sz="3200" kern="1200" spc="-151">
          <a:solidFill>
            <a:schemeClr val="tx1"/>
          </a:solidFill>
          <a:latin typeface="+mn-ea"/>
          <a:ea typeface="+mn-ea"/>
          <a:cs typeface="+mn-cs"/>
        </a:defRPr>
      </a:lvl1pPr>
      <a:lvl2pPr marL="742932" indent="-285744" algn="l" defTabSz="914378" rtl="0" eaLnBrk="1" latinLnBrk="1" hangingPunct="1">
        <a:spcBef>
          <a:spcPct val="20000"/>
        </a:spcBef>
        <a:buFont typeface="Arial" pitchFamily="34" charset="0"/>
        <a:buChar char="–"/>
        <a:defRPr sz="2801" kern="1200" spc="-151">
          <a:solidFill>
            <a:schemeClr val="tx1"/>
          </a:solidFill>
          <a:latin typeface="+mn-ea"/>
          <a:ea typeface="+mn-ea"/>
          <a:cs typeface="+mn-cs"/>
        </a:defRPr>
      </a:lvl2pPr>
      <a:lvl3pPr marL="1142971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401" kern="1200" spc="-151">
          <a:solidFill>
            <a:schemeClr val="tx1"/>
          </a:solidFill>
          <a:latin typeface="+mn-ea"/>
          <a:ea typeface="+mn-ea"/>
          <a:cs typeface="+mn-cs"/>
        </a:defRPr>
      </a:lvl3pPr>
      <a:lvl4pPr marL="1600160" indent="-228594" algn="l" defTabSz="914378" rtl="0" eaLnBrk="1" latinLnBrk="1" hangingPunct="1">
        <a:spcBef>
          <a:spcPct val="20000"/>
        </a:spcBef>
        <a:buFont typeface="Arial" pitchFamily="34" charset="0"/>
        <a:buChar char="–"/>
        <a:defRPr sz="2001" kern="1200" spc="-151">
          <a:solidFill>
            <a:schemeClr val="tx1"/>
          </a:solidFill>
          <a:latin typeface="+mn-ea"/>
          <a:ea typeface="+mn-ea"/>
          <a:cs typeface="+mn-cs"/>
        </a:defRPr>
      </a:lvl4pPr>
      <a:lvl5pPr marL="2057349" indent="-228594" algn="l" defTabSz="914378" rtl="0" eaLnBrk="1" latinLnBrk="1" hangingPunct="1">
        <a:spcBef>
          <a:spcPct val="20000"/>
        </a:spcBef>
        <a:buFont typeface="Arial" pitchFamily="34" charset="0"/>
        <a:buChar char="»"/>
        <a:defRPr sz="2001" kern="1200" spc="-151">
          <a:solidFill>
            <a:schemeClr val="tx1"/>
          </a:solidFill>
          <a:latin typeface="+mn-ea"/>
          <a:ea typeface="+mn-ea"/>
          <a:cs typeface="+mn-cs"/>
        </a:defRPr>
      </a:lvl5pPr>
      <a:lvl6pPr marL="2514538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4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3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84F64-DF23-A305-13CC-E66658DD8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>
            <a:extLst>
              <a:ext uri="{FF2B5EF4-FFF2-40B4-BE49-F238E27FC236}">
                <a16:creationId xmlns:a16="http://schemas.microsoft.com/office/drawing/2014/main" id="{1C7F985E-026C-E48A-ABEF-2C033A11BD5D}"/>
              </a:ext>
            </a:extLst>
          </p:cNvPr>
          <p:cNvSpPr/>
          <p:nvPr/>
        </p:nvSpPr>
        <p:spPr>
          <a:xfrm>
            <a:off x="155575" y="764704"/>
            <a:ext cx="9594850" cy="600318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/>
          <a:lstStyle/>
          <a:p>
            <a:pPr algn="ctr" eaLnBrk="1" hangingPunct="1">
              <a:defRPr/>
            </a:pPr>
            <a:endParaRPr kumimoji="0" lang="ko-KR" altLang="en-US" sz="1800" b="1" kern="0" dirty="0">
              <a:solidFill>
                <a:srgbClr val="1F497D"/>
              </a:solidFill>
              <a:latin typeface="+mn-ea"/>
            </a:endParaRPr>
          </a:p>
        </p:txBody>
      </p:sp>
      <p:sp>
        <p:nvSpPr>
          <p:cNvPr id="54" name="제목 2">
            <a:extLst>
              <a:ext uri="{FF2B5EF4-FFF2-40B4-BE49-F238E27FC236}">
                <a16:creationId xmlns:a16="http://schemas.microsoft.com/office/drawing/2014/main" id="{07C1312F-5B7E-8E6B-897F-B713C38AC215}"/>
              </a:ext>
            </a:extLst>
          </p:cNvPr>
          <p:cNvSpPr txBox="1">
            <a:spLocks/>
          </p:cNvSpPr>
          <p:nvPr/>
        </p:nvSpPr>
        <p:spPr>
          <a:xfrm>
            <a:off x="416496" y="90113"/>
            <a:ext cx="7416824" cy="307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812781" indent="-812781" defTabSz="957239" fontAlgn="base" latinLnBrk="0">
              <a:spcBef>
                <a:spcPct val="0"/>
              </a:spcBef>
              <a:spcAft>
                <a:spcPct val="0"/>
              </a:spcAft>
              <a:defRPr kumimoji="1" sz="2001" b="1" kern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AI 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소음 진단 플랫폼 주요 프로세스</a:t>
            </a:r>
          </a:p>
        </p:txBody>
      </p:sp>
      <p:sp>
        <p:nvSpPr>
          <p:cNvPr id="11" name="직사각형 22">
            <a:extLst>
              <a:ext uri="{FF2B5EF4-FFF2-40B4-BE49-F238E27FC236}">
                <a16:creationId xmlns:a16="http://schemas.microsoft.com/office/drawing/2014/main" id="{3FB9A860-D8FD-F839-30C6-A39EB3B0A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" y="3780591"/>
            <a:ext cx="1573213" cy="2816761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381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681" rIns="0" bIns="45681" anchor="ctr"/>
          <a:lstStyle/>
          <a:p>
            <a:pPr algn="ctr">
              <a:lnSpc>
                <a:spcPct val="110000"/>
              </a:lnSpc>
              <a:defRPr/>
            </a:pPr>
            <a:endParaRPr lang="ko-KR" altLang="en-US" sz="1400" b="1" spc="12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2" name="Text Box 37">
            <a:extLst>
              <a:ext uri="{FF2B5EF4-FFF2-40B4-BE49-F238E27FC236}">
                <a16:creationId xmlns:a16="http://schemas.microsoft.com/office/drawing/2014/main" id="{6BC9F5C0-285B-ECAA-32A7-5511F3FB7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8" y="3902829"/>
            <a:ext cx="1801812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9pPr>
          </a:lstStyle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진단 대상 제품정의</a:t>
            </a:r>
            <a:endParaRPr lang="en-US" altLang="ko-KR" sz="12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소음 유형 정의</a:t>
            </a:r>
            <a:endParaRPr lang="en-US" altLang="ko-KR" sz="12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 marL="171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소음 계측기 정의</a:t>
            </a:r>
            <a:endParaRPr lang="en-US" altLang="ko-KR" sz="12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 marL="171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입력 데이터 유형 정의</a:t>
            </a:r>
            <a:endParaRPr lang="en-US" altLang="ko-KR" sz="11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   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-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소음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,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진동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등</a:t>
            </a:r>
            <a:endParaRPr lang="en-US" altLang="ko-KR" sz="1100" b="0" spc="-9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맑은 고딕" charset="0"/>
            </a:endParaRPr>
          </a:p>
        </p:txBody>
      </p:sp>
      <p:sp>
        <p:nvSpPr>
          <p:cNvPr id="13" name="직사각형 22">
            <a:extLst>
              <a:ext uri="{FF2B5EF4-FFF2-40B4-BE49-F238E27FC236}">
                <a16:creationId xmlns:a16="http://schemas.microsoft.com/office/drawing/2014/main" id="{ABC864A5-FC5F-4DE2-21CD-5083EF912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3777416"/>
            <a:ext cx="3827462" cy="2818532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381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681" rIns="0" bIns="45681" anchor="ctr"/>
          <a:lstStyle/>
          <a:p>
            <a:pPr algn="ctr">
              <a:lnSpc>
                <a:spcPct val="110000"/>
              </a:lnSpc>
              <a:defRPr/>
            </a:pPr>
            <a:endParaRPr lang="ko-KR" altLang="en-US" sz="1400" b="1" spc="12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4" name="직사각형 22">
            <a:extLst>
              <a:ext uri="{FF2B5EF4-FFF2-40B4-BE49-F238E27FC236}">
                <a16:creationId xmlns:a16="http://schemas.microsoft.com/office/drawing/2014/main" id="{D6EFA17C-8519-408E-C4AF-64926B792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513" y="3777416"/>
            <a:ext cx="1893887" cy="2818532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381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681" rIns="0" bIns="45681" anchor="ctr"/>
          <a:lstStyle/>
          <a:p>
            <a:pPr algn="ctr">
              <a:lnSpc>
                <a:spcPct val="110000"/>
              </a:lnSpc>
              <a:defRPr/>
            </a:pPr>
            <a:endParaRPr lang="ko-KR" altLang="en-US" sz="1400" b="1" spc="12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5" name="직사각형 22">
            <a:extLst>
              <a:ext uri="{FF2B5EF4-FFF2-40B4-BE49-F238E27FC236}">
                <a16:creationId xmlns:a16="http://schemas.microsoft.com/office/drawing/2014/main" id="{47E4C431-D144-3055-1C70-B83993856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7988" y="3777416"/>
            <a:ext cx="1571625" cy="2818532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381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681" rIns="0" bIns="45681" anchor="ctr"/>
          <a:lstStyle/>
          <a:p>
            <a:pPr algn="ctr">
              <a:lnSpc>
                <a:spcPct val="110000"/>
              </a:lnSpc>
              <a:defRPr/>
            </a:pPr>
            <a:endParaRPr lang="ko-KR" altLang="en-US" sz="1400" b="1" spc="12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57D8AC2-035A-8392-CEB2-ECA27B72FBCF}"/>
              </a:ext>
            </a:extLst>
          </p:cNvPr>
          <p:cNvSpPr/>
          <p:nvPr/>
        </p:nvSpPr>
        <p:spPr>
          <a:xfrm>
            <a:off x="307975" y="983903"/>
            <a:ext cx="1427163" cy="5842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kern="0" spc="-100" dirty="0">
                <a:solidFill>
                  <a:schemeClr val="bg1"/>
                </a:solidFill>
                <a:latin typeface="+mn-ea"/>
              </a:rPr>
              <a:t>소음 데이터 수집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BDB4DA-03FD-1EBF-A48E-289C6F04F116}"/>
              </a:ext>
            </a:extLst>
          </p:cNvPr>
          <p:cNvSpPr txBox="1"/>
          <p:nvPr/>
        </p:nvSpPr>
        <p:spPr>
          <a:xfrm>
            <a:off x="282574" y="1865751"/>
            <a:ext cx="1465264" cy="519822"/>
          </a:xfrm>
          <a:prstGeom prst="rect">
            <a:avLst/>
          </a:prstGeom>
          <a:noFill/>
        </p:spPr>
        <p:txBody>
          <a:bodyPr wrap="square" lIns="144000" anchor="ctr">
            <a:spAutoFit/>
          </a:bodyPr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제품 이상 관련 </a:t>
            </a:r>
            <a:endParaRPr lang="en-US" altLang="ko-KR" sz="1200" kern="0" spc="-9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소음 데이터  수집 </a:t>
            </a:r>
            <a:endParaRPr lang="en-US" altLang="ko-KR" sz="1200" kern="0" spc="-9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69A715CA-2F9F-BD7F-8F63-478F38880F66}"/>
              </a:ext>
            </a:extLst>
          </p:cNvPr>
          <p:cNvSpPr/>
          <p:nvPr/>
        </p:nvSpPr>
        <p:spPr>
          <a:xfrm rot="5400000">
            <a:off x="1853406" y="2018507"/>
            <a:ext cx="288925" cy="192088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>
              <a:defRPr/>
            </a:pPr>
            <a:endParaRPr lang="ko-KR" altLang="en-US" sz="1400" b="1" kern="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676653B-8FF4-462E-9AF5-04251D66B31F}"/>
              </a:ext>
            </a:extLst>
          </p:cNvPr>
          <p:cNvSpPr/>
          <p:nvPr/>
        </p:nvSpPr>
        <p:spPr>
          <a:xfrm>
            <a:off x="2166938" y="983903"/>
            <a:ext cx="1550987" cy="5842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kern="0" spc="-100" dirty="0">
                <a:solidFill>
                  <a:schemeClr val="bg1"/>
                </a:solidFill>
                <a:latin typeface="+mn-ea"/>
              </a:rPr>
              <a:t>소음 유형별</a:t>
            </a:r>
            <a:endParaRPr kumimoji="0" lang="en-US" altLang="ko-KR" sz="1600" b="1" kern="0" spc="-100" dirty="0">
              <a:solidFill>
                <a:schemeClr val="bg1"/>
              </a:solidFill>
              <a:latin typeface="+mn-ea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kern="0" spc="-100" dirty="0">
                <a:solidFill>
                  <a:schemeClr val="bg1"/>
                </a:solidFill>
                <a:latin typeface="+mn-ea"/>
              </a:rPr>
              <a:t>특성 분석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D63465-EDDA-B3CE-FFD4-08DA8B5A14FC}"/>
              </a:ext>
            </a:extLst>
          </p:cNvPr>
          <p:cNvSpPr txBox="1"/>
          <p:nvPr/>
        </p:nvSpPr>
        <p:spPr>
          <a:xfrm>
            <a:off x="2093913" y="1683443"/>
            <a:ext cx="1736725" cy="887615"/>
          </a:xfrm>
          <a:prstGeom prst="rect">
            <a:avLst/>
          </a:prstGeom>
          <a:noFill/>
        </p:spPr>
        <p:txBody>
          <a:bodyPr lIns="144000" anchor="ctr">
            <a:sp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제품</a:t>
            </a:r>
            <a:r>
              <a:rPr lang="en-US" altLang="ko-KR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,</a:t>
            </a: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 계측기 별로 소음 유형을 분류하고</a:t>
            </a:r>
            <a:r>
              <a:rPr lang="en-US" altLang="ko-KR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,</a:t>
            </a: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 주파수 도메인 분석기법으로 각 소음의 특징을 분석</a:t>
            </a:r>
            <a:endParaRPr lang="en-US" altLang="ko-KR" sz="1200" kern="0" spc="-9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ECC8EF4D-CB82-A25C-A32D-73E316D2ACE4}"/>
              </a:ext>
            </a:extLst>
          </p:cNvPr>
          <p:cNvSpPr/>
          <p:nvPr/>
        </p:nvSpPr>
        <p:spPr>
          <a:xfrm rot="5400000">
            <a:off x="3848100" y="2017713"/>
            <a:ext cx="288925" cy="193675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>
              <a:defRPr/>
            </a:pPr>
            <a:endParaRPr lang="ko-KR" altLang="en-US" sz="1400" b="1" kern="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9A87527-8F69-D314-5583-D30D68611AB4}"/>
              </a:ext>
            </a:extLst>
          </p:cNvPr>
          <p:cNvSpPr/>
          <p:nvPr/>
        </p:nvSpPr>
        <p:spPr>
          <a:xfrm>
            <a:off x="4138613" y="983903"/>
            <a:ext cx="1550987" cy="5842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kern="0" spc="-100" dirty="0">
                <a:solidFill>
                  <a:schemeClr val="bg1"/>
                </a:solidFill>
                <a:latin typeface="+mn-ea"/>
              </a:rPr>
              <a:t>특징 추출  및</a:t>
            </a:r>
            <a:endParaRPr kumimoji="0" lang="en-US" altLang="ko-KR" sz="1600" b="1" kern="0" spc="-100" dirty="0">
              <a:solidFill>
                <a:schemeClr val="bg1"/>
              </a:solidFill>
              <a:latin typeface="+mn-ea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kern="0" spc="-100" dirty="0">
                <a:solidFill>
                  <a:schemeClr val="bg1"/>
                </a:solidFill>
                <a:latin typeface="+mn-ea"/>
              </a:rPr>
              <a:t>데이터 변환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5E46A3-CEC1-7032-E18B-8D87E0C4D22F}"/>
              </a:ext>
            </a:extLst>
          </p:cNvPr>
          <p:cNvSpPr txBox="1"/>
          <p:nvPr/>
        </p:nvSpPr>
        <p:spPr>
          <a:xfrm>
            <a:off x="4065588" y="1674813"/>
            <a:ext cx="1736725" cy="904875"/>
          </a:xfrm>
          <a:prstGeom prst="rect">
            <a:avLst/>
          </a:prstGeom>
          <a:noFill/>
        </p:spPr>
        <p:txBody>
          <a:bodyPr lIns="144000" anchor="ctr">
            <a:spAutoFit/>
          </a:bodyPr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소음 유형 별로 특징이 발생하는 특징 벡터를 추출하여 학습데이터로 변환</a:t>
            </a:r>
            <a:endParaRPr lang="en-US" altLang="ko-KR" sz="1200" kern="0" spc="-9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5" name="이등변 삼각형 24">
            <a:extLst>
              <a:ext uri="{FF2B5EF4-FFF2-40B4-BE49-F238E27FC236}">
                <a16:creationId xmlns:a16="http://schemas.microsoft.com/office/drawing/2014/main" id="{6169FCBC-CA34-10B4-65E3-E9C775B3815E}"/>
              </a:ext>
            </a:extLst>
          </p:cNvPr>
          <p:cNvSpPr/>
          <p:nvPr/>
        </p:nvSpPr>
        <p:spPr>
          <a:xfrm rot="5400000">
            <a:off x="5820569" y="2018507"/>
            <a:ext cx="288925" cy="192087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>
              <a:defRPr/>
            </a:pPr>
            <a:endParaRPr lang="ko-KR" altLang="en-US" sz="1400" b="1" kern="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D003750-919D-12E3-E330-324D6060F548}"/>
              </a:ext>
            </a:extLst>
          </p:cNvPr>
          <p:cNvSpPr/>
          <p:nvPr/>
        </p:nvSpPr>
        <p:spPr>
          <a:xfrm>
            <a:off x="6097588" y="983903"/>
            <a:ext cx="1550987" cy="5842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kern="0" spc="-100" dirty="0">
                <a:solidFill>
                  <a:schemeClr val="bg1"/>
                </a:solidFill>
                <a:latin typeface="+mn-ea"/>
              </a:rPr>
              <a:t>인공지능 </a:t>
            </a:r>
            <a:endParaRPr kumimoji="0" lang="en-US" altLang="ko-KR" sz="1600" b="1" kern="0" spc="-100" dirty="0">
              <a:solidFill>
                <a:schemeClr val="bg1"/>
              </a:solidFill>
              <a:latin typeface="+mn-ea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kern="0" spc="-100" dirty="0">
                <a:solidFill>
                  <a:schemeClr val="bg1"/>
                </a:solidFill>
                <a:latin typeface="+mn-ea"/>
              </a:rPr>
              <a:t>딥러닝 학습</a:t>
            </a: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6B62F028-416B-6E91-521D-63ADB74BF823}"/>
              </a:ext>
            </a:extLst>
          </p:cNvPr>
          <p:cNvSpPr/>
          <p:nvPr/>
        </p:nvSpPr>
        <p:spPr>
          <a:xfrm rot="5400000">
            <a:off x="7777956" y="2018507"/>
            <a:ext cx="288925" cy="192088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>
              <a:defRPr/>
            </a:pPr>
            <a:endParaRPr lang="ko-KR" altLang="en-US" sz="1400" b="1" kern="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2DD6DA3-099F-86CD-0670-E02555498B8F}"/>
              </a:ext>
            </a:extLst>
          </p:cNvPr>
          <p:cNvSpPr/>
          <p:nvPr/>
        </p:nvSpPr>
        <p:spPr>
          <a:xfrm>
            <a:off x="8053388" y="980728"/>
            <a:ext cx="1550987" cy="5873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kern="0" spc="-100" dirty="0">
                <a:solidFill>
                  <a:schemeClr val="bg1"/>
                </a:solidFill>
                <a:latin typeface="+mn-ea"/>
              </a:rPr>
              <a:t>소음 진단</a:t>
            </a:r>
            <a:endParaRPr kumimoji="0" lang="en-US" altLang="ko-KR" sz="1600" b="1" kern="0" spc="-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28DF14-921C-5795-823A-659D769AF6CE}"/>
              </a:ext>
            </a:extLst>
          </p:cNvPr>
          <p:cNvSpPr txBox="1"/>
          <p:nvPr/>
        </p:nvSpPr>
        <p:spPr>
          <a:xfrm>
            <a:off x="7945438" y="1699318"/>
            <a:ext cx="1804987" cy="887615"/>
          </a:xfrm>
          <a:prstGeom prst="rect">
            <a:avLst/>
          </a:prstGeom>
          <a:noFill/>
        </p:spPr>
        <p:txBody>
          <a:bodyPr lIns="144000" anchor="ctr">
            <a:spAutoFit/>
          </a:bodyPr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새로운 소음에 대해 학습 결과 기반으로 소음 유형을 파악하고</a:t>
            </a:r>
            <a:r>
              <a:rPr lang="en-US" altLang="ko-KR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,</a:t>
            </a: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 </a:t>
            </a:r>
            <a:r>
              <a:rPr lang="en-US" altLang="ko-KR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UI</a:t>
            </a: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를 통해 결과 피드백</a:t>
            </a:r>
            <a:endParaRPr lang="en-US" altLang="ko-KR" sz="1200" kern="0" spc="-9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EB2ECC-DE98-B451-F10F-D22945330DAB}"/>
              </a:ext>
            </a:extLst>
          </p:cNvPr>
          <p:cNvSpPr txBox="1"/>
          <p:nvPr/>
        </p:nvSpPr>
        <p:spPr>
          <a:xfrm>
            <a:off x="5976938" y="1784823"/>
            <a:ext cx="1736725" cy="722955"/>
          </a:xfrm>
          <a:prstGeom prst="rect">
            <a:avLst/>
          </a:prstGeom>
          <a:noFill/>
        </p:spPr>
        <p:txBody>
          <a:bodyPr lIns="144000" anchor="ctr">
            <a:spAutoFit/>
          </a:bodyPr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변환된 소음 데이터와 정상 데이터를 </a:t>
            </a:r>
            <a:r>
              <a:rPr lang="en-US" altLang="ko-KR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AI</a:t>
            </a: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에 </a:t>
            </a:r>
            <a:endParaRPr lang="en-US" altLang="ko-KR" sz="1200" kern="0" spc="-9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200" kern="0" spc="-9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반복 학습 </a:t>
            </a:r>
            <a:endParaRPr lang="en-US" altLang="ko-KR" sz="1200" kern="0" spc="-9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4" name="갈매기형 수장 29">
            <a:extLst>
              <a:ext uri="{FF2B5EF4-FFF2-40B4-BE49-F238E27FC236}">
                <a16:creationId xmlns:a16="http://schemas.microsoft.com/office/drawing/2014/main" id="{0A98FCA0-4954-2EA1-D05C-8228CC764BFC}"/>
              </a:ext>
            </a:extLst>
          </p:cNvPr>
          <p:cNvSpPr/>
          <p:nvPr/>
        </p:nvSpPr>
        <p:spPr bwMode="auto">
          <a:xfrm>
            <a:off x="1968500" y="3161467"/>
            <a:ext cx="4129088" cy="555625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t">
              <a:defRPr/>
            </a:pP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rPr>
              <a:t>Data Preprocessing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35" name="갈매기형 수장 30">
            <a:extLst>
              <a:ext uri="{FF2B5EF4-FFF2-40B4-BE49-F238E27FC236}">
                <a16:creationId xmlns:a16="http://schemas.microsoft.com/office/drawing/2014/main" id="{679ACA71-C73F-E300-D3E3-81469EBECFA0}"/>
              </a:ext>
            </a:extLst>
          </p:cNvPr>
          <p:cNvSpPr/>
          <p:nvPr/>
        </p:nvSpPr>
        <p:spPr bwMode="auto">
          <a:xfrm>
            <a:off x="5976938" y="3172579"/>
            <a:ext cx="2162175" cy="557213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t">
              <a:defRPr/>
            </a:pP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rPr>
              <a:t>Train/Validate</a:t>
            </a:r>
          </a:p>
          <a:p>
            <a:pPr algn="ctr" fontAlgn="t">
              <a:defRPr/>
            </a:pP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rPr>
              <a:t>Model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36" name="갈매기형 수장 31">
            <a:extLst>
              <a:ext uri="{FF2B5EF4-FFF2-40B4-BE49-F238E27FC236}">
                <a16:creationId xmlns:a16="http://schemas.microsoft.com/office/drawing/2014/main" id="{0CF9A9CE-7E58-C6D6-E8D2-9A1496F29DAA}"/>
              </a:ext>
            </a:extLst>
          </p:cNvPr>
          <p:cNvSpPr/>
          <p:nvPr/>
        </p:nvSpPr>
        <p:spPr bwMode="auto">
          <a:xfrm>
            <a:off x="8013700" y="3145592"/>
            <a:ext cx="1643063" cy="555625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t">
              <a:defRPr/>
            </a:pP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rPr>
              <a:t>Deploy / Monitor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40" name="Text Box 37">
            <a:extLst>
              <a:ext uri="{FF2B5EF4-FFF2-40B4-BE49-F238E27FC236}">
                <a16:creationId xmlns:a16="http://schemas.microsoft.com/office/drawing/2014/main" id="{1F670E59-4222-A94D-7BA6-205CADDB2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00" y="3920292"/>
            <a:ext cx="4013200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9pPr>
          </a:lstStyle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ko-KR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Signal processing </a:t>
            </a: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통한 데이터 전처리</a:t>
            </a:r>
            <a:endParaRPr lang="en-US" altLang="ko-KR" sz="12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   </a:t>
            </a:r>
            <a:r>
              <a:rPr lang="en-US" altLang="ko-KR" sz="1100" b="0" spc="-9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  <a:cs typeface="맑은 고딕" charset="0"/>
              </a:rPr>
              <a:t>- FFT </a:t>
            </a:r>
            <a:r>
              <a:rPr lang="ko-KR" altLang="en-US" sz="1100" b="0" spc="-9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  <a:cs typeface="맑은 고딕" charset="0"/>
              </a:rPr>
              <a:t>변환</a:t>
            </a:r>
            <a:r>
              <a:rPr lang="en-US" altLang="ko-KR" sz="1100" b="0" spc="-9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  <a:cs typeface="맑은 고딕" charset="0"/>
              </a:rPr>
              <a:t>, Resampling, Filtering, Crop </a:t>
            </a:r>
            <a:r>
              <a:rPr lang="ko-KR" altLang="en-US" sz="1100" b="0" spc="-9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  <a:cs typeface="맑은 고딕" charset="0"/>
              </a:rPr>
              <a:t>등</a:t>
            </a:r>
            <a:endParaRPr lang="en-US" altLang="ko-KR" sz="12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소음 유형 별 특성 분석 및 분류</a:t>
            </a:r>
            <a:endParaRPr lang="en-US" altLang="ko-KR" sz="1200" spc="-90" dirty="0">
              <a:solidFill>
                <a:srgbClr val="FF0000"/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200" b="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-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소음 유형 별 유효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frequency spectrum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구간 정의 및 분류</a:t>
            </a:r>
            <a:r>
              <a:rPr lang="ko-KR" altLang="en-US" sz="1100" b="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 </a:t>
            </a:r>
            <a:endParaRPr lang="en-US" altLang="ko-KR" sz="1100" b="0" spc="-9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- data labeling</a:t>
            </a:r>
          </a:p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ko-KR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Data Augmentation</a:t>
            </a:r>
            <a:endParaRPr lang="en-US" altLang="ko-KR" sz="1200" spc="-90" dirty="0">
              <a:solidFill>
                <a:srgbClr val="FF3300"/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200" b="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-  dB / Hz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를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증폭하고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,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감소시키며 다양한 형태의 소음 생성</a:t>
            </a:r>
            <a:endParaRPr lang="en-US" altLang="ko-KR" sz="1100" b="0" spc="-9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소음 특징 벡터 추출 </a:t>
            </a:r>
            <a:endParaRPr lang="en-US" altLang="ko-KR" sz="1200" spc="-90" dirty="0">
              <a:solidFill>
                <a:srgbClr val="FF0000"/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2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- STFT, MFCC, Loudness, Sharpness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와 같은 주파수 도메인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, 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통계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</a:t>
            </a: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  , Sound quality metrics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등의 특징 분석 방법으로 유효 소음의  </a:t>
            </a:r>
            <a:endParaRPr lang="en-US" altLang="ko-KR" sz="1100" b="0" spc="-9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 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특징을 추출한 뒤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,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학습 데이터 형태로 변환</a:t>
            </a:r>
            <a:endParaRPr lang="en-US" altLang="ko-KR" sz="1100" b="0" spc="-9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맑은 고딕" charset="0"/>
            </a:endParaRPr>
          </a:p>
        </p:txBody>
      </p:sp>
      <p:sp>
        <p:nvSpPr>
          <p:cNvPr id="41" name="Text Box 37">
            <a:extLst>
              <a:ext uri="{FF2B5EF4-FFF2-40B4-BE49-F238E27FC236}">
                <a16:creationId xmlns:a16="http://schemas.microsoft.com/office/drawing/2014/main" id="{36541163-14CC-93FF-64C8-515264D5D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6775" y="3920292"/>
            <a:ext cx="2195513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9pPr>
          </a:lstStyle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ko-KR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Train Model</a:t>
            </a: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200" b="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- ML/DL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융복합 모델을</a:t>
            </a:r>
            <a:endParaRPr lang="en-US" altLang="ko-KR" sz="1100" b="0" spc="-9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활용한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Ensemble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학습 </a:t>
            </a:r>
            <a:endParaRPr lang="en-US" altLang="ko-KR" sz="1100" b="0" spc="-9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 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모델 개발</a:t>
            </a:r>
            <a:r>
              <a:rPr lang="ko-KR" altLang="en-US" sz="1100" b="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 </a:t>
            </a:r>
            <a:endParaRPr lang="en-US" altLang="ko-KR" sz="1100" b="0" spc="-9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ko-KR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Pipeline </a:t>
            </a: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자동화 구축 </a:t>
            </a:r>
            <a:endParaRPr lang="en-US" altLang="ko-KR" sz="12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- Data integration</a:t>
            </a: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- Data Preprocessing</a:t>
            </a: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- Train</a:t>
            </a: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- Validation</a:t>
            </a: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- Model deploy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endParaRPr lang="en-US" altLang="ko-KR" sz="1100" b="0" spc="-9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맑은 고딕" charset="0"/>
            </a:endParaRPr>
          </a:p>
        </p:txBody>
      </p:sp>
      <p:sp>
        <p:nvSpPr>
          <p:cNvPr id="43" name="오른쪽 중괄호 42">
            <a:extLst>
              <a:ext uri="{FF2B5EF4-FFF2-40B4-BE49-F238E27FC236}">
                <a16:creationId xmlns:a16="http://schemas.microsoft.com/office/drawing/2014/main" id="{0D8586FF-4E65-89C0-F91F-F13AC0954B24}"/>
              </a:ext>
            </a:extLst>
          </p:cNvPr>
          <p:cNvSpPr/>
          <p:nvPr/>
        </p:nvSpPr>
        <p:spPr>
          <a:xfrm rot="5400000">
            <a:off x="933064" y="2308610"/>
            <a:ext cx="310335" cy="900113"/>
          </a:xfrm>
          <a:prstGeom prst="righ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+mn-ea"/>
            </a:endParaRPr>
          </a:p>
        </p:txBody>
      </p:sp>
      <p:sp>
        <p:nvSpPr>
          <p:cNvPr id="44" name="오른쪽 중괄호 43">
            <a:extLst>
              <a:ext uri="{FF2B5EF4-FFF2-40B4-BE49-F238E27FC236}">
                <a16:creationId xmlns:a16="http://schemas.microsoft.com/office/drawing/2014/main" id="{7AD92B16-84AA-B0B6-67D0-1092CD42CE92}"/>
              </a:ext>
            </a:extLst>
          </p:cNvPr>
          <p:cNvSpPr/>
          <p:nvPr/>
        </p:nvSpPr>
        <p:spPr>
          <a:xfrm rot="5400000">
            <a:off x="3890577" y="1578360"/>
            <a:ext cx="310333" cy="2411412"/>
          </a:xfrm>
          <a:prstGeom prst="righ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+mn-ea"/>
            </a:endParaRPr>
          </a:p>
        </p:txBody>
      </p:sp>
      <p:sp>
        <p:nvSpPr>
          <p:cNvPr id="45" name="오른쪽 중괄호 44">
            <a:extLst>
              <a:ext uri="{FF2B5EF4-FFF2-40B4-BE49-F238E27FC236}">
                <a16:creationId xmlns:a16="http://schemas.microsoft.com/office/drawing/2014/main" id="{601EA305-9422-6F81-A71B-3FF22C1A6BDD}"/>
              </a:ext>
            </a:extLst>
          </p:cNvPr>
          <p:cNvSpPr/>
          <p:nvPr/>
        </p:nvSpPr>
        <p:spPr>
          <a:xfrm rot="5400000">
            <a:off x="6806814" y="2311785"/>
            <a:ext cx="310335" cy="900113"/>
          </a:xfrm>
          <a:prstGeom prst="righ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+mn-ea"/>
            </a:endParaRPr>
          </a:p>
        </p:txBody>
      </p:sp>
      <p:sp>
        <p:nvSpPr>
          <p:cNvPr id="46" name="오른쪽 중괄호 45">
            <a:extLst>
              <a:ext uri="{FF2B5EF4-FFF2-40B4-BE49-F238E27FC236}">
                <a16:creationId xmlns:a16="http://schemas.microsoft.com/office/drawing/2014/main" id="{9CFB8E0A-7B41-85D0-F937-0ED2E1611208}"/>
              </a:ext>
            </a:extLst>
          </p:cNvPr>
          <p:cNvSpPr/>
          <p:nvPr/>
        </p:nvSpPr>
        <p:spPr>
          <a:xfrm rot="5400000">
            <a:off x="8671334" y="2266541"/>
            <a:ext cx="310331" cy="1006475"/>
          </a:xfrm>
          <a:prstGeom prst="righ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+mn-ea"/>
            </a:endParaRPr>
          </a:p>
        </p:txBody>
      </p:sp>
      <p:sp>
        <p:nvSpPr>
          <p:cNvPr id="47" name="Text Box 37">
            <a:extLst>
              <a:ext uri="{FF2B5EF4-FFF2-40B4-BE49-F238E27FC236}">
                <a16:creationId xmlns:a16="http://schemas.microsoft.com/office/drawing/2014/main" id="{F76F0121-B840-AEA3-A2AF-AB02BE08D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2425" y="3920292"/>
            <a:ext cx="1801813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맑은 고딕" charset="0"/>
                <a:ea typeface="굴림" charset="0"/>
                <a:cs typeface="굴림" charset="0"/>
              </a:defRPr>
            </a:lvl9pPr>
          </a:lstStyle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예측 및 진단 </a:t>
            </a:r>
            <a:endParaRPr lang="en-US" altLang="ko-KR" sz="11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-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학습 결과 기반으로</a:t>
            </a:r>
            <a:endParaRPr lang="en-US" altLang="ko-KR" sz="1100" b="0" spc="-9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  소음 유형 파악</a:t>
            </a: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및</a:t>
            </a:r>
            <a:endParaRPr lang="en-US" altLang="ko-KR" sz="1100" b="0" spc="-9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</a:t>
            </a:r>
            <a:r>
              <a:rPr lang="ko-KR" altLang="en-US" sz="1100" b="0" spc="-9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맑은 고딕" charset="0"/>
              </a:rPr>
              <a:t>  진단 로직 개발</a:t>
            </a:r>
            <a:r>
              <a:rPr lang="ko-KR" altLang="en-US" sz="1100" b="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 </a:t>
            </a:r>
            <a:endParaRPr lang="en-US" altLang="ko-KR" sz="1100" b="0" spc="-9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 marL="171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ko-KR" sz="1200" spc="-9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맑은 고딕" charset="0"/>
              </a:rPr>
              <a:t>Accuracy Test</a:t>
            </a:r>
          </a:p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ko-KR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Cloud </a:t>
            </a: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배포 환경 구축</a:t>
            </a:r>
            <a:endParaRPr lang="en-US" altLang="ko-KR" sz="12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 marL="135450" indent="-171450"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ko-KR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UI </a:t>
            </a:r>
            <a:r>
              <a:rPr lang="ko-KR" altLang="en-US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인터페이스 개발 </a:t>
            </a:r>
            <a:endParaRPr lang="en-US" altLang="ko-KR" sz="12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  <a:p>
            <a:pPr>
              <a:lnSpc>
                <a:spcPct val="5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altLang="ko-KR" sz="1200" spc="-90" dirty="0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  <a:cs typeface="맑은 고딕" charset="0"/>
              </a:rPr>
              <a:t>    </a:t>
            </a:r>
            <a:endParaRPr lang="en-US" altLang="ko-KR" sz="1100" spc="-90" dirty="0">
              <a:solidFill>
                <a:schemeClr val="tx2">
                  <a:lumMod val="75000"/>
                </a:schemeClr>
              </a:solidFill>
              <a:latin typeface="+mn-ea"/>
              <a:ea typeface="+mn-ea"/>
              <a:cs typeface="맑은 고딕" charset="0"/>
            </a:endParaRPr>
          </a:p>
        </p:txBody>
      </p:sp>
      <p:sp>
        <p:nvSpPr>
          <p:cNvPr id="2" name="화살표: 오각형 1">
            <a:extLst>
              <a:ext uri="{FF2B5EF4-FFF2-40B4-BE49-F238E27FC236}">
                <a16:creationId xmlns:a16="http://schemas.microsoft.com/office/drawing/2014/main" id="{53FF409C-0FE3-1F36-A138-B14BA52EE26D}"/>
              </a:ext>
            </a:extLst>
          </p:cNvPr>
          <p:cNvSpPr/>
          <p:nvPr/>
        </p:nvSpPr>
        <p:spPr>
          <a:xfrm>
            <a:off x="307975" y="3161467"/>
            <a:ext cx="1785938" cy="539751"/>
          </a:xfrm>
          <a:prstGeom prst="homePlate">
            <a:avLst>
              <a:gd name="adj" fmla="val 48235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>
              <a:defRPr/>
            </a:pPr>
            <a:r>
              <a:rPr lang="en-US" altLang="ko-KR" sz="1800" b="1">
                <a:solidFill>
                  <a:schemeClr val="bg1">
                    <a:lumMod val="50000"/>
                  </a:schemeClr>
                </a:solidFill>
                <a:latin typeface="+mn-ea"/>
                <a:cs typeface="Arial" pitchFamily="34" charset="0"/>
              </a:rPr>
              <a:t>Data</a:t>
            </a:r>
            <a:endParaRPr lang="en-US" altLang="ko-KR" sz="1800" b="1" dirty="0">
              <a:solidFill>
                <a:schemeClr val="bg1">
                  <a:lumMod val="50000"/>
                </a:schemeClr>
              </a:solidFill>
              <a:latin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6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F262C-8D9C-1942-1BD3-B56FC433F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제목 2">
            <a:extLst>
              <a:ext uri="{FF2B5EF4-FFF2-40B4-BE49-F238E27FC236}">
                <a16:creationId xmlns:a16="http://schemas.microsoft.com/office/drawing/2014/main" id="{78EB4C5A-94EB-7863-22D9-9AFA16117C63}"/>
              </a:ext>
            </a:extLst>
          </p:cNvPr>
          <p:cNvSpPr txBox="1">
            <a:spLocks/>
          </p:cNvSpPr>
          <p:nvPr/>
        </p:nvSpPr>
        <p:spPr>
          <a:xfrm>
            <a:off x="416496" y="90113"/>
            <a:ext cx="7416824" cy="307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812781" indent="-812781" defTabSz="957239" fontAlgn="base" latinLnBrk="0">
              <a:spcBef>
                <a:spcPct val="0"/>
              </a:spcBef>
              <a:spcAft>
                <a:spcPct val="0"/>
              </a:spcAft>
              <a:defRPr kumimoji="1" sz="2001" b="1" kern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AI 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소음 진단 플랫폼 개발 과정 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&gt; 1) 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소음 유형별 특징 분석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FE87EF1-AAE4-6198-0DFF-C84AB6E3DC04}"/>
              </a:ext>
            </a:extLst>
          </p:cNvPr>
          <p:cNvSpPr/>
          <p:nvPr/>
        </p:nvSpPr>
        <p:spPr>
          <a:xfrm>
            <a:off x="416496" y="683404"/>
            <a:ext cx="94895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ko-KR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6</a:t>
            </a:r>
            <a:r>
              <a:rPr lang="ko-KR" altLang="en-US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개 소음 유형 별로 주파수 구간과 소음 형상의 차이가 있음을 확인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64984F7-3D7A-87EC-962E-6BFEEF965BCC}"/>
              </a:ext>
            </a:extLst>
          </p:cNvPr>
          <p:cNvSpPr/>
          <p:nvPr/>
        </p:nvSpPr>
        <p:spPr>
          <a:xfrm>
            <a:off x="312116" y="1340768"/>
            <a:ext cx="9308816" cy="43437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" cap="flat" cmpd="sng" algn="ctr">
            <a:solidFill>
              <a:srgbClr val="1F497D"/>
            </a:solidFill>
            <a:prstDash val="solid"/>
          </a:ln>
          <a:effectLst/>
        </p:spPr>
        <p:txBody>
          <a:bodyPr lIns="54000" tIns="54000" rIns="54000" bIns="54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rPr>
              <a:t>소음 유형 특징 분석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BE7992-E0D1-3A09-B96F-E5D0988B2547}"/>
              </a:ext>
            </a:extLst>
          </p:cNvPr>
          <p:cNvSpPr/>
          <p:nvPr/>
        </p:nvSpPr>
        <p:spPr>
          <a:xfrm>
            <a:off x="312116" y="1847148"/>
            <a:ext cx="9308816" cy="3382052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rgbClr val="1F497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54000" rIns="54000" bIns="54000" rtlCol="0" anchor="ctr"/>
          <a:lstStyle/>
          <a:p>
            <a:pPr marL="285750" marR="0" lvl="0" indent="-28575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1CF50B2-C6E4-23A1-46A6-3CC38E3AEA1D}"/>
              </a:ext>
            </a:extLst>
          </p:cNvPr>
          <p:cNvGrpSpPr/>
          <p:nvPr/>
        </p:nvGrpSpPr>
        <p:grpSpPr>
          <a:xfrm>
            <a:off x="488504" y="2179525"/>
            <a:ext cx="8907865" cy="2776780"/>
            <a:chOff x="505913" y="2164388"/>
            <a:chExt cx="8907865" cy="277678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DD07A68-F020-3919-630D-E1DE1EF1A55E}"/>
                </a:ext>
              </a:extLst>
            </p:cNvPr>
            <p:cNvSpPr/>
            <p:nvPr/>
          </p:nvSpPr>
          <p:spPr>
            <a:xfrm>
              <a:off x="505914" y="2164388"/>
              <a:ext cx="224399" cy="50405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1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3EB26C0-0B8B-9F6C-7901-62983581D98A}"/>
                </a:ext>
              </a:extLst>
            </p:cNvPr>
            <p:cNvSpPr/>
            <p:nvPr/>
          </p:nvSpPr>
          <p:spPr>
            <a:xfrm>
              <a:off x="730315" y="2164388"/>
              <a:ext cx="1222370" cy="504056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rPr>
                <a:t>모터</a:t>
              </a: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rPr>
                <a:t>소음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1F73E4E-5C86-F1B0-7190-1B611DB99743}"/>
                </a:ext>
              </a:extLst>
            </p:cNvPr>
            <p:cNvSpPr/>
            <p:nvPr/>
          </p:nvSpPr>
          <p:spPr>
            <a:xfrm>
              <a:off x="505913" y="2666775"/>
              <a:ext cx="1446772" cy="2274393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3175" cap="flat" cmpd="sng" algn="ctr">
              <a:solidFill>
                <a:srgbClr val="1F497D"/>
              </a:solidFill>
              <a:prstDash val="solid"/>
            </a:ln>
            <a:effectLst/>
          </p:spPr>
          <p:txBody>
            <a:bodyPr lIns="54000" tIns="54000" rIns="54000" bIns="54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71FE1DC-8C58-E3CB-5F99-64611B86754A}"/>
                </a:ext>
              </a:extLst>
            </p:cNvPr>
            <p:cNvSpPr txBox="1"/>
            <p:nvPr/>
          </p:nvSpPr>
          <p:spPr>
            <a:xfrm>
              <a:off x="522009" y="2681678"/>
              <a:ext cx="1419763" cy="461665"/>
            </a:xfrm>
            <a:prstGeom prst="rect">
              <a:avLst/>
            </a:prstGeom>
            <a:solidFill>
              <a:srgbClr val="5AA0F5">
                <a:lumMod val="20000"/>
                <a:lumOff val="80000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4194"/>
                  </a:solidFill>
                  <a:effectLst/>
                  <a:uLnTx/>
                  <a:uFillTx/>
                  <a:latin typeface="+mn-ea"/>
                </a:rPr>
                <a:t>100~500Hz</a:t>
              </a: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4194"/>
                  </a:solidFill>
                  <a:effectLst/>
                  <a:uLnTx/>
                  <a:uFillTx/>
                  <a:latin typeface="+mn-ea"/>
                </a:rPr>
                <a:t>(*Peak)</a:t>
              </a:r>
            </a:p>
          </p:txBody>
        </p:sp>
        <p:pic>
          <p:nvPicPr>
            <p:cNvPr id="10" name="Picture 69">
              <a:extLst>
                <a:ext uri="{FF2B5EF4-FFF2-40B4-BE49-F238E27FC236}">
                  <a16:creationId xmlns:a16="http://schemas.microsoft.com/office/drawing/2014/main" id="{05BE0C5C-CD7B-FC69-8BBE-77D18F74309B}"/>
                </a:ext>
              </a:extLst>
            </p:cNvPr>
            <p:cNvPicPr preferRelativeResize="0">
              <a:picLocks noChangeArrowheads="1"/>
            </p:cNvPicPr>
            <p:nvPr/>
          </p:nvPicPr>
          <p:blipFill rotWithShape="1">
            <a:blip r:embed="rId2"/>
            <a:srcRect l="49899" r="-1"/>
            <a:stretch/>
          </p:blipFill>
          <p:spPr bwMode="auto">
            <a:xfrm>
              <a:off x="558829" y="3232050"/>
              <a:ext cx="1368425" cy="1637110"/>
            </a:xfrm>
            <a:prstGeom prst="rect">
              <a:avLst/>
            </a:prstGeom>
            <a:noFill/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888E3D7-2BB6-FEB1-1DA5-6FCAF28D22DB}"/>
                </a:ext>
              </a:extLst>
            </p:cNvPr>
            <p:cNvSpPr/>
            <p:nvPr/>
          </p:nvSpPr>
          <p:spPr bwMode="auto">
            <a:xfrm>
              <a:off x="618113" y="4323813"/>
              <a:ext cx="1062037" cy="265149"/>
            </a:xfrm>
            <a:prstGeom prst="rect">
              <a:avLst/>
            </a:prstGeom>
            <a:noFill/>
            <a:ln w="28575" algn="ctr">
              <a:solidFill>
                <a:sysClr val="window" lastClr="FFFFFF"/>
              </a:solidFill>
              <a:prstDash val="sysDash"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85000"/>
                </a:lnSpc>
                <a:spcBef>
                  <a:spcPct val="25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  <a:cs typeface="Arial" pitchFamily="34" charset="0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B2610CC-07F3-C57D-E2BD-6F27EC808118}"/>
                </a:ext>
              </a:extLst>
            </p:cNvPr>
            <p:cNvSpPr/>
            <p:nvPr/>
          </p:nvSpPr>
          <p:spPr>
            <a:xfrm>
              <a:off x="1997105" y="2164388"/>
              <a:ext cx="224399" cy="50405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2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C7760D3-5CC2-20D8-6A34-ECBCF5E0CF13}"/>
                </a:ext>
              </a:extLst>
            </p:cNvPr>
            <p:cNvSpPr/>
            <p:nvPr/>
          </p:nvSpPr>
          <p:spPr>
            <a:xfrm>
              <a:off x="2221506" y="2164388"/>
              <a:ext cx="1222370" cy="504056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rPr>
                <a:t>스크류 소음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96F28FB-EE0E-396A-41C0-BBF2FEE6DA22}"/>
                </a:ext>
              </a:extLst>
            </p:cNvPr>
            <p:cNvSpPr/>
            <p:nvPr/>
          </p:nvSpPr>
          <p:spPr>
            <a:xfrm>
              <a:off x="1997104" y="2666775"/>
              <a:ext cx="1446772" cy="2274393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3175" cap="flat" cmpd="sng" algn="ctr">
              <a:solidFill>
                <a:srgbClr val="1F497D"/>
              </a:solidFill>
              <a:prstDash val="solid"/>
            </a:ln>
            <a:effectLst/>
          </p:spPr>
          <p:txBody>
            <a:bodyPr lIns="54000" tIns="54000" rIns="54000" bIns="54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3FBAB79-B86C-A7F6-DA2A-36B203BA669F}"/>
                </a:ext>
              </a:extLst>
            </p:cNvPr>
            <p:cNvSpPr txBox="1"/>
            <p:nvPr/>
          </p:nvSpPr>
          <p:spPr>
            <a:xfrm>
              <a:off x="2013200" y="2681678"/>
              <a:ext cx="1407891" cy="461665"/>
            </a:xfrm>
            <a:prstGeom prst="rect">
              <a:avLst/>
            </a:prstGeom>
            <a:solidFill>
              <a:srgbClr val="5AA0F5">
                <a:lumMod val="20000"/>
                <a:lumOff val="80000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4194"/>
                  </a:solidFill>
                  <a:effectLst/>
                  <a:uLnTx/>
                  <a:uFillTx/>
                  <a:latin typeface="+mn-ea"/>
                </a:rPr>
                <a:t>300~900Hz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4194"/>
                  </a:solidFill>
                  <a:effectLst/>
                  <a:uLnTx/>
                  <a:uFillTx/>
                  <a:latin typeface="+mn-ea"/>
                </a:rPr>
                <a:t>(*broad band)</a:t>
              </a: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64194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4CEC09F-6E28-1C2D-294E-3A6EA82DDFE0}"/>
                </a:ext>
              </a:extLst>
            </p:cNvPr>
            <p:cNvSpPr/>
            <p:nvPr/>
          </p:nvSpPr>
          <p:spPr>
            <a:xfrm>
              <a:off x="3482521" y="2164388"/>
              <a:ext cx="224399" cy="50405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3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2468DE6-5D17-84F3-786B-950BE1159948}"/>
                </a:ext>
              </a:extLst>
            </p:cNvPr>
            <p:cNvSpPr/>
            <p:nvPr/>
          </p:nvSpPr>
          <p:spPr>
            <a:xfrm>
              <a:off x="3706922" y="2164388"/>
              <a:ext cx="1222370" cy="504056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rPr>
                <a:t>벨트</a:t>
              </a: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rPr>
                <a:t>소음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0F39BC0-834E-185A-E15F-C2DAEE26693D}"/>
                </a:ext>
              </a:extLst>
            </p:cNvPr>
            <p:cNvSpPr/>
            <p:nvPr/>
          </p:nvSpPr>
          <p:spPr>
            <a:xfrm>
              <a:off x="3482520" y="2666775"/>
              <a:ext cx="1446772" cy="2274393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3175" cap="flat" cmpd="sng" algn="ctr">
              <a:solidFill>
                <a:srgbClr val="1F497D"/>
              </a:solidFill>
              <a:prstDash val="solid"/>
            </a:ln>
            <a:effectLst/>
          </p:spPr>
          <p:txBody>
            <a:bodyPr lIns="54000" tIns="54000" rIns="54000" bIns="54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4506E44-7D4A-DD74-9FA5-3714DFA8B020}"/>
                </a:ext>
              </a:extLst>
            </p:cNvPr>
            <p:cNvSpPr txBox="1"/>
            <p:nvPr/>
          </p:nvSpPr>
          <p:spPr>
            <a:xfrm>
              <a:off x="3498616" y="2681678"/>
              <a:ext cx="1416313" cy="461665"/>
            </a:xfrm>
            <a:prstGeom prst="rect">
              <a:avLst/>
            </a:prstGeom>
            <a:solidFill>
              <a:srgbClr val="5AA0F5">
                <a:lumMod val="20000"/>
                <a:lumOff val="80000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4194"/>
                  </a:solidFill>
                  <a:effectLst/>
                  <a:uLnTx/>
                  <a:uFillTx/>
                  <a:latin typeface="+mn-ea"/>
                </a:rPr>
                <a:t>800~1200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4194"/>
                  </a:solidFill>
                  <a:effectLst/>
                  <a:uLnTx/>
                  <a:uFillTx/>
                  <a:latin typeface="+mn-ea"/>
                </a:rPr>
                <a:t>(Peak)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D245C42-C1ED-8367-BA90-A2CB65F601B7}"/>
                </a:ext>
              </a:extLst>
            </p:cNvPr>
            <p:cNvSpPr/>
            <p:nvPr/>
          </p:nvSpPr>
          <p:spPr>
            <a:xfrm>
              <a:off x="4973712" y="2164388"/>
              <a:ext cx="224399" cy="50405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4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A0B68AF-FBBC-C2DC-D978-AF8F1BCE4AED}"/>
                </a:ext>
              </a:extLst>
            </p:cNvPr>
            <p:cNvSpPr/>
            <p:nvPr/>
          </p:nvSpPr>
          <p:spPr>
            <a:xfrm>
              <a:off x="5198113" y="2164388"/>
              <a:ext cx="1222370" cy="504056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rPr>
                <a:t>스크류</a:t>
              </a: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rPr>
                <a:t>이음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9458D16-F500-5EA0-4902-34C55C95DFA3}"/>
                </a:ext>
              </a:extLst>
            </p:cNvPr>
            <p:cNvSpPr/>
            <p:nvPr/>
          </p:nvSpPr>
          <p:spPr>
            <a:xfrm>
              <a:off x="4973711" y="2666775"/>
              <a:ext cx="1446772" cy="2274393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3175" cap="flat" cmpd="sng" algn="ctr">
              <a:solidFill>
                <a:srgbClr val="1F497D"/>
              </a:solidFill>
              <a:prstDash val="solid"/>
            </a:ln>
            <a:effectLst/>
          </p:spPr>
          <p:txBody>
            <a:bodyPr lIns="54000" tIns="54000" rIns="54000" bIns="54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7B9F1DF-5FB3-7D54-7918-A745D1975E4F}"/>
                </a:ext>
              </a:extLst>
            </p:cNvPr>
            <p:cNvSpPr txBox="1"/>
            <p:nvPr/>
          </p:nvSpPr>
          <p:spPr>
            <a:xfrm>
              <a:off x="4989807" y="2681678"/>
              <a:ext cx="1430676" cy="461665"/>
            </a:xfrm>
            <a:prstGeom prst="rect">
              <a:avLst/>
            </a:prstGeom>
            <a:solidFill>
              <a:srgbClr val="5AA0F5">
                <a:lumMod val="20000"/>
                <a:lumOff val="80000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4194"/>
                  </a:solidFill>
                  <a:effectLst/>
                  <a:uLnTx/>
                  <a:uFillTx/>
                  <a:latin typeface="+mn-ea"/>
                </a:rPr>
                <a:t>200~900Hz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4194"/>
                  </a:solidFill>
                  <a:effectLst/>
                  <a:uLnTx/>
                  <a:uFillTx/>
                  <a:latin typeface="+mn-ea"/>
                </a:rPr>
                <a:t>(*harmonic)</a:t>
              </a: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64194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DDDAB61-9ED2-8163-3544-3CEFAE2124AE}"/>
                </a:ext>
              </a:extLst>
            </p:cNvPr>
            <p:cNvSpPr/>
            <p:nvPr/>
          </p:nvSpPr>
          <p:spPr>
            <a:xfrm>
              <a:off x="6475816" y="2164388"/>
              <a:ext cx="224399" cy="50405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5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FEFCBD8-BC8C-B0A3-4FEF-B4B19FBE62DD}"/>
                </a:ext>
              </a:extLst>
            </p:cNvPr>
            <p:cNvSpPr/>
            <p:nvPr/>
          </p:nvSpPr>
          <p:spPr>
            <a:xfrm>
              <a:off x="6700217" y="2164388"/>
              <a:ext cx="1222370" cy="504056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rPr>
                <a:t>4P </a:t>
              </a: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rPr>
                <a:t>베어링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556958B-3116-D4F0-7C7A-B1B8117279CF}"/>
                </a:ext>
              </a:extLst>
            </p:cNvPr>
            <p:cNvSpPr/>
            <p:nvPr/>
          </p:nvSpPr>
          <p:spPr>
            <a:xfrm>
              <a:off x="6475815" y="2666775"/>
              <a:ext cx="1446772" cy="2274393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3175" cap="flat" cmpd="sng" algn="ctr">
              <a:solidFill>
                <a:srgbClr val="1F497D"/>
              </a:solidFill>
              <a:prstDash val="solid"/>
            </a:ln>
            <a:effectLst/>
          </p:spPr>
          <p:txBody>
            <a:bodyPr lIns="54000" tIns="54000" rIns="54000" bIns="54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78DA31D-BF37-AB45-0938-98D7A85348CF}"/>
                </a:ext>
              </a:extLst>
            </p:cNvPr>
            <p:cNvSpPr txBox="1"/>
            <p:nvPr/>
          </p:nvSpPr>
          <p:spPr>
            <a:xfrm>
              <a:off x="6491911" y="2681678"/>
              <a:ext cx="1430676" cy="461665"/>
            </a:xfrm>
            <a:prstGeom prst="rect">
              <a:avLst/>
            </a:prstGeom>
            <a:solidFill>
              <a:srgbClr val="5AA0F5">
                <a:lumMod val="20000"/>
                <a:lumOff val="80000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4194"/>
                  </a:solidFill>
                  <a:effectLst/>
                  <a:uLnTx/>
                  <a:uFillTx/>
                  <a:latin typeface="+mn-ea"/>
                </a:rPr>
                <a:t>400~800Hz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4194"/>
                  </a:solidFill>
                  <a:effectLst/>
                  <a:uLnTx/>
                  <a:uFillTx/>
                  <a:latin typeface="+mn-ea"/>
                </a:rPr>
                <a:t>(*harmonic)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618262B-3C31-8391-463A-DB41E5108EF5}"/>
                </a:ext>
              </a:extLst>
            </p:cNvPr>
            <p:cNvSpPr/>
            <p:nvPr/>
          </p:nvSpPr>
          <p:spPr>
            <a:xfrm>
              <a:off x="7967007" y="2164388"/>
              <a:ext cx="224399" cy="50405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6</a:t>
              </a: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4BAFD51-FB7A-BA1E-22C2-3955E59134D4}"/>
                </a:ext>
              </a:extLst>
            </p:cNvPr>
            <p:cNvSpPr/>
            <p:nvPr/>
          </p:nvSpPr>
          <p:spPr>
            <a:xfrm>
              <a:off x="8191408" y="2164388"/>
              <a:ext cx="1222370" cy="504056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rPr>
                <a:t>모터 베어링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E4DA4CD-7AD8-BF81-8220-8006CFBC4DE3}"/>
                </a:ext>
              </a:extLst>
            </p:cNvPr>
            <p:cNvSpPr/>
            <p:nvPr/>
          </p:nvSpPr>
          <p:spPr>
            <a:xfrm>
              <a:off x="7967006" y="2666775"/>
              <a:ext cx="1446772" cy="2274393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3175" cap="flat" cmpd="sng" algn="ctr">
              <a:solidFill>
                <a:srgbClr val="1F497D"/>
              </a:solidFill>
              <a:prstDash val="solid"/>
            </a:ln>
            <a:effectLst/>
          </p:spPr>
          <p:txBody>
            <a:bodyPr lIns="54000" tIns="54000" rIns="54000" bIns="54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F57322C-0812-9504-27EE-9B57DCAC3A2B}"/>
                </a:ext>
              </a:extLst>
            </p:cNvPr>
            <p:cNvSpPr txBox="1"/>
            <p:nvPr/>
          </p:nvSpPr>
          <p:spPr>
            <a:xfrm>
              <a:off x="7983102" y="2681678"/>
              <a:ext cx="1430676" cy="461665"/>
            </a:xfrm>
            <a:prstGeom prst="rect">
              <a:avLst/>
            </a:prstGeom>
            <a:solidFill>
              <a:srgbClr val="5AA0F5">
                <a:lumMod val="20000"/>
                <a:lumOff val="80000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4194"/>
                  </a:solidFill>
                  <a:effectLst/>
                  <a:uLnTx/>
                  <a:uFillTx/>
                  <a:latin typeface="+mn-ea"/>
                </a:rPr>
                <a:t>400~2000Hz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64194"/>
                  </a:solidFill>
                  <a:effectLst/>
                  <a:uLnTx/>
                  <a:uFillTx/>
                  <a:latin typeface="+mn-ea"/>
                </a:rPr>
                <a:t>(*harmonic)</a:t>
              </a:r>
            </a:p>
          </p:txBody>
        </p:sp>
        <p:pic>
          <p:nvPicPr>
            <p:cNvPr id="32" name="Picture 70">
              <a:extLst>
                <a:ext uri="{FF2B5EF4-FFF2-40B4-BE49-F238E27FC236}">
                  <a16:creationId xmlns:a16="http://schemas.microsoft.com/office/drawing/2014/main" id="{DE9B55F6-8D59-43BF-0334-3D6CA6B9EEC9}"/>
                </a:ext>
              </a:extLst>
            </p:cNvPr>
            <p:cNvPicPr preferRelativeResize="0">
              <a:picLocks noChangeArrowheads="1"/>
            </p:cNvPicPr>
            <p:nvPr/>
          </p:nvPicPr>
          <p:blipFill rotWithShape="1">
            <a:blip r:embed="rId3"/>
            <a:srcRect l="50249"/>
            <a:stretch/>
          </p:blipFill>
          <p:spPr bwMode="auto">
            <a:xfrm>
              <a:off x="2052666" y="3232050"/>
              <a:ext cx="1368425" cy="1637110"/>
            </a:xfrm>
            <a:prstGeom prst="rect">
              <a:avLst/>
            </a:prstGeom>
            <a:noFill/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33" name="Picture 72">
              <a:extLst>
                <a:ext uri="{FF2B5EF4-FFF2-40B4-BE49-F238E27FC236}">
                  <a16:creationId xmlns:a16="http://schemas.microsoft.com/office/drawing/2014/main" id="{E3CCE0AC-3730-0B26-CD64-FB97895BC5DD}"/>
                </a:ext>
              </a:extLst>
            </p:cNvPr>
            <p:cNvPicPr preferRelativeResize="0">
              <a:picLocks noChangeArrowheads="1"/>
            </p:cNvPicPr>
            <p:nvPr/>
          </p:nvPicPr>
          <p:blipFill rotWithShape="1">
            <a:blip r:embed="rId4"/>
            <a:srcRect l="49912"/>
            <a:stretch/>
          </p:blipFill>
          <p:spPr bwMode="auto">
            <a:xfrm>
              <a:off x="3546504" y="3232050"/>
              <a:ext cx="1368425" cy="1637110"/>
            </a:xfrm>
            <a:prstGeom prst="rect">
              <a:avLst/>
            </a:prstGeom>
            <a:noFill/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34" name="Picture 73">
              <a:extLst>
                <a:ext uri="{FF2B5EF4-FFF2-40B4-BE49-F238E27FC236}">
                  <a16:creationId xmlns:a16="http://schemas.microsoft.com/office/drawing/2014/main" id="{D74C4359-CD4B-E03B-1B67-80167470ADF9}"/>
                </a:ext>
              </a:extLst>
            </p:cNvPr>
            <p:cNvPicPr preferRelativeResize="0">
              <a:picLocks noChangeArrowheads="1"/>
            </p:cNvPicPr>
            <p:nvPr/>
          </p:nvPicPr>
          <p:blipFill rotWithShape="1">
            <a:blip r:embed="rId5"/>
            <a:srcRect l="49927"/>
            <a:stretch/>
          </p:blipFill>
          <p:spPr bwMode="auto">
            <a:xfrm>
              <a:off x="6533133" y="3232050"/>
              <a:ext cx="1368425" cy="1637110"/>
            </a:xfrm>
            <a:prstGeom prst="rect">
              <a:avLst/>
            </a:prstGeom>
            <a:noFill/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35" name="Picture 74">
              <a:extLst>
                <a:ext uri="{FF2B5EF4-FFF2-40B4-BE49-F238E27FC236}">
                  <a16:creationId xmlns:a16="http://schemas.microsoft.com/office/drawing/2014/main" id="{1076A4C7-B9E2-3B51-DEFA-5A619469E2C7}"/>
                </a:ext>
              </a:extLst>
            </p:cNvPr>
            <p:cNvPicPr preferRelativeResize="0">
              <a:picLocks noChangeArrowheads="1"/>
            </p:cNvPicPr>
            <p:nvPr/>
          </p:nvPicPr>
          <p:blipFill rotWithShape="1">
            <a:blip r:embed="rId6"/>
            <a:srcRect l="49913"/>
            <a:stretch/>
          </p:blipFill>
          <p:spPr bwMode="auto">
            <a:xfrm>
              <a:off x="5025008" y="3232050"/>
              <a:ext cx="1368425" cy="1637110"/>
            </a:xfrm>
            <a:prstGeom prst="rect">
              <a:avLst/>
            </a:prstGeom>
            <a:noFill/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36" name="Picture 75">
              <a:extLst>
                <a:ext uri="{FF2B5EF4-FFF2-40B4-BE49-F238E27FC236}">
                  <a16:creationId xmlns:a16="http://schemas.microsoft.com/office/drawing/2014/main" id="{90807312-0409-F177-94AF-8C17772DE625}"/>
                </a:ext>
              </a:extLst>
            </p:cNvPr>
            <p:cNvPicPr preferRelativeResize="0">
              <a:picLocks noChangeArrowheads="1"/>
            </p:cNvPicPr>
            <p:nvPr/>
          </p:nvPicPr>
          <p:blipFill rotWithShape="1">
            <a:blip r:embed="rId7"/>
            <a:srcRect l="50142"/>
            <a:stretch/>
          </p:blipFill>
          <p:spPr bwMode="auto">
            <a:xfrm>
              <a:off x="8007855" y="3232050"/>
              <a:ext cx="1368425" cy="1637110"/>
            </a:xfrm>
            <a:prstGeom prst="rect">
              <a:avLst/>
            </a:prstGeom>
            <a:noFill/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5E99045-1E3B-729F-B879-0133CAFEB548}"/>
                </a:ext>
              </a:extLst>
            </p:cNvPr>
            <p:cNvSpPr/>
            <p:nvPr/>
          </p:nvSpPr>
          <p:spPr bwMode="auto">
            <a:xfrm>
              <a:off x="2109304" y="4119989"/>
              <a:ext cx="1126175" cy="513180"/>
            </a:xfrm>
            <a:prstGeom prst="rect">
              <a:avLst/>
            </a:prstGeom>
            <a:noFill/>
            <a:ln w="28575" algn="ctr">
              <a:solidFill>
                <a:sysClr val="window" lastClr="FFFFFF"/>
              </a:solidFill>
              <a:prstDash val="sysDash"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85000"/>
                </a:lnSpc>
                <a:spcBef>
                  <a:spcPct val="25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  <a:cs typeface="Arial" pitchFamily="34" charset="0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FF0E873E-6644-0AE2-EA7D-CF2D58236D9B}"/>
                </a:ext>
              </a:extLst>
            </p:cNvPr>
            <p:cNvSpPr/>
            <p:nvPr/>
          </p:nvSpPr>
          <p:spPr bwMode="auto">
            <a:xfrm>
              <a:off x="3589411" y="3807560"/>
              <a:ext cx="1125538" cy="312430"/>
            </a:xfrm>
            <a:prstGeom prst="rect">
              <a:avLst/>
            </a:prstGeom>
            <a:noFill/>
            <a:ln w="28575" algn="ctr">
              <a:solidFill>
                <a:sysClr val="window" lastClr="FFFFFF"/>
              </a:solidFill>
              <a:prstDash val="sysDash"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85000"/>
                </a:lnSpc>
                <a:spcBef>
                  <a:spcPct val="25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  <a:cs typeface="Arial" pitchFamily="34" charset="0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54E7F945-41B2-9845-262F-41021FDBC42D}"/>
                </a:ext>
              </a:extLst>
            </p:cNvPr>
            <p:cNvSpPr/>
            <p:nvPr/>
          </p:nvSpPr>
          <p:spPr bwMode="auto">
            <a:xfrm>
              <a:off x="5071046" y="3963774"/>
              <a:ext cx="1125537" cy="504056"/>
            </a:xfrm>
            <a:prstGeom prst="rect">
              <a:avLst/>
            </a:prstGeom>
            <a:noFill/>
            <a:ln w="28575" algn="ctr">
              <a:solidFill>
                <a:sysClr val="window" lastClr="FFFFFF"/>
              </a:solidFill>
              <a:prstDash val="sysDash"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85000"/>
                </a:lnSpc>
                <a:spcBef>
                  <a:spcPct val="25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  <a:cs typeface="Arial" pitchFamily="34" charset="0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57A7A5D-FE44-E557-A486-75D6D846ADA5}"/>
                </a:ext>
              </a:extLst>
            </p:cNvPr>
            <p:cNvSpPr/>
            <p:nvPr/>
          </p:nvSpPr>
          <p:spPr bwMode="auto">
            <a:xfrm>
              <a:off x="6589262" y="4035782"/>
              <a:ext cx="1125538" cy="504056"/>
            </a:xfrm>
            <a:prstGeom prst="rect">
              <a:avLst/>
            </a:prstGeom>
            <a:noFill/>
            <a:ln w="28575" algn="ctr">
              <a:solidFill>
                <a:sysClr val="window" lastClr="FFFFFF"/>
              </a:solidFill>
              <a:prstDash val="sysDash"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85000"/>
                </a:lnSpc>
                <a:spcBef>
                  <a:spcPct val="25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  <a:cs typeface="Arial" pitchFamily="34" charset="0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106BB74-70B1-4FF5-015B-F4A5DBF79EE6}"/>
                </a:ext>
              </a:extLst>
            </p:cNvPr>
            <p:cNvSpPr/>
            <p:nvPr/>
          </p:nvSpPr>
          <p:spPr bwMode="auto">
            <a:xfrm>
              <a:off x="8055480" y="3402634"/>
              <a:ext cx="1125538" cy="1034478"/>
            </a:xfrm>
            <a:prstGeom prst="rect">
              <a:avLst/>
            </a:prstGeom>
            <a:noFill/>
            <a:ln w="28575" algn="ctr">
              <a:solidFill>
                <a:sysClr val="window" lastClr="FFFFFF"/>
              </a:solidFill>
              <a:prstDash val="sysDash"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85000"/>
                </a:lnSpc>
                <a:spcBef>
                  <a:spcPct val="25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ea"/>
                <a:cs typeface="Arial" pitchFamily="34" charset="0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EC51FB99-DFD6-B282-E65A-6692E630F09C}"/>
              </a:ext>
            </a:extLst>
          </p:cNvPr>
          <p:cNvSpPr txBox="1"/>
          <p:nvPr/>
        </p:nvSpPr>
        <p:spPr bwMode="auto">
          <a:xfrm>
            <a:off x="272355" y="5818038"/>
            <a:ext cx="878522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rPr>
              <a:t>*peak :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rPr>
              <a:t>단일 주파수를 의미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rPr>
              <a:t>. ex : 250Hz, 300Hz, …. 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rPr>
              <a:t>*broad band :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rPr>
              <a:t>넓은 대역의 주파수 특성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rPr>
              <a:t>. ex : 400~900Hz, 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rPr>
              <a:t>*harmonic :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rPr>
              <a:t>단일 주파수가 일정한 간격으로 발생 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rPr>
              <a:t>(*df : delta frequency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Wingdings" panose="05000000000000000000" pitchFamily="2" charset="2"/>
              </a:rPr>
              <a:t> harmonic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Wingdings" panose="05000000000000000000" pitchFamily="2" charset="2"/>
              </a:rPr>
              <a:t>주파수간 간격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Wingdings" panose="05000000000000000000" pitchFamily="2" charset="2"/>
              </a:rPr>
              <a:t>)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rPr>
              <a:t> 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3" name="타원형 설명선 158">
            <a:extLst>
              <a:ext uri="{FF2B5EF4-FFF2-40B4-BE49-F238E27FC236}">
                <a16:creationId xmlns:a16="http://schemas.microsoft.com/office/drawing/2014/main" id="{697C9D8B-480C-2C1A-8BEF-C2DB1A553987}"/>
              </a:ext>
            </a:extLst>
          </p:cNvPr>
          <p:cNvSpPr/>
          <p:nvPr/>
        </p:nvSpPr>
        <p:spPr>
          <a:xfrm>
            <a:off x="6196583" y="5191339"/>
            <a:ext cx="2860997" cy="901957"/>
          </a:xfrm>
          <a:prstGeom prst="wedgeEllipseCallout">
            <a:avLst>
              <a:gd name="adj1" fmla="val -19687"/>
              <a:gd name="adj2" fmla="val -114032"/>
            </a:avLst>
          </a:prstGeom>
          <a:solidFill>
            <a:schemeClr val="bg1">
              <a:lumMod val="85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2"/>
                </a:solidFill>
                <a:latin typeface="+mn-ea"/>
              </a:rPr>
              <a:t>소음 특징이 발생된 주파수 영역 정의</a:t>
            </a:r>
          </a:p>
        </p:txBody>
      </p:sp>
    </p:spTree>
    <p:extLst>
      <p:ext uri="{BB962C8B-B14F-4D97-AF65-F5344CB8AC3E}">
        <p14:creationId xmlns:p14="http://schemas.microsoft.com/office/powerpoint/2010/main" val="170980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F93E3-6A49-25F4-41FE-EFA72086D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제목 2">
            <a:extLst>
              <a:ext uri="{FF2B5EF4-FFF2-40B4-BE49-F238E27FC236}">
                <a16:creationId xmlns:a16="http://schemas.microsoft.com/office/drawing/2014/main" id="{CEF85A3E-1B24-A3C9-2BF7-14AA66F3C83D}"/>
              </a:ext>
            </a:extLst>
          </p:cNvPr>
          <p:cNvSpPr txBox="1">
            <a:spLocks/>
          </p:cNvSpPr>
          <p:nvPr/>
        </p:nvSpPr>
        <p:spPr>
          <a:xfrm>
            <a:off x="416496" y="90113"/>
            <a:ext cx="8424936" cy="307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812781" indent="-812781" defTabSz="957239" fontAlgn="base" latinLnBrk="0">
              <a:spcBef>
                <a:spcPct val="0"/>
              </a:spcBef>
              <a:spcAft>
                <a:spcPct val="0"/>
              </a:spcAft>
              <a:defRPr kumimoji="1" sz="2001" b="1" kern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AI 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소음 진단 플랫폼 개발 과정 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&gt; 2) 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소음 특징 추출 및 학습 데이터 생성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F2226A4-B572-D574-0DFD-8BEDECE2ED8F}"/>
              </a:ext>
            </a:extLst>
          </p:cNvPr>
          <p:cNvSpPr/>
          <p:nvPr/>
        </p:nvSpPr>
        <p:spPr>
          <a:xfrm>
            <a:off x="416496" y="683404"/>
            <a:ext cx="94895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ko-KR" altLang="en-US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소음 특징을 추출하고 외부 노이즈를 최소화하기 위한 신호 처리 수행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0DD687E6-93CA-DB01-BA17-2772303F55CB}"/>
              </a:ext>
            </a:extLst>
          </p:cNvPr>
          <p:cNvCxnSpPr/>
          <p:nvPr/>
        </p:nvCxnSpPr>
        <p:spPr>
          <a:xfrm flipH="1">
            <a:off x="2648744" y="6021289"/>
            <a:ext cx="2412000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2C53B648-93F6-06BB-1E35-4487BEF53D37}"/>
              </a:ext>
            </a:extLst>
          </p:cNvPr>
          <p:cNvCxnSpPr/>
          <p:nvPr/>
        </p:nvCxnSpPr>
        <p:spPr>
          <a:xfrm flipH="1">
            <a:off x="2648744" y="4941169"/>
            <a:ext cx="2412000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BCB2DC05-15AE-6E07-0680-929A75A9E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674" y="4551995"/>
            <a:ext cx="1832366" cy="77724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10436846-1106-FC24-6437-42C7C1D3E0B7}"/>
              </a:ext>
            </a:extLst>
          </p:cNvPr>
          <p:cNvGrpSpPr/>
          <p:nvPr/>
        </p:nvGrpSpPr>
        <p:grpSpPr>
          <a:xfrm>
            <a:off x="128462" y="4199453"/>
            <a:ext cx="9571061" cy="2253883"/>
            <a:chOff x="128462" y="4055436"/>
            <a:chExt cx="9571061" cy="2253883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7DFFBD8-DEE9-380A-624F-694C15B1FFCF}"/>
                </a:ext>
              </a:extLst>
            </p:cNvPr>
            <p:cNvGrpSpPr/>
            <p:nvPr/>
          </p:nvGrpSpPr>
          <p:grpSpPr>
            <a:xfrm>
              <a:off x="7695771" y="4356772"/>
              <a:ext cx="1800200" cy="1723694"/>
              <a:chOff x="7695771" y="4356772"/>
              <a:chExt cx="1800200" cy="1723694"/>
            </a:xfrm>
          </p:grpSpPr>
          <p:sp>
            <p:nvSpPr>
              <p:cNvPr id="26" name="모서리가 둥근 직사각형 30">
                <a:extLst>
                  <a:ext uri="{FF2B5EF4-FFF2-40B4-BE49-F238E27FC236}">
                    <a16:creationId xmlns:a16="http://schemas.microsoft.com/office/drawing/2014/main" id="{0200A4A8-7D84-7625-4E8F-248C7C94E908}"/>
                  </a:ext>
                </a:extLst>
              </p:cNvPr>
              <p:cNvSpPr/>
              <p:nvPr/>
            </p:nvSpPr>
            <p:spPr>
              <a:xfrm>
                <a:off x="7695771" y="4356772"/>
                <a:ext cx="1800200" cy="1723694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n-ea"/>
                </a:endParaRPr>
              </a:p>
            </p:txBody>
          </p:sp>
          <p:sp>
            <p:nvSpPr>
              <p:cNvPr id="28" name="모서리가 둥근 직사각형 32">
                <a:extLst>
                  <a:ext uri="{FF2B5EF4-FFF2-40B4-BE49-F238E27FC236}">
                    <a16:creationId xmlns:a16="http://schemas.microsoft.com/office/drawing/2014/main" id="{1E817D98-3CA8-4465-028B-3BDA6C26727F}"/>
                  </a:ext>
                </a:extLst>
              </p:cNvPr>
              <p:cNvSpPr/>
              <p:nvPr/>
            </p:nvSpPr>
            <p:spPr>
              <a:xfrm>
                <a:off x="7897780" y="5384787"/>
                <a:ext cx="1375778" cy="564492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2"/>
                    </a:solidFill>
                    <a:latin typeface="+mn-ea"/>
                  </a:rPr>
                  <a:t>Spectrogram Image data</a:t>
                </a:r>
                <a:endParaRPr lang="ko-KR" altLang="en-US" sz="1400" dirty="0">
                  <a:solidFill>
                    <a:schemeClr val="tx2"/>
                  </a:solidFill>
                  <a:latin typeface="+mn-ea"/>
                </a:endParaRPr>
              </a:p>
            </p:txBody>
          </p:sp>
          <p:sp>
            <p:nvSpPr>
              <p:cNvPr id="27" name="모서리가 둥근 직사각형 31">
                <a:extLst>
                  <a:ext uri="{FF2B5EF4-FFF2-40B4-BE49-F238E27FC236}">
                    <a16:creationId xmlns:a16="http://schemas.microsoft.com/office/drawing/2014/main" id="{90C2ED09-8A89-B654-B4D0-15294D2670AD}"/>
                  </a:ext>
                </a:extLst>
              </p:cNvPr>
              <p:cNvSpPr/>
              <p:nvPr/>
            </p:nvSpPr>
            <p:spPr>
              <a:xfrm>
                <a:off x="7897780" y="4520691"/>
                <a:ext cx="1375778" cy="564492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2"/>
                    </a:solidFill>
                    <a:latin typeface="+mn-ea"/>
                  </a:rPr>
                  <a:t>Signal Data</a:t>
                </a:r>
                <a:endParaRPr lang="ko-KR" altLang="en-US" sz="1400" dirty="0">
                  <a:solidFill>
                    <a:schemeClr val="tx2"/>
                  </a:solidFill>
                  <a:latin typeface="+mn-ea"/>
                </a:endParaRPr>
              </a:p>
            </p:txBody>
          </p:sp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8DF29FA-D598-A399-B15C-1CF939BACD4B}"/>
                </a:ext>
              </a:extLst>
            </p:cNvPr>
            <p:cNvSpPr/>
            <p:nvPr/>
          </p:nvSpPr>
          <p:spPr>
            <a:xfrm>
              <a:off x="351699" y="4440280"/>
              <a:ext cx="232620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rgbClr val="000000"/>
                  </a:solidFill>
                  <a:latin typeface="+mn-ea"/>
                </a:rPr>
                <a:t>[[-174.866,</a:t>
              </a:r>
              <a:r>
                <a:rPr lang="ko-KR" altLang="en-US" sz="1200" dirty="0">
                  <a:latin typeface="+mn-ea"/>
                </a:rPr>
                <a:t> </a:t>
              </a:r>
              <a:r>
                <a:rPr lang="en-US" altLang="ko-KR" sz="1200" dirty="0">
                  <a:solidFill>
                    <a:srgbClr val="000000"/>
                  </a:solidFill>
                  <a:latin typeface="+mn-ea"/>
                </a:rPr>
                <a:t>123.444,</a:t>
              </a:r>
              <a:r>
                <a:rPr lang="ko-KR" altLang="en-US" sz="1200" dirty="0">
                  <a:latin typeface="+mn-ea"/>
                </a:rPr>
                <a:t> </a:t>
              </a:r>
              <a:r>
                <a:rPr lang="en-US" altLang="ko-KR" sz="1200" dirty="0">
                  <a:solidFill>
                    <a:srgbClr val="000000"/>
                  </a:solidFill>
                  <a:latin typeface="+mn-ea"/>
                </a:rPr>
                <a:t>34.19695,</a:t>
              </a:r>
            </a:p>
            <a:p>
              <a:r>
                <a:rPr lang="ko-KR" altLang="en-US" sz="1200" dirty="0">
                  <a:latin typeface="+mn-ea"/>
                </a:rPr>
                <a:t> </a:t>
              </a:r>
              <a:r>
                <a:rPr lang="en-US" altLang="ko-KR" sz="1200" dirty="0">
                  <a:solidFill>
                    <a:srgbClr val="000000"/>
                  </a:solidFill>
                  <a:latin typeface="+mn-ea"/>
                </a:rPr>
                <a:t>30.8163, 11.96629,</a:t>
              </a:r>
              <a:r>
                <a:rPr lang="ko-KR" altLang="en-US" sz="1200" dirty="0">
                  <a:latin typeface="+mn-ea"/>
                </a:rPr>
                <a:t> </a:t>
              </a:r>
              <a:r>
                <a:rPr lang="en-US" altLang="ko-KR" sz="1200" dirty="0">
                  <a:solidFill>
                    <a:srgbClr val="000000"/>
                  </a:solidFill>
                  <a:latin typeface="+mn-ea"/>
                </a:rPr>
                <a:t>-16.4816, </a:t>
              </a:r>
            </a:p>
            <a:p>
              <a:r>
                <a:rPr lang="en-US" altLang="ko-KR" sz="1200" dirty="0">
                  <a:solidFill>
                    <a:srgbClr val="000000"/>
                  </a:solidFill>
                  <a:latin typeface="+mn-ea"/>
                </a:rPr>
                <a:t>-8.07601,</a:t>
              </a:r>
              <a:r>
                <a:rPr lang="ko-KR" altLang="en-US" sz="1200" dirty="0">
                  <a:latin typeface="+mn-ea"/>
                </a:rPr>
                <a:t> </a:t>
              </a:r>
              <a:r>
                <a:rPr lang="en-US" altLang="ko-KR" sz="1200" dirty="0">
                  <a:solidFill>
                    <a:srgbClr val="000000"/>
                  </a:solidFill>
                  <a:latin typeface="+mn-ea"/>
                </a:rPr>
                <a:t>0.222002, -4.73087,</a:t>
              </a:r>
              <a:r>
                <a:rPr lang="ko-KR" altLang="en-US" sz="1200" dirty="0">
                  <a:latin typeface="+mn-ea"/>
                </a:rPr>
                <a:t> </a:t>
              </a:r>
              <a:endParaRPr lang="en-US" altLang="ko-KR" sz="1200" dirty="0">
                <a:latin typeface="+mn-ea"/>
              </a:endParaRPr>
            </a:p>
            <a:p>
              <a:r>
                <a:rPr lang="en-US" altLang="ko-KR" sz="1200" dirty="0">
                  <a:latin typeface="+mn-ea"/>
                </a:rPr>
                <a:t>……….]]</a:t>
              </a:r>
              <a:endParaRPr lang="ko-KR" altLang="en-US" sz="1200" dirty="0">
                <a:latin typeface="+mn-ea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F32C3100-6BF6-C8DB-B4E3-FE4E7907FC42}"/>
                </a:ext>
              </a:extLst>
            </p:cNvPr>
            <p:cNvGrpSpPr/>
            <p:nvPr/>
          </p:nvGrpSpPr>
          <p:grpSpPr>
            <a:xfrm>
              <a:off x="4941912" y="5151240"/>
              <a:ext cx="1984377" cy="1086072"/>
              <a:chOff x="4941912" y="5109162"/>
              <a:chExt cx="1984377" cy="1086072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7FF6F7DB-377B-9AF3-9573-3708F6054A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41912" y="5109162"/>
                <a:ext cx="1984377" cy="1086072"/>
              </a:xfrm>
              <a:prstGeom prst="rect">
                <a:avLst/>
              </a:prstGeom>
            </p:spPr>
          </p:pic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BAA35B65-1A06-3417-BDCB-74B10117F933}"/>
                  </a:ext>
                </a:extLst>
              </p:cNvPr>
              <p:cNvSpPr/>
              <p:nvPr/>
            </p:nvSpPr>
            <p:spPr>
              <a:xfrm>
                <a:off x="5134359" y="5574953"/>
                <a:ext cx="1746840" cy="338824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n-ea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D698C39-766A-DF88-A6C0-6CDC85EE3115}"/>
                  </a:ext>
                </a:extLst>
              </p:cNvPr>
              <p:cNvSpPr txBox="1"/>
              <p:nvPr/>
            </p:nvSpPr>
            <p:spPr bwMode="auto">
              <a:xfrm>
                <a:off x="5111922" y="5308885"/>
                <a:ext cx="1784022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200" kern="0" noProof="0" dirty="0">
                    <a:solidFill>
                      <a:schemeClr val="bg1"/>
                    </a:solidFill>
                    <a:latin typeface="+mn-ea"/>
                  </a:rPr>
                  <a:t>벨트 소음</a:t>
                </a:r>
                <a:endPara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983D64FA-3D5A-4296-98AE-B2F60874E83D}"/>
                </a:ext>
              </a:extLst>
            </p:cNvPr>
            <p:cNvCxnSpPr/>
            <p:nvPr/>
          </p:nvCxnSpPr>
          <p:spPr>
            <a:xfrm flipH="1">
              <a:off x="7002662" y="5653582"/>
              <a:ext cx="895118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A249C0BE-445C-267D-E950-FEFD642DFB03}"/>
                </a:ext>
              </a:extLst>
            </p:cNvPr>
            <p:cNvGrpSpPr/>
            <p:nvPr/>
          </p:nvGrpSpPr>
          <p:grpSpPr>
            <a:xfrm>
              <a:off x="5689003" y="4430002"/>
              <a:ext cx="1173472" cy="649231"/>
              <a:chOff x="5689003" y="4430002"/>
              <a:chExt cx="1173472" cy="649231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2A48B1D7-8D7F-D437-0592-4729A93C50A7}"/>
                  </a:ext>
                </a:extLst>
              </p:cNvPr>
              <p:cNvSpPr/>
              <p:nvPr/>
            </p:nvSpPr>
            <p:spPr>
              <a:xfrm>
                <a:off x="5689003" y="4430002"/>
                <a:ext cx="200101" cy="64923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n-ea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F5086F-51FB-B308-C84C-73F4CADFEB00}"/>
                  </a:ext>
                </a:extLst>
              </p:cNvPr>
              <p:cNvSpPr txBox="1"/>
              <p:nvPr/>
            </p:nvSpPr>
            <p:spPr bwMode="auto">
              <a:xfrm>
                <a:off x="5767409" y="4651638"/>
                <a:ext cx="1095066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200" kern="0" noProof="0" dirty="0">
                    <a:latin typeface="+mn-ea"/>
                  </a:rPr>
                  <a:t>벨트 소음</a:t>
                </a:r>
                <a:endParaRPr kumimoji="0" lang="ko-KR" altLang="en-US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</a:endParaRPr>
              </a:p>
            </p:txBody>
          </p:sp>
        </p:grp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16EE5CEA-438C-DEE1-6390-D0D27E81FECB}"/>
                </a:ext>
              </a:extLst>
            </p:cNvPr>
            <p:cNvCxnSpPr/>
            <p:nvPr/>
          </p:nvCxnSpPr>
          <p:spPr>
            <a:xfrm flipH="1">
              <a:off x="7011858" y="4815317"/>
              <a:ext cx="895118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8CD762D3-C4DA-4B05-73ED-CD80FCD13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2392" y="5654627"/>
              <a:ext cx="2291976" cy="473397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B6F49E9-1091-CED5-6203-4451845F676E}"/>
                </a:ext>
              </a:extLst>
            </p:cNvPr>
            <p:cNvSpPr/>
            <p:nvPr/>
          </p:nvSpPr>
          <p:spPr>
            <a:xfrm>
              <a:off x="205757" y="4440280"/>
              <a:ext cx="2426479" cy="830998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A75F6EC-CE37-A608-CF1E-9CC10C5B7D0E}"/>
                </a:ext>
              </a:extLst>
            </p:cNvPr>
            <p:cNvSpPr/>
            <p:nvPr/>
          </p:nvSpPr>
          <p:spPr>
            <a:xfrm>
              <a:off x="200472" y="5532836"/>
              <a:ext cx="2426479" cy="704476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E2CBE4A-A5C3-E35E-FEE5-3D893A2ECE96}"/>
                </a:ext>
              </a:extLst>
            </p:cNvPr>
            <p:cNvSpPr txBox="1"/>
            <p:nvPr/>
          </p:nvSpPr>
          <p:spPr bwMode="auto">
            <a:xfrm>
              <a:off x="214224" y="4122224"/>
              <a:ext cx="241272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400" b="1" kern="0" noProof="0" dirty="0">
                  <a:latin typeface="+mn-ea"/>
                </a:rPr>
                <a:t>[S</a:t>
              </a:r>
              <a:r>
                <a:rPr lang="en-US" altLang="ko-KR" sz="1400" b="1" kern="0" dirty="0">
                  <a:latin typeface="+mn-ea"/>
                </a:rPr>
                <a:t>ound </a:t>
              </a:r>
              <a:r>
                <a:rPr lang="ko-KR" altLang="en-US" sz="1400" b="1" kern="0" noProof="0" dirty="0">
                  <a:latin typeface="+mn-ea"/>
                </a:rPr>
                <a:t>학습 데이터</a:t>
              </a:r>
              <a:r>
                <a:rPr lang="en-US" altLang="ko-KR" sz="1400" b="1" kern="0" noProof="0" dirty="0">
                  <a:latin typeface="+mn-ea"/>
                </a:rPr>
                <a:t>]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32B540C-695C-C490-53C5-5ACD8ABB6E18}"/>
                </a:ext>
              </a:extLst>
            </p:cNvPr>
            <p:cNvSpPr txBox="1"/>
            <p:nvPr/>
          </p:nvSpPr>
          <p:spPr bwMode="auto">
            <a:xfrm>
              <a:off x="170127" y="5281463"/>
              <a:ext cx="241272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400" b="1" kern="0" noProof="0" dirty="0">
                  <a:latin typeface="+mn-ea"/>
                </a:rPr>
                <a:t>[Image </a:t>
              </a:r>
              <a:r>
                <a:rPr lang="ko-KR" altLang="en-US" sz="1400" b="1" kern="0" noProof="0" dirty="0">
                  <a:latin typeface="+mn-ea"/>
                </a:rPr>
                <a:t>학습 데이터</a:t>
              </a:r>
              <a:r>
                <a:rPr lang="en-US" altLang="ko-KR" sz="1400" b="1" kern="0" noProof="0" dirty="0">
                  <a:latin typeface="+mn-ea"/>
                </a:rPr>
                <a:t>]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F9D4D89-D8E6-1159-EE3E-F008444B237D}"/>
                </a:ext>
              </a:extLst>
            </p:cNvPr>
            <p:cNvSpPr/>
            <p:nvPr/>
          </p:nvSpPr>
          <p:spPr>
            <a:xfrm>
              <a:off x="128462" y="4055436"/>
              <a:ext cx="9571061" cy="2253883"/>
            </a:xfrm>
            <a:prstGeom prst="rect">
              <a:avLst/>
            </a:prstGeom>
            <a:noFill/>
            <a:ln w="31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BE86A9-D6E6-D17B-1145-35EC54B87E51}"/>
                </a:ext>
              </a:extLst>
            </p:cNvPr>
            <p:cNvSpPr txBox="1"/>
            <p:nvPr/>
          </p:nvSpPr>
          <p:spPr bwMode="auto">
            <a:xfrm>
              <a:off x="4844817" y="4082596"/>
              <a:ext cx="227471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lvl="0" algn="ctr" latinLnBrk="0">
                <a:defRPr/>
              </a:pPr>
              <a:r>
                <a:rPr lang="en-US" altLang="ko-KR" sz="1400" b="1" kern="0" dirty="0">
                  <a:latin typeface="+mn-ea"/>
                </a:rPr>
                <a:t>[</a:t>
              </a:r>
              <a:r>
                <a:rPr lang="ko-KR" altLang="en-US" sz="1400" b="1" kern="0" dirty="0">
                  <a:latin typeface="+mn-ea"/>
                </a:rPr>
                <a:t>주파수 특징구간 필터링</a:t>
              </a:r>
              <a:r>
                <a:rPr lang="en-US" altLang="ko-KR" sz="1400" b="1" kern="0" noProof="0" dirty="0">
                  <a:latin typeface="+mn-ea"/>
                </a:rPr>
                <a:t>]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F39B624-FC1D-A35F-4D38-28F049017010}"/>
              </a:ext>
            </a:extLst>
          </p:cNvPr>
          <p:cNvGrpSpPr/>
          <p:nvPr/>
        </p:nvGrpSpPr>
        <p:grpSpPr>
          <a:xfrm>
            <a:off x="128463" y="1268760"/>
            <a:ext cx="9571061" cy="2486535"/>
            <a:chOff x="128463" y="1412776"/>
            <a:chExt cx="9571061" cy="2486535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29AB70A-71CE-25F1-A789-D1F4AF1A17AC}"/>
                </a:ext>
              </a:extLst>
            </p:cNvPr>
            <p:cNvSpPr/>
            <p:nvPr/>
          </p:nvSpPr>
          <p:spPr>
            <a:xfrm>
              <a:off x="128463" y="1412776"/>
              <a:ext cx="9571061" cy="2486535"/>
            </a:xfrm>
            <a:prstGeom prst="rect">
              <a:avLst/>
            </a:prstGeom>
            <a:noFill/>
            <a:ln w="31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29EBF15-61FC-8FD8-59DB-D1F7774C8434}"/>
                </a:ext>
              </a:extLst>
            </p:cNvPr>
            <p:cNvSpPr txBox="1"/>
            <p:nvPr/>
          </p:nvSpPr>
          <p:spPr bwMode="auto">
            <a:xfrm>
              <a:off x="282392" y="1465512"/>
              <a:ext cx="191888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400" b="1" kern="0" dirty="0">
                  <a:latin typeface="+mn-ea"/>
                </a:rPr>
                <a:t>[</a:t>
              </a:r>
              <a:r>
                <a:rPr lang="ko-KR" altLang="en-US" sz="1400" b="1" kern="0" dirty="0">
                  <a:latin typeface="+mn-ea"/>
                </a:rPr>
                <a:t>입력</a:t>
              </a: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</a:rPr>
                <a:t> 신호</a:t>
              </a: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</a:rPr>
                <a:t>]</a:t>
              </a: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</a:rPr>
                <a:t> </a:t>
              </a:r>
              <a:endParaRPr kumimoji="0" lang="en-US" altLang="ko-KR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</a:endParaRPr>
            </a:p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i="0" u="none" strike="noStrike" kern="0" cap="none" spc="0" normalizeH="0" baseline="0" noProof="0" dirty="0">
                  <a:ln>
                    <a:noFill/>
                  </a:ln>
                  <a:solidFill>
                    <a:srgbClr val="0B4EA2"/>
                  </a:solidFill>
                  <a:effectLst/>
                  <a:uLnTx/>
                  <a:uFillTx/>
                  <a:latin typeface="+mn-ea"/>
                </a:rPr>
                <a:t>2</a:t>
              </a:r>
              <a:r>
                <a:rPr kumimoji="0" lang="en-US" altLang="ko-KR" sz="1400" i="0" u="none" strike="noStrike" kern="0" cap="none" spc="0" normalizeH="0" noProof="0" dirty="0">
                  <a:ln>
                    <a:noFill/>
                  </a:ln>
                  <a:solidFill>
                    <a:srgbClr val="0B4EA2"/>
                  </a:solidFill>
                  <a:effectLst/>
                  <a:uLnTx/>
                  <a:uFillTx/>
                  <a:latin typeface="+mn-ea"/>
                </a:rPr>
                <a:t> channel</a:t>
              </a:r>
              <a:endPara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B4EA2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2" name="모서리가 둥근 직사각형 36">
              <a:extLst>
                <a:ext uri="{FF2B5EF4-FFF2-40B4-BE49-F238E27FC236}">
                  <a16:creationId xmlns:a16="http://schemas.microsoft.com/office/drawing/2014/main" id="{BA85FE80-BE4F-0C78-3DC9-A3CFD94ED096}"/>
                </a:ext>
              </a:extLst>
            </p:cNvPr>
            <p:cNvSpPr/>
            <p:nvPr/>
          </p:nvSpPr>
          <p:spPr>
            <a:xfrm>
              <a:off x="2735744" y="2171609"/>
              <a:ext cx="1722748" cy="143690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rgbClr val="0070C0"/>
                  </a:solidFill>
                  <a:latin typeface="+mn-ea"/>
                  <a:sym typeface="Wingdings" panose="05000000000000000000" pitchFamily="2" charset="2"/>
                </a:rPr>
                <a:t> </a:t>
              </a:r>
              <a:br>
                <a:rPr lang="en-US" altLang="ko-KR" sz="1400" dirty="0">
                  <a:solidFill>
                    <a:srgbClr val="0070C0"/>
                  </a:solidFill>
                  <a:latin typeface="+mn-ea"/>
                  <a:sym typeface="Wingdings" panose="05000000000000000000" pitchFamily="2" charset="2"/>
                </a:rPr>
              </a:br>
              <a:endParaRPr lang="ko-KR" altLang="en-US" sz="1400" dirty="0">
                <a:solidFill>
                  <a:srgbClr val="0070C0"/>
                </a:solidFill>
                <a:latin typeface="+mn-ea"/>
              </a:endParaRPr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4592908F-683F-572E-2A9B-47C8A3D5C701}"/>
                </a:ext>
              </a:extLst>
            </p:cNvPr>
            <p:cNvCxnSpPr>
              <a:stCxn id="35" idx="3"/>
            </p:cNvCxnSpPr>
            <p:nvPr/>
          </p:nvCxnSpPr>
          <p:spPr>
            <a:xfrm>
              <a:off x="2216696" y="2381287"/>
              <a:ext cx="490646" cy="408328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F577879C-CB89-98EF-3719-10D78681182F}"/>
                </a:ext>
              </a:extLst>
            </p:cNvPr>
            <p:cNvCxnSpPr>
              <a:stCxn id="36" idx="3"/>
            </p:cNvCxnSpPr>
            <p:nvPr/>
          </p:nvCxnSpPr>
          <p:spPr>
            <a:xfrm flipV="1">
              <a:off x="2206298" y="2884635"/>
              <a:ext cx="501044" cy="502934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48A85A30-277A-E457-117F-B315ED40A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3609" y="1982114"/>
              <a:ext cx="2023087" cy="798346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15D7BBD2-1BD6-9058-2ECD-D6C7A4536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0127" y="2988639"/>
              <a:ext cx="2036171" cy="797860"/>
            </a:xfrm>
            <a:prstGeom prst="rect">
              <a:avLst/>
            </a:prstGeom>
          </p:spPr>
        </p:pic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ADDFC2BA-5FEC-9CB5-AE92-43D00767B2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5050" y="2398365"/>
              <a:ext cx="466862" cy="40291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11746BD1-FE28-5E1B-1A56-BE41CCB3968F}"/>
                </a:ext>
              </a:extLst>
            </p:cNvPr>
            <p:cNvCxnSpPr>
              <a:cxnSpLocks/>
            </p:cNvCxnSpPr>
            <p:nvPr/>
          </p:nvCxnSpPr>
          <p:spPr>
            <a:xfrm>
              <a:off x="4469075" y="2812543"/>
              <a:ext cx="424043" cy="458317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BA331C8-8A6F-F611-70BD-D44565CE253F}"/>
                </a:ext>
              </a:extLst>
            </p:cNvPr>
            <p:cNvSpPr txBox="1"/>
            <p:nvPr/>
          </p:nvSpPr>
          <p:spPr bwMode="auto">
            <a:xfrm>
              <a:off x="5001937" y="1522381"/>
              <a:ext cx="197282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400" b="1" kern="0" dirty="0">
                  <a:latin typeface="+mn-ea"/>
                </a:rPr>
                <a:t>[</a:t>
              </a:r>
              <a:r>
                <a:rPr lang="ko-KR" altLang="en-US" sz="1400" b="1" kern="0" dirty="0">
                  <a:latin typeface="+mn-ea"/>
                </a:rPr>
                <a:t>주파수 신호</a:t>
              </a:r>
              <a:r>
                <a:rPr lang="en-US" altLang="ko-KR" sz="1400" b="1" kern="0" dirty="0">
                  <a:latin typeface="+mn-ea"/>
                </a:rPr>
                <a:t>]</a:t>
              </a:r>
            </a:p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i="0" u="none" strike="noStrike" kern="0" cap="none" spc="0" normalizeH="0" baseline="0" noProof="0" dirty="0">
                  <a:ln>
                    <a:noFill/>
                  </a:ln>
                  <a:solidFill>
                    <a:srgbClr val="0B4EA2"/>
                  </a:solidFill>
                  <a:effectLst/>
                  <a:uLnTx/>
                  <a:uFillTx/>
                  <a:latin typeface="+mn-ea"/>
                </a:rPr>
                <a:t>2</a:t>
              </a:r>
              <a:r>
                <a:rPr kumimoji="0" lang="en-US" altLang="ko-KR" sz="1400" i="0" u="none" strike="noStrike" kern="0" cap="none" spc="0" normalizeH="0" noProof="0" dirty="0">
                  <a:ln>
                    <a:noFill/>
                  </a:ln>
                  <a:solidFill>
                    <a:srgbClr val="0B4EA2"/>
                  </a:solidFill>
                  <a:effectLst/>
                  <a:uLnTx/>
                  <a:uFillTx/>
                  <a:latin typeface="+mn-ea"/>
                </a:rPr>
                <a:t> channel</a:t>
              </a:r>
              <a:endParaRPr kumimoji="0" lang="ko-KR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B4EA2"/>
                </a:solidFill>
                <a:effectLst/>
                <a:uLnTx/>
                <a:uFillTx/>
                <a:latin typeface="+mn-ea"/>
              </a:endParaRPr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30628E11-B0CC-1EB2-20AC-4EA28535FA31}"/>
                </a:ext>
              </a:extLst>
            </p:cNvPr>
            <p:cNvCxnSpPr/>
            <p:nvPr/>
          </p:nvCxnSpPr>
          <p:spPr>
            <a:xfrm>
              <a:off x="7024201" y="2318170"/>
              <a:ext cx="468001" cy="494373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DFFD410C-2CF1-2025-6F10-5D2BD937B0DB}"/>
                </a:ext>
              </a:extLst>
            </p:cNvPr>
            <p:cNvCxnSpPr/>
            <p:nvPr/>
          </p:nvCxnSpPr>
          <p:spPr>
            <a:xfrm flipV="1">
              <a:off x="7011858" y="2888962"/>
              <a:ext cx="468000" cy="54000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0A0C7BE-ECAD-7D4D-7D5B-E20B936E863A}"/>
                </a:ext>
              </a:extLst>
            </p:cNvPr>
            <p:cNvSpPr txBox="1"/>
            <p:nvPr/>
          </p:nvSpPr>
          <p:spPr bwMode="auto">
            <a:xfrm>
              <a:off x="7588677" y="1845405"/>
              <a:ext cx="2032846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+mn-ea"/>
                </a:rPr>
                <a:t>[</a:t>
              </a:r>
              <a:r>
                <a:rPr kumimoji="0" lang="ko-KR" altLang="en-US" sz="1400" b="1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+mn-ea"/>
                </a:rPr>
                <a:t>주파수 신호</a:t>
              </a:r>
              <a:r>
                <a:rPr kumimoji="0" lang="en-US" altLang="ko-KR" sz="1400" b="1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+mn-ea"/>
                </a:rPr>
                <a:t>]</a:t>
              </a:r>
            </a:p>
            <a:p>
              <a:pPr algn="ctr" latinLnBrk="0">
                <a:defRPr/>
              </a:pPr>
              <a:r>
                <a:rPr lang="en-US" altLang="ko-KR" sz="1400" kern="0" dirty="0">
                  <a:solidFill>
                    <a:srgbClr val="0B4EA2"/>
                  </a:solidFill>
                  <a:latin typeface="+mn-ea"/>
                </a:rPr>
                <a:t>1 channel</a:t>
              </a:r>
              <a:r>
                <a:rPr lang="ko-KR" altLang="en-US" sz="1400" kern="0" dirty="0">
                  <a:solidFill>
                    <a:srgbClr val="0B4EA2"/>
                  </a:solidFill>
                  <a:latin typeface="+mn-ea"/>
                </a:rPr>
                <a:t>로 합성</a:t>
              </a:r>
            </a:p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68FACB3-6765-9AF9-1801-E39250DEDCA1}"/>
                </a:ext>
              </a:extLst>
            </p:cNvPr>
            <p:cNvSpPr txBox="1"/>
            <p:nvPr/>
          </p:nvSpPr>
          <p:spPr bwMode="auto">
            <a:xfrm>
              <a:off x="6903039" y="2720380"/>
              <a:ext cx="61561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400" kern="0" dirty="0">
                  <a:solidFill>
                    <a:srgbClr val="0B4EA2"/>
                  </a:solidFill>
                  <a:latin typeface="+mn-ea"/>
                </a:rPr>
                <a:t>Avg.</a:t>
              </a: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B4EA2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E902E19-D35F-B1D9-18CF-6F345E54BDF9}"/>
                </a:ext>
              </a:extLst>
            </p:cNvPr>
            <p:cNvSpPr txBox="1"/>
            <p:nvPr/>
          </p:nvSpPr>
          <p:spPr bwMode="auto">
            <a:xfrm>
              <a:off x="282393" y="1855826"/>
              <a:ext cx="648072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B4EA2"/>
                  </a:solidFill>
                  <a:effectLst/>
                  <a:uLnTx/>
                  <a:uFillTx/>
                  <a:latin typeface="+mn-ea"/>
                </a:rPr>
                <a:t>LEFT</a:t>
              </a: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B4EA2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B12C90F-8D21-8DAD-4EE4-FD6AA6C1055C}"/>
                </a:ext>
              </a:extLst>
            </p:cNvPr>
            <p:cNvSpPr txBox="1"/>
            <p:nvPr/>
          </p:nvSpPr>
          <p:spPr bwMode="auto">
            <a:xfrm>
              <a:off x="262767" y="2846679"/>
              <a:ext cx="855712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B4EA2"/>
                  </a:solidFill>
                  <a:effectLst/>
                  <a:uLnTx/>
                  <a:uFillTx/>
                  <a:latin typeface="+mn-ea"/>
                </a:rPr>
                <a:t>RIGHT</a:t>
              </a: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B4EA2"/>
                </a:solidFill>
                <a:effectLst/>
                <a:uLnTx/>
                <a:uFillTx/>
                <a:latin typeface="+mn-ea"/>
              </a:endParaRPr>
            </a:p>
          </p:txBody>
        </p:sp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E3965216-CE8C-AD47-99CB-9AAD956F1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91354" y="2889910"/>
              <a:ext cx="2020504" cy="827122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0ED4FEAD-9A05-3C41-28D8-10D14989E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91355" y="2023012"/>
              <a:ext cx="2032846" cy="829924"/>
            </a:xfrm>
            <a:prstGeom prst="rect">
              <a:avLst/>
            </a:prstGeom>
          </p:spPr>
        </p:pic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E1A1555E-0736-746D-42BE-37CD01347641}"/>
                </a:ext>
              </a:extLst>
            </p:cNvPr>
            <p:cNvSpPr/>
            <p:nvPr/>
          </p:nvSpPr>
          <p:spPr>
            <a:xfrm>
              <a:off x="4989593" y="2041469"/>
              <a:ext cx="1985165" cy="726648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36701778-CCF1-B125-E0DC-184AD9988BE3}"/>
                </a:ext>
              </a:extLst>
            </p:cNvPr>
            <p:cNvSpPr/>
            <p:nvPr/>
          </p:nvSpPr>
          <p:spPr>
            <a:xfrm>
              <a:off x="5001937" y="2900432"/>
              <a:ext cx="1985165" cy="726648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67EEE7BB-A02C-500C-C867-3B5D6509D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88676" y="2389698"/>
              <a:ext cx="2054557" cy="895286"/>
            </a:xfrm>
            <a:prstGeom prst="rect">
              <a:avLst/>
            </a:prstGeom>
          </p:spPr>
        </p:pic>
      </p:grpSp>
      <p:sp>
        <p:nvSpPr>
          <p:cNvPr id="51" name="아래쪽 화살표 55">
            <a:extLst>
              <a:ext uri="{FF2B5EF4-FFF2-40B4-BE49-F238E27FC236}">
                <a16:creationId xmlns:a16="http://schemas.microsoft.com/office/drawing/2014/main" id="{284A7A24-A6BC-6ACD-7305-39E307F09B34}"/>
              </a:ext>
            </a:extLst>
          </p:cNvPr>
          <p:cNvSpPr/>
          <p:nvPr/>
        </p:nvSpPr>
        <p:spPr>
          <a:xfrm>
            <a:off x="8373667" y="3177060"/>
            <a:ext cx="432048" cy="1272555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14A8DA-23F3-7CB8-AD1F-27D70B8B3C7E}"/>
              </a:ext>
            </a:extLst>
          </p:cNvPr>
          <p:cNvSpPr txBox="1"/>
          <p:nvPr/>
        </p:nvSpPr>
        <p:spPr>
          <a:xfrm>
            <a:off x="8733992" y="3151021"/>
            <a:ext cx="589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>
              <a:defRPr/>
            </a:pPr>
            <a:r>
              <a:rPr lang="ko-KR" altLang="en-US" sz="1200" kern="0" dirty="0">
                <a:solidFill>
                  <a:srgbClr val="0B4EA2"/>
                </a:solidFill>
                <a:latin typeface="+mn-ea"/>
              </a:rPr>
              <a:t>소음 </a:t>
            </a:r>
            <a:endParaRPr lang="en-US" altLang="ko-KR" sz="1200" kern="0" dirty="0">
              <a:solidFill>
                <a:srgbClr val="0B4EA2"/>
              </a:solidFill>
              <a:latin typeface="+mn-ea"/>
            </a:endParaRPr>
          </a:p>
          <a:p>
            <a:pPr algn="ctr" latinLnBrk="0">
              <a:defRPr/>
            </a:pPr>
            <a:r>
              <a:rPr lang="ko-KR" altLang="en-US" sz="1200" kern="0" dirty="0">
                <a:solidFill>
                  <a:srgbClr val="0B4EA2"/>
                </a:solidFill>
                <a:latin typeface="+mn-ea"/>
              </a:rPr>
              <a:t>특성 </a:t>
            </a:r>
            <a:endParaRPr lang="en-US" altLang="ko-KR" sz="1200" kern="0" dirty="0">
              <a:solidFill>
                <a:srgbClr val="0B4EA2"/>
              </a:solidFill>
              <a:latin typeface="+mn-ea"/>
            </a:endParaRPr>
          </a:p>
          <a:p>
            <a:pPr algn="ctr" latinLnBrk="0">
              <a:defRPr/>
            </a:pPr>
            <a:r>
              <a:rPr lang="ko-KR" altLang="en-US" sz="1200" kern="0" dirty="0">
                <a:solidFill>
                  <a:srgbClr val="0B4EA2"/>
                </a:solidFill>
                <a:latin typeface="+mn-ea"/>
              </a:rPr>
              <a:t>분석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AE79173F-BC84-F928-6F47-4C8C40469A40}"/>
              </a:ext>
            </a:extLst>
          </p:cNvPr>
          <p:cNvCxnSpPr/>
          <p:nvPr/>
        </p:nvCxnSpPr>
        <p:spPr>
          <a:xfrm>
            <a:off x="3584848" y="2645599"/>
            <a:ext cx="0" cy="21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5BB1E5B-3786-1FAF-FEE2-5104193F2132}"/>
              </a:ext>
            </a:extLst>
          </p:cNvPr>
          <p:cNvSpPr txBox="1"/>
          <p:nvPr/>
        </p:nvSpPr>
        <p:spPr bwMode="auto">
          <a:xfrm>
            <a:off x="2720752" y="4685615"/>
            <a:ext cx="7116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</a:rPr>
              <a:t>MFCC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4336C0-FB64-9A76-62F7-019E38D22A2F}"/>
              </a:ext>
            </a:extLst>
          </p:cNvPr>
          <p:cNvSpPr txBox="1"/>
          <p:nvPr/>
        </p:nvSpPr>
        <p:spPr bwMode="auto">
          <a:xfrm>
            <a:off x="2720752" y="5770946"/>
            <a:ext cx="7116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</a:rPr>
              <a:t>CNN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DE2E9FA-5B91-C10A-7ADD-7E5C449A0AB4}"/>
              </a:ext>
            </a:extLst>
          </p:cNvPr>
          <p:cNvSpPr txBox="1"/>
          <p:nvPr/>
        </p:nvSpPr>
        <p:spPr bwMode="auto">
          <a:xfrm>
            <a:off x="4349892" y="2560158"/>
            <a:ext cx="7116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</a:rPr>
              <a:t>FFT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58" name="Rectangle 7">
            <a:extLst>
              <a:ext uri="{FF2B5EF4-FFF2-40B4-BE49-F238E27FC236}">
                <a16:creationId xmlns:a16="http://schemas.microsoft.com/office/drawing/2014/main" id="{CC869088-53AB-513A-5927-ABFB1FECF9E3}"/>
              </a:ext>
            </a:extLst>
          </p:cNvPr>
          <p:cNvSpPr/>
          <p:nvPr/>
        </p:nvSpPr>
        <p:spPr>
          <a:xfrm>
            <a:off x="2841720" y="2252216"/>
            <a:ext cx="1481766" cy="38407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33400" eaLnBrk="0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27175" algn="l"/>
              </a:tabLst>
              <a:defRPr/>
            </a:pP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Time Base </a:t>
            </a:r>
            <a:r>
              <a:rPr lang="ko-KR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신호</a:t>
            </a:r>
          </a:p>
        </p:txBody>
      </p:sp>
      <p:sp>
        <p:nvSpPr>
          <p:cNvPr id="59" name="Rectangle 7">
            <a:extLst>
              <a:ext uri="{FF2B5EF4-FFF2-40B4-BE49-F238E27FC236}">
                <a16:creationId xmlns:a16="http://schemas.microsoft.com/office/drawing/2014/main" id="{B0B39CB8-2436-D8CF-1E05-A81BDCAB4B8A}"/>
              </a:ext>
            </a:extLst>
          </p:cNvPr>
          <p:cNvSpPr/>
          <p:nvPr/>
        </p:nvSpPr>
        <p:spPr>
          <a:xfrm>
            <a:off x="2851693" y="2900912"/>
            <a:ext cx="1481766" cy="38407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spcFirstLastPara="0" vert="horz" wrap="square" lIns="0" tIns="0" rIns="0" bIns="0" numCol="1" spcCol="1270" anchor="ctr" anchorCtr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33400" eaLnBrk="0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27175" algn="l"/>
              </a:tabLst>
              <a:defRPr/>
            </a:pPr>
            <a:r>
              <a:rPr lang="ko-KR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주파수</a:t>
            </a: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Base </a:t>
            </a:r>
            <a:r>
              <a:rPr lang="ko-KR" alt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신호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E17ECA-832B-71DB-2DE8-706651F2656A}"/>
              </a:ext>
            </a:extLst>
          </p:cNvPr>
          <p:cNvSpPr txBox="1"/>
          <p:nvPr/>
        </p:nvSpPr>
        <p:spPr bwMode="auto">
          <a:xfrm>
            <a:off x="2873897" y="2637795"/>
            <a:ext cx="7116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kern="0" dirty="0">
                <a:latin typeface="+mn-ea"/>
              </a:rPr>
              <a:t>Convert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61" name="모서리가 둥근 직사각형 31">
            <a:extLst>
              <a:ext uri="{FF2B5EF4-FFF2-40B4-BE49-F238E27FC236}">
                <a16:creationId xmlns:a16="http://schemas.microsoft.com/office/drawing/2014/main" id="{A8858280-7F9F-F10C-0369-C9F28C69C284}"/>
              </a:ext>
            </a:extLst>
          </p:cNvPr>
          <p:cNvSpPr/>
          <p:nvPr/>
        </p:nvSpPr>
        <p:spPr>
          <a:xfrm>
            <a:off x="3510808" y="4500788"/>
            <a:ext cx="703365" cy="172369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소음</a:t>
            </a:r>
            <a:endParaRPr lang="en-US" altLang="ko-KR" sz="1400" dirty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특징</a:t>
            </a:r>
            <a:endParaRPr lang="en-US" altLang="ko-KR" sz="1400" dirty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추출</a:t>
            </a:r>
          </a:p>
        </p:txBody>
      </p:sp>
    </p:spTree>
    <p:extLst>
      <p:ext uri="{BB962C8B-B14F-4D97-AF65-F5344CB8AC3E}">
        <p14:creationId xmlns:p14="http://schemas.microsoft.com/office/powerpoint/2010/main" val="2631712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7240F-59AC-8A4A-75A7-493100025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제목 2">
            <a:extLst>
              <a:ext uri="{FF2B5EF4-FFF2-40B4-BE49-F238E27FC236}">
                <a16:creationId xmlns:a16="http://schemas.microsoft.com/office/drawing/2014/main" id="{6B53EBFF-8682-4DD8-4696-5AB4FF7732ED}"/>
              </a:ext>
            </a:extLst>
          </p:cNvPr>
          <p:cNvSpPr txBox="1">
            <a:spLocks/>
          </p:cNvSpPr>
          <p:nvPr/>
        </p:nvSpPr>
        <p:spPr>
          <a:xfrm>
            <a:off x="416496" y="90113"/>
            <a:ext cx="7416824" cy="307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812781" indent="-812781" defTabSz="957239" fontAlgn="base" latinLnBrk="0">
              <a:spcBef>
                <a:spcPct val="0"/>
              </a:spcBef>
              <a:spcAft>
                <a:spcPct val="0"/>
              </a:spcAft>
              <a:defRPr kumimoji="1" sz="2001" b="1" kern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AI 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소음 진단 플랫폼 개발 과정 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&gt; 6) AI 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테스트 결과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3A5B9FB-9DB4-F6AB-6AC1-7DC2CAAAFD56}"/>
              </a:ext>
            </a:extLst>
          </p:cNvPr>
          <p:cNvGrpSpPr/>
          <p:nvPr/>
        </p:nvGrpSpPr>
        <p:grpSpPr>
          <a:xfrm>
            <a:off x="559196" y="908720"/>
            <a:ext cx="5041876" cy="345925"/>
            <a:chOff x="416496" y="2096130"/>
            <a:chExt cx="3854589" cy="345925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001CA05-371D-34CD-C7F1-4CD0C422454E}"/>
                </a:ext>
              </a:extLst>
            </p:cNvPr>
            <p:cNvSpPr/>
            <p:nvPr/>
          </p:nvSpPr>
          <p:spPr>
            <a:xfrm>
              <a:off x="416496" y="2125077"/>
              <a:ext cx="239546" cy="288032"/>
            </a:xfrm>
            <a:prstGeom prst="rect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0" cap="none" spc="-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1</a:t>
              </a:r>
              <a:endParaRPr kumimoji="0" lang="ko-KR" altLang="en-US" sz="1600" b="1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F218A31-E8D2-23AB-CD55-E1E60ECAF69D}"/>
                </a:ext>
              </a:extLst>
            </p:cNvPr>
            <p:cNvSpPr/>
            <p:nvPr/>
          </p:nvSpPr>
          <p:spPr>
            <a:xfrm>
              <a:off x="739109" y="2096130"/>
              <a:ext cx="3531976" cy="34592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latinLnBrk="0">
                <a:defRPr/>
              </a:pPr>
              <a:r>
                <a:rPr lang="ko-KR" altLang="en-US" b="1" kern="0" dirty="0">
                  <a:solidFill>
                    <a:schemeClr val="tx2">
                      <a:lumMod val="75000"/>
                    </a:schemeClr>
                  </a:solidFill>
                  <a:latin typeface="+mn-ea"/>
                </a:rPr>
                <a:t>정적 소음 검증결과 </a:t>
              </a:r>
              <a:r>
                <a:rPr lang="en-US" altLang="ko-KR" b="1" kern="0" dirty="0">
                  <a:solidFill>
                    <a:srgbClr val="FF0000"/>
                  </a:solidFill>
                  <a:latin typeface="+mn-ea"/>
                </a:rPr>
                <a:t>“</a:t>
              </a:r>
              <a:r>
                <a:rPr lang="en-US" altLang="ko-KR" b="1" u="sng" kern="0" dirty="0">
                  <a:solidFill>
                    <a:srgbClr val="FF0000"/>
                  </a:solidFill>
                  <a:latin typeface="+mn-ea"/>
                </a:rPr>
                <a:t>94%</a:t>
              </a:r>
              <a:r>
                <a:rPr lang="ko-KR" altLang="en-US" b="1" u="sng" kern="0" dirty="0">
                  <a:solidFill>
                    <a:srgbClr val="FF0000"/>
                  </a:solidFill>
                  <a:latin typeface="+mn-ea"/>
                </a:rPr>
                <a:t> 적중</a:t>
              </a:r>
              <a:r>
                <a:rPr lang="en-US" altLang="ko-KR" b="1" kern="0" dirty="0">
                  <a:solidFill>
                    <a:srgbClr val="FF0000"/>
                  </a:solidFill>
                  <a:latin typeface="+mn-ea"/>
                </a:rPr>
                <a:t>”</a:t>
              </a:r>
              <a:endParaRPr kumimoji="0" lang="ko-KR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892B4D-3DE8-CE4E-4D21-538F3DE0EC28}"/>
              </a:ext>
            </a:extLst>
          </p:cNvPr>
          <p:cNvSpPr/>
          <p:nvPr/>
        </p:nvSpPr>
        <p:spPr>
          <a:xfrm>
            <a:off x="611672" y="1270451"/>
            <a:ext cx="5985071" cy="381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v"/>
              <a:defRPr/>
            </a:pPr>
            <a:r>
              <a:rPr lang="ko-KR" altLang="en-US" sz="1400" b="1" dirty="0">
                <a:solidFill>
                  <a:srgbClr val="2948E3"/>
                </a:solidFill>
                <a:latin typeface="+mn-ea"/>
                <a:sym typeface="Wingdings" panose="05000000000000000000" pitchFamily="2" charset="2"/>
              </a:rPr>
              <a:t>학습된 소음 유형과 비슷한 유형의 소음을 예측한 결과</a:t>
            </a:r>
            <a:endParaRPr lang="en-US" altLang="ko-KR" sz="1400" b="1" dirty="0">
              <a:solidFill>
                <a:srgbClr val="2948E3"/>
              </a:solidFill>
              <a:latin typeface="+mn-ea"/>
              <a:sym typeface="Wingdings" panose="05000000000000000000" pitchFamily="2" charset="2"/>
            </a:endParaRPr>
          </a:p>
        </p:txBody>
      </p:sp>
      <p:sp>
        <p:nvSpPr>
          <p:cNvPr id="6" name="Rectangle 248">
            <a:extLst>
              <a:ext uri="{FF2B5EF4-FFF2-40B4-BE49-F238E27FC236}">
                <a16:creationId xmlns:a16="http://schemas.microsoft.com/office/drawing/2014/main" id="{124BEE27-8D35-9452-5DF9-2B8F937EA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536" y="1723332"/>
            <a:ext cx="1127342" cy="178882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marL="0" marR="0" lvl="0" indent="0" algn="ctr" defTabSz="839788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r>
              <a:rPr lang="ko-KR" altLang="en-US" sz="1600" b="1" kern="0" dirty="0">
                <a:solidFill>
                  <a:srgbClr val="FFFFFF"/>
                </a:solidFill>
                <a:latin typeface="+mn-ea"/>
                <a:cs typeface="Arial" charset="0"/>
              </a:rPr>
              <a:t>모델 검증</a:t>
            </a:r>
            <a:endParaRPr kumimoji="0" lang="ko-KR" alt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Arial" charset="0"/>
            </a:endParaRPr>
          </a:p>
        </p:txBody>
      </p:sp>
      <p:sp>
        <p:nvSpPr>
          <p:cNvPr id="7" name="Rectangle 249">
            <a:extLst>
              <a:ext uri="{FF2B5EF4-FFF2-40B4-BE49-F238E27FC236}">
                <a16:creationId xmlns:a16="http://schemas.microsoft.com/office/drawing/2014/main" id="{5E134ABF-6C70-139F-28E8-0098D7F09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4678" y="1723332"/>
            <a:ext cx="7462817" cy="1788827"/>
          </a:xfrm>
          <a:prstGeom prst="rect">
            <a:avLst/>
          </a:prstGeom>
          <a:solidFill>
            <a:sysClr val="window" lastClr="FFFFFF"/>
          </a:solidFill>
          <a:ln w="6350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  <a:effectLst/>
        </p:spPr>
        <p:txBody>
          <a:bodyPr lIns="90000" tIns="46800" rIns="90000" bIns="46800" anchor="t"/>
          <a:lstStyle/>
          <a:p>
            <a:pPr marL="0" marR="0" lvl="1" defTabSz="957263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tabLst/>
              <a:defRPr/>
            </a:pP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4AE2C84-F289-960D-064F-B1034E57A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407722"/>
              </p:ext>
            </p:extLst>
          </p:nvPr>
        </p:nvGraphicFramePr>
        <p:xfrm>
          <a:off x="2094723" y="1837965"/>
          <a:ext cx="7182725" cy="1559560"/>
        </p:xfrm>
        <a:graphic>
          <a:graphicData uri="http://schemas.openxmlformats.org/drawingml/2006/table">
            <a:tbl>
              <a:tblPr firstRow="1" bandRow="1"/>
              <a:tblGrid>
                <a:gridCol w="918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0810379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86301113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8063239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84555208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048629800"/>
                    </a:ext>
                  </a:extLst>
                </a:gridCol>
                <a:gridCol w="864097">
                  <a:extLst>
                    <a:ext uri="{9D8B030D-6E8A-4147-A177-3AD203B41FA5}">
                      <a16:colId xmlns:a16="http://schemas.microsoft.com/office/drawing/2014/main" val="4032983469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모터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스크류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벨트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스크류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4P BRG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모터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BRG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정상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Recall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0.87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Precision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0.88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503633"/>
                  </a:ext>
                </a:extLst>
              </a:tr>
              <a:tr h="228600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F1-Score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0.85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Accuracy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95%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98%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98%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89%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97%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94%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88%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928590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29D9424C-D98C-F774-A410-28CDE7357428}"/>
              </a:ext>
            </a:extLst>
          </p:cNvPr>
          <p:cNvGrpSpPr/>
          <p:nvPr/>
        </p:nvGrpSpPr>
        <p:grpSpPr>
          <a:xfrm>
            <a:off x="552999" y="3936480"/>
            <a:ext cx="5336105" cy="345925"/>
            <a:chOff x="416496" y="2096130"/>
            <a:chExt cx="3308814" cy="345925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348F2B3-4D42-2DA2-73E4-9768EF6700DF}"/>
                </a:ext>
              </a:extLst>
            </p:cNvPr>
            <p:cNvSpPr/>
            <p:nvPr/>
          </p:nvSpPr>
          <p:spPr>
            <a:xfrm>
              <a:off x="416496" y="2125077"/>
              <a:ext cx="239546" cy="288032"/>
            </a:xfrm>
            <a:prstGeom prst="rect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0" cap="none" spc="-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2</a:t>
              </a:r>
              <a:endParaRPr kumimoji="0" lang="ko-KR" altLang="en-US" sz="1600" b="1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AF3EEC5-B531-EC62-481C-3A74F9DCBB8F}"/>
                </a:ext>
              </a:extLst>
            </p:cNvPr>
            <p:cNvSpPr/>
            <p:nvPr/>
          </p:nvSpPr>
          <p:spPr>
            <a:xfrm>
              <a:off x="739108" y="2096130"/>
              <a:ext cx="2986202" cy="34592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lvl="0" latinLnBrk="0">
                <a:defRPr/>
              </a:pPr>
              <a:r>
                <a:rPr lang="ko-KR" altLang="en-US" b="1" kern="0" dirty="0">
                  <a:solidFill>
                    <a:schemeClr val="tx2">
                      <a:lumMod val="75000"/>
                    </a:schemeClr>
                  </a:solidFill>
                  <a:latin typeface="+mn-ea"/>
                </a:rPr>
                <a:t>동적 소음</a:t>
              </a:r>
              <a:r>
                <a:rPr lang="en-US" altLang="ko-KR" b="1" kern="0" dirty="0">
                  <a:solidFill>
                    <a:schemeClr val="tx2">
                      <a:lumMod val="75000"/>
                    </a:schemeClr>
                  </a:solidFill>
                  <a:latin typeface="+mn-ea"/>
                </a:rPr>
                <a:t> </a:t>
              </a:r>
              <a:r>
                <a:rPr lang="ko-KR" altLang="en-US" b="1" kern="0" dirty="0">
                  <a:solidFill>
                    <a:schemeClr val="tx2">
                      <a:lumMod val="75000"/>
                    </a:schemeClr>
                  </a:solidFill>
                  <a:latin typeface="+mn-ea"/>
                </a:rPr>
                <a:t>검증 결과 </a:t>
              </a:r>
              <a:r>
                <a:rPr lang="en-US" altLang="ko-KR" b="1" kern="0" dirty="0">
                  <a:solidFill>
                    <a:srgbClr val="FF0000"/>
                  </a:solidFill>
                  <a:latin typeface="+mn-ea"/>
                </a:rPr>
                <a:t>“</a:t>
              </a:r>
              <a:r>
                <a:rPr lang="en-US" altLang="ko-KR" b="1" u="sng" kern="0" dirty="0">
                  <a:solidFill>
                    <a:srgbClr val="FF0000"/>
                  </a:solidFill>
                  <a:latin typeface="+mn-ea"/>
                </a:rPr>
                <a:t>88%</a:t>
              </a:r>
              <a:r>
                <a:rPr lang="ko-KR" altLang="en-US" b="1" u="sng" kern="0" dirty="0">
                  <a:solidFill>
                    <a:srgbClr val="FF0000"/>
                  </a:solidFill>
                  <a:latin typeface="+mn-ea"/>
                </a:rPr>
                <a:t> 적중</a:t>
              </a:r>
              <a:r>
                <a:rPr lang="en-US" altLang="ko-KR" b="1" kern="0" dirty="0">
                  <a:solidFill>
                    <a:srgbClr val="FF0000"/>
                  </a:solidFill>
                  <a:latin typeface="+mn-ea"/>
                </a:rPr>
                <a:t>”</a:t>
              </a:r>
              <a:endParaRPr kumimoji="0" lang="ko-KR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0A7DDB3-880D-F0F1-FED3-2AAEB51B5CE4}"/>
              </a:ext>
            </a:extLst>
          </p:cNvPr>
          <p:cNvSpPr/>
          <p:nvPr/>
        </p:nvSpPr>
        <p:spPr>
          <a:xfrm>
            <a:off x="611671" y="4266832"/>
            <a:ext cx="5985071" cy="381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600"/>
              </a:lnSpc>
              <a:buFont typeface="Wingdings" panose="05000000000000000000" pitchFamily="2" charset="2"/>
              <a:buChar char="v"/>
              <a:defRPr/>
            </a:pPr>
            <a:r>
              <a:rPr lang="ko-KR" altLang="en-US" sz="1400" b="1" dirty="0">
                <a:solidFill>
                  <a:srgbClr val="2948E3"/>
                </a:solidFill>
                <a:latin typeface="+mn-ea"/>
                <a:sym typeface="Wingdings" panose="05000000000000000000" pitchFamily="2" charset="2"/>
              </a:rPr>
              <a:t>학습된 소음 유형에서 변형된 동적 소음을 예측한 결과</a:t>
            </a:r>
            <a:endParaRPr lang="en-US" altLang="ko-KR" sz="1400" b="1" dirty="0">
              <a:solidFill>
                <a:srgbClr val="2948E3"/>
              </a:solidFill>
              <a:latin typeface="+mn-ea"/>
              <a:sym typeface="Wingdings" panose="05000000000000000000" pitchFamily="2" charset="2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69932DF-E15D-E18C-2777-5CCB43056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598" y="4722523"/>
            <a:ext cx="2091650" cy="177234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C8CF511-4156-C167-08A4-C71040500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81" y="4751225"/>
            <a:ext cx="2062948" cy="174364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98300A5-4D11-95BE-354A-482CBA9C7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342" y="4724301"/>
            <a:ext cx="2030658" cy="180104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333162C-C32F-3C65-3232-20C0059E70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9101" y="4722522"/>
            <a:ext cx="2118395" cy="177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55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763A7-A39C-20BA-D2A3-C4CC3E6DF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제목 2">
            <a:extLst>
              <a:ext uri="{FF2B5EF4-FFF2-40B4-BE49-F238E27FC236}">
                <a16:creationId xmlns:a16="http://schemas.microsoft.com/office/drawing/2014/main" id="{D3B6004F-58ED-FCCC-F829-1DF56B91CF70}"/>
              </a:ext>
            </a:extLst>
          </p:cNvPr>
          <p:cNvSpPr txBox="1">
            <a:spLocks/>
          </p:cNvSpPr>
          <p:nvPr/>
        </p:nvSpPr>
        <p:spPr>
          <a:xfrm>
            <a:off x="416496" y="90113"/>
            <a:ext cx="7416824" cy="307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marL="812781" indent="-812781" defTabSz="957239" fontAlgn="base" latinLnBrk="0">
              <a:spcBef>
                <a:spcPct val="0"/>
              </a:spcBef>
              <a:spcAft>
                <a:spcPct val="0"/>
              </a:spcAft>
              <a:defRPr kumimoji="1" sz="2001" b="1" kern="0">
                <a:solidFill>
                  <a:schemeClr val="accent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AI 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소음 진단 플랫폼 개발 과정 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&gt; 6) AI 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</a:rPr>
              <a:t>테스트 결과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C9966E1-08EC-9431-96B2-103A807E27A7}"/>
              </a:ext>
            </a:extLst>
          </p:cNvPr>
          <p:cNvSpPr/>
          <p:nvPr/>
        </p:nvSpPr>
        <p:spPr>
          <a:xfrm>
            <a:off x="416496" y="683404"/>
            <a:ext cx="94895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ko-KR" altLang="en-US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동적으로 변형되는 차량 소음에 대한 </a:t>
            </a:r>
            <a:r>
              <a:rPr lang="en-US" altLang="ko-KR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Optimized </a:t>
            </a:r>
            <a:r>
              <a:rPr lang="ko-KR" altLang="en-US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진단 결과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1A7949-D5F0-9B95-4771-AE659DADB0F7}"/>
              </a:ext>
            </a:extLst>
          </p:cNvPr>
          <p:cNvSpPr/>
          <p:nvPr/>
        </p:nvSpPr>
        <p:spPr bwMode="auto">
          <a:xfrm>
            <a:off x="367461" y="1869121"/>
            <a:ext cx="9207362" cy="3648111"/>
          </a:xfrm>
          <a:prstGeom prst="rect">
            <a:avLst/>
          </a:prstGeom>
          <a:solidFill>
            <a:sysClr val="window" lastClr="FFFFFF"/>
          </a:solidFill>
          <a:ln w="3175">
            <a:solidFill>
              <a:sysClr val="window" lastClr="FFFFFF">
                <a:lumMod val="65000"/>
              </a:sysClr>
            </a:solidFill>
            <a:prstDash val="solid"/>
          </a:ln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AC634F-DF7D-FC48-C1E2-3FFAA817CE73}"/>
              </a:ext>
            </a:extLst>
          </p:cNvPr>
          <p:cNvSpPr/>
          <p:nvPr/>
        </p:nvSpPr>
        <p:spPr>
          <a:xfrm>
            <a:off x="367462" y="1869120"/>
            <a:ext cx="999874" cy="17759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rPr>
              <a:t>학습한</a:t>
            </a:r>
            <a:endParaRPr kumimoji="0" lang="en-US" altLang="ko-KR" sz="1400" b="1" i="0" u="none" strike="noStrike" kern="0" cap="none" spc="-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rPr>
              <a:t>소음 유형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37C4894-1B2F-8D58-65CD-806AC93BE1BD}"/>
              </a:ext>
            </a:extLst>
          </p:cNvPr>
          <p:cNvCxnSpPr/>
          <p:nvPr/>
        </p:nvCxnSpPr>
        <p:spPr>
          <a:xfrm>
            <a:off x="1367336" y="5445224"/>
            <a:ext cx="5040000" cy="0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ysDot"/>
          </a:ln>
          <a:effectLst/>
        </p:spPr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E0ECC8-D90B-14CF-C077-8DEC0163DA75}"/>
              </a:ext>
            </a:extLst>
          </p:cNvPr>
          <p:cNvSpPr/>
          <p:nvPr/>
        </p:nvSpPr>
        <p:spPr>
          <a:xfrm>
            <a:off x="367462" y="3772944"/>
            <a:ext cx="999874" cy="174428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rPr>
              <a:t>예측한</a:t>
            </a:r>
            <a:endParaRPr kumimoji="0" lang="en-US" altLang="ko-KR" sz="1400" b="1" i="0" u="none" strike="noStrike" kern="0" cap="none" spc="-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rPr>
              <a:t>소음 유형</a:t>
            </a:r>
          </a:p>
        </p:txBody>
      </p:sp>
      <p:sp>
        <p:nvSpPr>
          <p:cNvPr id="7" name="오른쪽 화살표 25">
            <a:extLst>
              <a:ext uri="{FF2B5EF4-FFF2-40B4-BE49-F238E27FC236}">
                <a16:creationId xmlns:a16="http://schemas.microsoft.com/office/drawing/2014/main" id="{40CB16BA-5D06-FBD2-6B52-64EAFA730E5E}"/>
              </a:ext>
            </a:extLst>
          </p:cNvPr>
          <p:cNvSpPr/>
          <p:nvPr/>
        </p:nvSpPr>
        <p:spPr bwMode="auto">
          <a:xfrm>
            <a:off x="2095538" y="2905658"/>
            <a:ext cx="427246" cy="535741"/>
          </a:xfrm>
          <a:prstGeom prst="rightArrow">
            <a:avLst/>
          </a:prstGeom>
          <a:solidFill>
            <a:srgbClr val="4F81BD">
              <a:lumMod val="40000"/>
              <a:lumOff val="60000"/>
            </a:srgbClr>
          </a:solidFill>
          <a:ln w="3175">
            <a:solidFill>
              <a:sysClr val="window" lastClr="FFFFFF"/>
            </a:solidFill>
            <a:prstDash val="dash"/>
          </a:ln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C3F73F8-4E77-C2AC-807D-CFC88B709223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511495" y="1940657"/>
            <a:ext cx="1908000" cy="1514326"/>
          </a:xfrm>
          <a:prstGeom prst="rect">
            <a:avLst/>
          </a:prstGeom>
          <a:ln>
            <a:solidFill>
              <a:sysClr val="window" lastClr="FFFFFF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B0F023B-19A7-4E64-6D93-E0B1A13DDEE4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11495" y="3867098"/>
            <a:ext cx="1908000" cy="1514326"/>
          </a:xfrm>
          <a:prstGeom prst="rect">
            <a:avLst/>
          </a:prstGeom>
          <a:ln>
            <a:solidFill>
              <a:sysClr val="window" lastClr="FFFFFF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A3A43B8-C8B5-B2A1-44C4-1948EB9960E3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660545" y="1946836"/>
            <a:ext cx="1908000" cy="1514326"/>
          </a:xfrm>
          <a:prstGeom prst="rect">
            <a:avLst/>
          </a:prstGeom>
          <a:ln>
            <a:solidFill>
              <a:sysClr val="window" lastClr="FFFFFF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540412-EED5-4ADD-9E6F-65FD238B59DB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639179" y="1946836"/>
            <a:ext cx="1908000" cy="1514326"/>
          </a:xfrm>
          <a:prstGeom prst="rect">
            <a:avLst/>
          </a:prstGeom>
          <a:ln>
            <a:solidFill>
              <a:sysClr val="window" lastClr="FFFFFF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BA3B1EF-82D4-226A-833E-5409918D31FE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585397" y="1953565"/>
            <a:ext cx="1908000" cy="1514326"/>
          </a:xfrm>
          <a:prstGeom prst="rect">
            <a:avLst/>
          </a:prstGeom>
          <a:ln>
            <a:solidFill>
              <a:sysClr val="window" lastClr="FFFFFF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56344B8-08CE-FCA9-DD4C-070652C0BE63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585326" y="3863674"/>
            <a:ext cx="1908000" cy="1514326"/>
          </a:xfrm>
          <a:prstGeom prst="rect">
            <a:avLst/>
          </a:prstGeom>
          <a:ln>
            <a:solidFill>
              <a:sysClr val="window" lastClr="FFFFFF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54DAC8C-A3CF-D447-D5E2-EA588F9A122C}"/>
              </a:ext>
            </a:extLst>
          </p:cNvPr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469106" y="3863674"/>
            <a:ext cx="2325414" cy="1514326"/>
          </a:xfrm>
          <a:prstGeom prst="rect">
            <a:avLst/>
          </a:prstGeom>
          <a:ln>
            <a:solidFill>
              <a:sysClr val="window" lastClr="FFFFFF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52767C9-4E30-3286-297C-CC01743A5DBE}"/>
              </a:ext>
            </a:extLst>
          </p:cNvPr>
          <p:cNvSpPr txBox="1"/>
          <p:nvPr/>
        </p:nvSpPr>
        <p:spPr>
          <a:xfrm>
            <a:off x="2376528" y="2245995"/>
            <a:ext cx="882868" cy="230832"/>
          </a:xfrm>
          <a:prstGeom prst="rect">
            <a:avLst/>
          </a:prstGeom>
          <a:noFill/>
          <a:ln>
            <a:solidFill>
              <a:sysClr val="window" lastClr="FFFFFF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rPr>
              <a:t>벨트 소음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7318FB-ECC2-C12C-7B37-81457937F532}"/>
              </a:ext>
            </a:extLst>
          </p:cNvPr>
          <p:cNvSpPr/>
          <p:nvPr/>
        </p:nvSpPr>
        <p:spPr>
          <a:xfrm>
            <a:off x="1583559" y="4972771"/>
            <a:ext cx="1781505" cy="370490"/>
          </a:xfrm>
          <a:prstGeom prst="rect">
            <a:avLst/>
          </a:prstGeom>
          <a:noFill/>
          <a:ln w="6350" cap="rnd" cmpd="sng" algn="ctr">
            <a:solidFill>
              <a:sysClr val="window" lastClr="FFFFFF"/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7388676-C490-D2FF-6786-2E6B34DB26E2}"/>
              </a:ext>
            </a:extLst>
          </p:cNvPr>
          <p:cNvSpPr/>
          <p:nvPr/>
        </p:nvSpPr>
        <p:spPr>
          <a:xfrm>
            <a:off x="1588251" y="3047720"/>
            <a:ext cx="1781505" cy="370490"/>
          </a:xfrm>
          <a:prstGeom prst="rect">
            <a:avLst/>
          </a:prstGeom>
          <a:noFill/>
          <a:ln w="6350" cap="rnd" cmpd="sng" algn="ctr">
            <a:solidFill>
              <a:sysClr val="window" lastClr="FFFFFF"/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219376-D666-5B9F-E3CF-B1FD641E1F86}"/>
              </a:ext>
            </a:extLst>
          </p:cNvPr>
          <p:cNvSpPr txBox="1"/>
          <p:nvPr/>
        </p:nvSpPr>
        <p:spPr>
          <a:xfrm>
            <a:off x="1898495" y="3134431"/>
            <a:ext cx="1213944" cy="230832"/>
          </a:xfrm>
          <a:prstGeom prst="rect">
            <a:avLst/>
          </a:prstGeom>
          <a:noFill/>
          <a:ln>
            <a:solidFill>
              <a:sysClr val="window" lastClr="FFFFFF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rPr>
              <a:t>엔진 소음 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25DE7C-2639-905C-68CF-AB991A13ACA7}"/>
              </a:ext>
            </a:extLst>
          </p:cNvPr>
          <p:cNvSpPr txBox="1"/>
          <p:nvPr/>
        </p:nvSpPr>
        <p:spPr>
          <a:xfrm>
            <a:off x="1885920" y="5027952"/>
            <a:ext cx="1213944" cy="230832"/>
          </a:xfrm>
          <a:prstGeom prst="rect">
            <a:avLst/>
          </a:prstGeom>
          <a:noFill/>
          <a:ln>
            <a:solidFill>
              <a:sysClr val="window" lastClr="FFFFFF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rPr>
              <a:t>엔진 소음 大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0B9F20C-DA3E-AC34-3DC6-4C471E4C375A}"/>
              </a:ext>
            </a:extLst>
          </p:cNvPr>
          <p:cNvCxnSpPr/>
          <p:nvPr/>
        </p:nvCxnSpPr>
        <p:spPr>
          <a:xfrm>
            <a:off x="2802197" y="2466710"/>
            <a:ext cx="0" cy="252248"/>
          </a:xfrm>
          <a:prstGeom prst="straightConnector1">
            <a:avLst/>
          </a:prstGeom>
          <a:noFill/>
          <a:ln w="9525" cap="rnd" cmpd="sng" algn="ctr">
            <a:solidFill>
              <a:sysClr val="window" lastClr="FFFFFF"/>
            </a:solidFill>
            <a:prstDash val="solid"/>
            <a:tailEnd type="arrow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1BDC795-A8E0-3D98-26CE-33A55D9D1B8A}"/>
              </a:ext>
            </a:extLst>
          </p:cNvPr>
          <p:cNvSpPr txBox="1"/>
          <p:nvPr/>
        </p:nvSpPr>
        <p:spPr>
          <a:xfrm>
            <a:off x="2371836" y="4131632"/>
            <a:ext cx="882868" cy="230832"/>
          </a:xfrm>
          <a:prstGeom prst="rect">
            <a:avLst/>
          </a:prstGeom>
          <a:noFill/>
          <a:ln>
            <a:solidFill>
              <a:sysClr val="window" lastClr="FFFFFF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rPr>
              <a:t>벨트 소음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04EF3A3-F158-3C55-0CDA-D00A9E76D142}"/>
              </a:ext>
            </a:extLst>
          </p:cNvPr>
          <p:cNvCxnSpPr/>
          <p:nvPr/>
        </p:nvCxnSpPr>
        <p:spPr>
          <a:xfrm>
            <a:off x="2797505" y="4344464"/>
            <a:ext cx="0" cy="252248"/>
          </a:xfrm>
          <a:prstGeom prst="straightConnector1">
            <a:avLst/>
          </a:prstGeom>
          <a:noFill/>
          <a:ln w="9525" cap="rnd" cmpd="sng" algn="ctr">
            <a:solidFill>
              <a:sysClr val="window" lastClr="FFFFFF"/>
            </a:solidFill>
            <a:prstDash val="solid"/>
            <a:tailEnd type="arrow"/>
          </a:ln>
          <a:effectLst/>
        </p:spPr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EE249CB-BC96-E0B6-5997-BE59CABD6EA5}"/>
              </a:ext>
            </a:extLst>
          </p:cNvPr>
          <p:cNvCxnSpPr/>
          <p:nvPr/>
        </p:nvCxnSpPr>
        <p:spPr>
          <a:xfrm>
            <a:off x="6577290" y="2384664"/>
            <a:ext cx="0" cy="252248"/>
          </a:xfrm>
          <a:prstGeom prst="straightConnector1">
            <a:avLst/>
          </a:prstGeom>
          <a:noFill/>
          <a:ln w="9525" cap="rnd" cmpd="sng" algn="ctr">
            <a:solidFill>
              <a:sysClr val="window" lastClr="FFFFFF"/>
            </a:solidFill>
            <a:prstDash val="solid"/>
            <a:tailEnd type="arrow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2BE1447-66BE-2946-AB06-C5332FD90876}"/>
              </a:ext>
            </a:extLst>
          </p:cNvPr>
          <p:cNvSpPr txBox="1"/>
          <p:nvPr/>
        </p:nvSpPr>
        <p:spPr>
          <a:xfrm>
            <a:off x="6151623" y="2156066"/>
            <a:ext cx="882868" cy="230832"/>
          </a:xfrm>
          <a:prstGeom prst="rect">
            <a:avLst/>
          </a:prstGeom>
          <a:noFill/>
          <a:ln>
            <a:solidFill>
              <a:sysClr val="window" lastClr="FFFFFF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rPr>
              <a:t>벨트 소음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EB08F78-74C0-F5EB-D491-0E6AC769E3F3}"/>
              </a:ext>
            </a:extLst>
          </p:cNvPr>
          <p:cNvCxnSpPr/>
          <p:nvPr/>
        </p:nvCxnSpPr>
        <p:spPr>
          <a:xfrm>
            <a:off x="7525395" y="4256872"/>
            <a:ext cx="0" cy="252248"/>
          </a:xfrm>
          <a:prstGeom prst="straightConnector1">
            <a:avLst/>
          </a:prstGeom>
          <a:noFill/>
          <a:ln w="9525" cap="rnd" cmpd="sng" algn="ctr">
            <a:solidFill>
              <a:sysClr val="window" lastClr="FFFFFF"/>
            </a:solidFill>
            <a:prstDash val="solid"/>
            <a:tailEnd type="arrow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A6D8825-6B0E-8D72-6E60-51CD7336CD1F}"/>
              </a:ext>
            </a:extLst>
          </p:cNvPr>
          <p:cNvSpPr txBox="1"/>
          <p:nvPr/>
        </p:nvSpPr>
        <p:spPr>
          <a:xfrm>
            <a:off x="7083961" y="4003129"/>
            <a:ext cx="882868" cy="230832"/>
          </a:xfrm>
          <a:prstGeom prst="rect">
            <a:avLst/>
          </a:prstGeom>
          <a:noFill/>
          <a:ln>
            <a:solidFill>
              <a:sysClr val="window" lastClr="FFFFFF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rPr>
              <a:t>벨트 소음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9C54D9D-8DC5-ED9E-AA13-C39A76641E58}"/>
              </a:ext>
            </a:extLst>
          </p:cNvPr>
          <p:cNvCxnSpPr/>
          <p:nvPr/>
        </p:nvCxnSpPr>
        <p:spPr>
          <a:xfrm>
            <a:off x="7123374" y="4937976"/>
            <a:ext cx="0" cy="165538"/>
          </a:xfrm>
          <a:prstGeom prst="straightConnector1">
            <a:avLst/>
          </a:prstGeom>
          <a:noFill/>
          <a:ln w="9525" cap="rnd" cmpd="sng" algn="ctr">
            <a:solidFill>
              <a:sysClr val="window" lastClr="FFFFFF"/>
            </a:solidFill>
            <a:prstDash val="solid"/>
            <a:tailEnd type="arrow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EC6AE9E-4ED6-0805-3BBD-EA79AA3C39AC}"/>
              </a:ext>
            </a:extLst>
          </p:cNvPr>
          <p:cNvSpPr txBox="1"/>
          <p:nvPr/>
        </p:nvSpPr>
        <p:spPr>
          <a:xfrm>
            <a:off x="6697707" y="4725144"/>
            <a:ext cx="882868" cy="230832"/>
          </a:xfrm>
          <a:prstGeom prst="rect">
            <a:avLst/>
          </a:prstGeom>
          <a:noFill/>
          <a:ln>
            <a:solidFill>
              <a:sysClr val="window" lastClr="FFFFFF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rPr>
              <a:t>모터 소음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9EB2B35-2DB7-CFFA-58A5-D31FFFCC2F6A}"/>
              </a:ext>
            </a:extLst>
          </p:cNvPr>
          <p:cNvCxnSpPr/>
          <p:nvPr/>
        </p:nvCxnSpPr>
        <p:spPr>
          <a:xfrm>
            <a:off x="4619514" y="4377782"/>
            <a:ext cx="0" cy="252248"/>
          </a:xfrm>
          <a:prstGeom prst="straightConnector1">
            <a:avLst/>
          </a:prstGeom>
          <a:noFill/>
          <a:ln w="9525" cap="rnd" cmpd="sng" algn="ctr">
            <a:solidFill>
              <a:sysClr val="window" lastClr="FFFFFF"/>
            </a:solidFill>
            <a:prstDash val="solid"/>
            <a:tailEnd type="arrow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A0E820E-6931-1F4A-9087-F4BA001CEB25}"/>
              </a:ext>
            </a:extLst>
          </p:cNvPr>
          <p:cNvSpPr txBox="1"/>
          <p:nvPr/>
        </p:nvSpPr>
        <p:spPr>
          <a:xfrm>
            <a:off x="3815473" y="4157068"/>
            <a:ext cx="1631731" cy="230832"/>
          </a:xfrm>
          <a:prstGeom prst="rect">
            <a:avLst/>
          </a:prstGeom>
          <a:noFill/>
          <a:ln>
            <a:solidFill>
              <a:sysClr val="window" lastClr="FFFFFF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rPr>
              <a:t>벨트 소음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rPr>
              <a:t>@50rpm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4BEA2F1-BE69-E417-56AE-E1AD2294DD5E}"/>
              </a:ext>
            </a:extLst>
          </p:cNvPr>
          <p:cNvCxnSpPr/>
          <p:nvPr/>
        </p:nvCxnSpPr>
        <p:spPr>
          <a:xfrm>
            <a:off x="4694388" y="2379573"/>
            <a:ext cx="0" cy="252248"/>
          </a:xfrm>
          <a:prstGeom prst="straightConnector1">
            <a:avLst/>
          </a:prstGeom>
          <a:noFill/>
          <a:ln w="9525" cap="rnd" cmpd="sng" algn="ctr">
            <a:solidFill>
              <a:sysClr val="window" lastClr="FFFFFF"/>
            </a:solidFill>
            <a:prstDash val="solid"/>
            <a:tailEnd type="arrow"/>
          </a:ln>
          <a:effectLst/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3EFC9A9-914D-EF98-1BBA-032B23B6051A}"/>
              </a:ext>
            </a:extLst>
          </p:cNvPr>
          <p:cNvSpPr txBox="1"/>
          <p:nvPr/>
        </p:nvSpPr>
        <p:spPr>
          <a:xfrm>
            <a:off x="4000706" y="2135209"/>
            <a:ext cx="1363719" cy="230832"/>
          </a:xfrm>
          <a:prstGeom prst="rect">
            <a:avLst/>
          </a:prstGeom>
          <a:noFill/>
          <a:ln>
            <a:solidFill>
              <a:sysClr val="window" lastClr="FFFFFF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rPr>
              <a:t>벨트 소음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rPr>
              <a:t>@55~65rpm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C49D02D-96A7-0607-C739-A791CD197D38}"/>
              </a:ext>
            </a:extLst>
          </p:cNvPr>
          <p:cNvCxnSpPr/>
          <p:nvPr/>
        </p:nvCxnSpPr>
        <p:spPr>
          <a:xfrm>
            <a:off x="8611039" y="3009526"/>
            <a:ext cx="0" cy="252248"/>
          </a:xfrm>
          <a:prstGeom prst="straightConnector1">
            <a:avLst/>
          </a:prstGeom>
          <a:noFill/>
          <a:ln w="9525" cap="rnd" cmpd="sng" algn="ctr">
            <a:solidFill>
              <a:sysClr val="window" lastClr="FFFFFF"/>
            </a:solidFill>
            <a:prstDash val="solid"/>
            <a:tailEnd type="arrow"/>
          </a:ln>
          <a:effectLst/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CAD1793-1843-F795-6635-530AA6CB86F9}"/>
              </a:ext>
            </a:extLst>
          </p:cNvPr>
          <p:cNvSpPr txBox="1"/>
          <p:nvPr/>
        </p:nvSpPr>
        <p:spPr>
          <a:xfrm>
            <a:off x="8185372" y="2780928"/>
            <a:ext cx="882868" cy="230832"/>
          </a:xfrm>
          <a:prstGeom prst="rect">
            <a:avLst/>
          </a:prstGeom>
          <a:noFill/>
          <a:ln>
            <a:solidFill>
              <a:sysClr val="window" lastClr="FFFFFF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rPr>
              <a:t>모터 소음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405D8CE-40B4-5F11-0177-0962C8BB856E}"/>
              </a:ext>
            </a:extLst>
          </p:cNvPr>
          <p:cNvCxnSpPr/>
          <p:nvPr/>
        </p:nvCxnSpPr>
        <p:spPr>
          <a:xfrm flipH="1" flipV="1">
            <a:off x="3491732" y="1870790"/>
            <a:ext cx="1" cy="363600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ysDot"/>
          </a:ln>
          <a:effectLst/>
        </p:spPr>
      </p:cxnSp>
      <p:sp>
        <p:nvSpPr>
          <p:cNvPr id="36" name="직사각형 102">
            <a:extLst>
              <a:ext uri="{FF2B5EF4-FFF2-40B4-BE49-F238E27FC236}">
                <a16:creationId xmlns:a16="http://schemas.microsoft.com/office/drawing/2014/main" id="{4203405E-2452-8888-F7CC-5ED09F8A4344}"/>
              </a:ext>
            </a:extLst>
          </p:cNvPr>
          <p:cNvSpPr/>
          <p:nvPr/>
        </p:nvSpPr>
        <p:spPr>
          <a:xfrm>
            <a:off x="367461" y="5910389"/>
            <a:ext cx="675287" cy="656198"/>
          </a:xfrm>
          <a:prstGeom prst="rect">
            <a:avLst/>
          </a:prstGeom>
          <a:solidFill>
            <a:sysClr val="window" lastClr="FFFFFF"/>
          </a:solidFill>
          <a:ln w="19050" cap="flat" cmpd="thinThick" algn="ctr">
            <a:solidFill>
              <a:srgbClr val="1F497D"/>
            </a:solidFill>
            <a:prstDash val="solid"/>
          </a:ln>
          <a:effectLst/>
        </p:spPr>
        <p:txBody>
          <a:bodyPr lIns="0" tIns="0" rIns="0" bIns="18000" rtlCol="0" anchor="ctr">
            <a:scene3d>
              <a:camera prst="orthographicFront"/>
              <a:lightRig rig="threePt" dir="t"/>
            </a:scene3d>
            <a:flatTx/>
          </a:bodyPr>
          <a:lstStyle/>
          <a:p>
            <a:pPr indent="-75973" algn="ctr" defTabSz="941772" fontAlgn="ctr" latinLnBrk="0">
              <a:buClr>
                <a:prstClr val="white">
                  <a:lumMod val="65000"/>
                </a:prstClr>
              </a:buClr>
              <a:buSzPct val="80000"/>
              <a:tabLst>
                <a:tab pos="2430962" algn="l"/>
                <a:tab pos="5099858" algn="l"/>
              </a:tabLst>
              <a:defRPr/>
            </a:pPr>
            <a:r>
              <a:rPr lang="ko-KR" altLang="en-US" sz="16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시사점</a:t>
            </a:r>
            <a:endParaRPr lang="en-US" altLang="ko-KR" sz="1600" b="1" kern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7" name="직사각형 102">
            <a:extLst>
              <a:ext uri="{FF2B5EF4-FFF2-40B4-BE49-F238E27FC236}">
                <a16:creationId xmlns:a16="http://schemas.microsoft.com/office/drawing/2014/main" id="{2EFED0AB-53B3-6B43-4D49-CEED32C5AB1E}"/>
              </a:ext>
            </a:extLst>
          </p:cNvPr>
          <p:cNvSpPr/>
          <p:nvPr/>
        </p:nvSpPr>
        <p:spPr>
          <a:xfrm>
            <a:off x="1127250" y="5838902"/>
            <a:ext cx="8434262" cy="830458"/>
          </a:xfrm>
          <a:prstGeom prst="rect">
            <a:avLst/>
          </a:prstGeom>
          <a:noFill/>
          <a:ln w="6350" cap="flat" cmpd="thinThick" algn="ctr">
            <a:noFill/>
            <a:prstDash val="solid"/>
          </a:ln>
          <a:effectLst/>
        </p:spPr>
        <p:txBody>
          <a:bodyPr lIns="72000" tIns="0" rIns="72000" bIns="0" rtlCol="0" anchor="ctr">
            <a:scene3d>
              <a:camera prst="orthographicFront"/>
              <a:lightRig rig="threePt" dir="t"/>
            </a:scene3d>
            <a:flatTx/>
          </a:bodyPr>
          <a:lstStyle/>
          <a:p>
            <a:pPr marL="180975" indent="-180975" defTabSz="914125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6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2">
                    <a:lumMod val="75000"/>
                  </a:schemeClr>
                </a:solidFill>
                <a:latin typeface="+mn-ea"/>
                <a:cs typeface="Arial" charset="0"/>
              </a:rPr>
              <a:t>정적인 소음 뿐만 아니라</a:t>
            </a:r>
            <a:r>
              <a:rPr lang="en-US" altLang="ko-KR" sz="16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2">
                    <a:lumMod val="75000"/>
                  </a:schemeClr>
                </a:solidFill>
                <a:latin typeface="+mn-ea"/>
                <a:cs typeface="Arial" charset="0"/>
              </a:rPr>
              <a:t>, </a:t>
            </a:r>
            <a:r>
              <a:rPr lang="ko-KR" altLang="en-US" sz="16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2">
                    <a:lumMod val="75000"/>
                  </a:schemeClr>
                </a:solidFill>
                <a:latin typeface="+mn-ea"/>
                <a:cs typeface="Arial" charset="0"/>
              </a:rPr>
              <a:t>변형되는 동적인 소음에 대해서도 </a:t>
            </a:r>
            <a:r>
              <a:rPr lang="en-US" altLang="ko-KR" sz="16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2">
                    <a:lumMod val="75000"/>
                  </a:schemeClr>
                </a:solidFill>
                <a:latin typeface="+mn-ea"/>
                <a:cs typeface="Arial" charset="0"/>
              </a:rPr>
              <a:t>optimized </a:t>
            </a:r>
            <a:r>
              <a:rPr lang="ko-KR" altLang="en-US" sz="1600" b="1" kern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2">
                    <a:lumMod val="75000"/>
                  </a:schemeClr>
                </a:solidFill>
                <a:latin typeface="+mn-ea"/>
                <a:cs typeface="Arial" charset="0"/>
              </a:rPr>
              <a:t>진단이 가능하여 실제 차량에서의 활용도가 높을 것으로 판단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F85F1B3-DE98-544C-7500-187DF7D49087}"/>
              </a:ext>
            </a:extLst>
          </p:cNvPr>
          <p:cNvCxnSpPr/>
          <p:nvPr/>
        </p:nvCxnSpPr>
        <p:spPr>
          <a:xfrm flipH="1" flipV="1">
            <a:off x="5571493" y="1868142"/>
            <a:ext cx="1" cy="363600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ysDot"/>
          </a:ln>
          <a:effectLst/>
        </p:spPr>
      </p:cxnSp>
      <p:sp>
        <p:nvSpPr>
          <p:cNvPr id="39" name="직사각형 22">
            <a:extLst>
              <a:ext uri="{FF2B5EF4-FFF2-40B4-BE49-F238E27FC236}">
                <a16:creationId xmlns:a16="http://schemas.microsoft.com/office/drawing/2014/main" id="{0538C42A-732E-217B-6947-3791CA8A4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7337" y="1511826"/>
            <a:ext cx="2088000" cy="28499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 cap="flat" cmpd="sng" algn="ctr">
            <a:noFill/>
            <a:prstDash val="solid"/>
          </a:ln>
          <a:effectLst>
            <a:outerShdw blurRad="38100" dist="25400" dir="5400000" algn="t" rotWithShape="0">
              <a:prstClr val="black">
                <a:alpha val="40000"/>
              </a:prstClr>
            </a:outerShdw>
          </a:effectLst>
        </p:spPr>
        <p:txBody>
          <a:bodyPr lIns="0" tIns="45681" rIns="0" bIns="45681" anchor="ctr"/>
          <a:lstStyle/>
          <a:p>
            <a:pPr algn="ctr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600" b="1" kern="0" spc="12" dirty="0">
                <a:solidFill>
                  <a:prstClr val="white"/>
                </a:solidFill>
                <a:latin typeface="+mn-ea"/>
                <a:cs typeface="Arial" panose="020B0604020202020204" pitchFamily="34" charset="0"/>
              </a:rPr>
              <a:t>배경소음 편차</a:t>
            </a:r>
          </a:p>
        </p:txBody>
      </p:sp>
      <p:sp>
        <p:nvSpPr>
          <p:cNvPr id="40" name="직사각형 22">
            <a:extLst>
              <a:ext uri="{FF2B5EF4-FFF2-40B4-BE49-F238E27FC236}">
                <a16:creationId xmlns:a16="http://schemas.microsoft.com/office/drawing/2014/main" id="{47733106-0560-7C50-72EA-17EBFB431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732" y="1507226"/>
            <a:ext cx="2052000" cy="29650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 cap="flat" cmpd="sng" algn="ctr">
            <a:noFill/>
            <a:prstDash val="solid"/>
          </a:ln>
          <a:effectLst>
            <a:outerShdw blurRad="38100" dist="25400" dir="5400000" algn="t" rotWithShape="0">
              <a:prstClr val="black">
                <a:alpha val="40000"/>
              </a:prstClr>
            </a:outerShdw>
          </a:effectLst>
        </p:spPr>
        <p:txBody>
          <a:bodyPr lIns="0" tIns="45681" rIns="0" bIns="45681" anchor="ctr"/>
          <a:lstStyle/>
          <a:p>
            <a:pPr algn="ctr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600" b="1" kern="0" spc="12" dirty="0">
                <a:solidFill>
                  <a:prstClr val="white"/>
                </a:solidFill>
                <a:latin typeface="+mn-ea"/>
                <a:cs typeface="Arial" panose="020B0604020202020204" pitchFamily="34" charset="0"/>
              </a:rPr>
              <a:t>조타소음 편차</a:t>
            </a:r>
          </a:p>
        </p:txBody>
      </p:sp>
      <p:sp>
        <p:nvSpPr>
          <p:cNvPr id="41" name="직사각형 22">
            <a:extLst>
              <a:ext uri="{FF2B5EF4-FFF2-40B4-BE49-F238E27FC236}">
                <a16:creationId xmlns:a16="http://schemas.microsoft.com/office/drawing/2014/main" id="{1202CFAD-7D92-5D76-3F5D-98BF1348F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1512" y="1505325"/>
            <a:ext cx="3960000" cy="28499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 cap="flat" cmpd="sng" algn="ctr">
            <a:noFill/>
            <a:prstDash val="solid"/>
          </a:ln>
          <a:effectLst>
            <a:outerShdw blurRad="38100" dist="25400" dir="5400000" algn="t" rotWithShape="0">
              <a:prstClr val="black">
                <a:alpha val="40000"/>
              </a:prstClr>
            </a:outerShdw>
          </a:effectLst>
        </p:spPr>
        <p:txBody>
          <a:bodyPr lIns="0" tIns="45681" rIns="0" bIns="45681" anchor="ctr"/>
          <a:lstStyle/>
          <a:p>
            <a:pPr algn="ctr" fontAlgn="base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600" b="1" kern="0" spc="12" dirty="0">
                <a:solidFill>
                  <a:prstClr val="white"/>
                </a:solidFill>
                <a:latin typeface="+mn-ea"/>
                <a:cs typeface="Arial" panose="020B0604020202020204" pitchFamily="34" charset="0"/>
              </a:rPr>
              <a:t>다른 소음 동시발생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2F66561-A94D-6E4A-A275-A9E069244F11}"/>
              </a:ext>
            </a:extLst>
          </p:cNvPr>
          <p:cNvCxnSpPr/>
          <p:nvPr/>
        </p:nvCxnSpPr>
        <p:spPr>
          <a:xfrm flipH="1">
            <a:off x="367461" y="3645024"/>
            <a:ext cx="9207362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1695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 cap="flat">
          <a:solidFill>
            <a:schemeClr val="bg1">
              <a:lumMod val="65000"/>
            </a:schemeClr>
          </a:solidFill>
          <a:prstDash val="dash"/>
          <a:headEnd w="sm" len="sm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32532</TotalTime>
  <Words>674</Words>
  <Application>Microsoft Office PowerPoint</Application>
  <PresentationFormat>A4 용지(210x297mm)</PresentationFormat>
  <Paragraphs>192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Wingdings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suk</dc:creator>
  <cp:lastModifiedBy>human</cp:lastModifiedBy>
  <cp:revision>3706</cp:revision>
  <cp:lastPrinted>2014-01-20T06:09:59Z</cp:lastPrinted>
  <dcterms:created xsi:type="dcterms:W3CDTF">2012-09-04T06:48:59Z</dcterms:created>
  <dcterms:modified xsi:type="dcterms:W3CDTF">2026-04-10T05:36:44Z</dcterms:modified>
</cp:coreProperties>
</file>